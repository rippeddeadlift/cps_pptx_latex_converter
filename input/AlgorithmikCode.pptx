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79" r:id="rId2"/>
    <p:sldId id="283" r:id="rId3"/>
  </p:sldIdLst>
  <p:sldSz cx="12192000" cy="6858000"/>
  <p:notesSz cx="6797675" cy="9928225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niel Gaida" initials="DG" lastIdx="1" clrIdx="0"/>
  <p:cmAuthor id="1" name="Sonia Fereidooni" initials="" lastIdx="4" clrIdx="1"/>
  <p:cmAuthor id="2" name="Kasey Champion" initials="" lastIdx="2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121" autoAdjust="0"/>
  </p:normalViewPr>
  <p:slideViewPr>
    <p:cSldViewPr snapToGrid="0" snapToObjects="1">
      <p:cViewPr varScale="1">
        <p:scale>
          <a:sx n="79" d="100"/>
          <a:sy n="79" d="100"/>
        </p:scale>
        <p:origin x="806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536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28588"/>
            <a:ext cx="3398837" cy="652462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9219" name="Gruppierung 2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700588" y="388938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DEABD8D7-DB7D-4262-BD90-67B58EBF3A4F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9221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9096375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 txBox="1">
            <a:spLocks noChangeArrowheads="1"/>
          </p:cNvSpPr>
          <p:nvPr/>
        </p:nvSpPr>
        <p:spPr bwMode="auto">
          <a:xfrm>
            <a:off x="4700588" y="139700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09.01.2026</a:t>
            </a:fld>
            <a:endParaRPr lang="de-DE" sz="900" dirty="0"/>
          </a:p>
        </p:txBody>
      </p:sp>
      <p:sp>
        <p:nvSpPr>
          <p:cNvPr id="14" name="Fußzeilenplatzhalter 3"/>
          <p:cNvSpPr txBox="1">
            <a:spLocks/>
          </p:cNvSpPr>
          <p:nvPr/>
        </p:nvSpPr>
        <p:spPr>
          <a:xfrm>
            <a:off x="1133475" y="9105900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9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7663" y="744538"/>
            <a:ext cx="4978400" cy="2800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133475" y="3697288"/>
            <a:ext cx="5414963" cy="4784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50813"/>
            <a:ext cx="3398837" cy="4826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7173" name="Gruppierung 1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9" name="Rechteck 8"/>
            <p:cNvSpPr/>
            <p:nvPr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700588" y="411163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461BB4A2-88BF-4F1A-ADC3-F64B0D1FA15C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7175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8851900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700588" y="161925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09.01.2026</a:t>
            </a:fld>
            <a:endParaRPr lang="de-DE" sz="900" dirty="0"/>
          </a:p>
        </p:txBody>
      </p:sp>
      <p:sp>
        <p:nvSpPr>
          <p:cNvPr id="15" name="Fußzeilenplatzhalter 3"/>
          <p:cNvSpPr txBox="1">
            <a:spLocks/>
          </p:cNvSpPr>
          <p:nvPr/>
        </p:nvSpPr>
        <p:spPr>
          <a:xfrm>
            <a:off x="1133475" y="8861425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181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seite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43323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206500" y="4535620"/>
            <a:ext cx="10800000" cy="708217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5455920"/>
            <a:ext cx="10800000" cy="381020"/>
          </a:xfrm>
        </p:spPr>
        <p:txBody>
          <a:bodyPr/>
          <a:lstStyle>
            <a:lvl1pPr>
              <a:lnSpc>
                <a:spcPts val="2200"/>
              </a:lnSpc>
              <a:defRPr/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48784-7281-4837-A1AE-FC4A34A747D6}" type="datetime1">
              <a:rPr lang="de-DE" smtClean="0"/>
              <a:t>09.01.2026</a:t>
            </a:fld>
            <a:endParaRPr lang="de-DE" dirty="0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D9B6713-36FE-4B94-85D8-9FA2DCE30A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0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ts val="3000"/>
              </a:lnSpc>
              <a:defRPr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1204913" y="1548000"/>
            <a:ext cx="10799762" cy="4320000"/>
          </a:xfrm>
        </p:spPr>
        <p:txBody>
          <a:bodyPr/>
          <a:lstStyle>
            <a:lvl1pPr>
              <a:lnSpc>
                <a:spcPct val="112000"/>
              </a:lnSpc>
              <a:defRPr sz="1800">
                <a:latin typeface="Arial" pitchFamily="34" charset="0"/>
                <a:cs typeface="Arial" pitchFamily="34" charset="0"/>
              </a:defRPr>
            </a:lvl1pPr>
            <a:lvl2pPr indent="-187200"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2pPr>
            <a:lvl3pPr indent="-187200"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3pPr>
            <a:lvl4pPr indent="-187200"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21128-E3BC-4510-A597-24FCB75D3A75}" type="datetime1">
              <a:rPr lang="de-DE" smtClean="0"/>
              <a:t>09.01.2026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>
          <a:xfrm>
            <a:off x="1204675" y="3276600"/>
            <a:ext cx="10800000" cy="1356360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ts val="3000"/>
              </a:lnSpc>
              <a:defRPr sz="26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3067152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4772804"/>
            <a:ext cx="10800000" cy="1031596"/>
          </a:xfrm>
        </p:spPr>
        <p:txBody>
          <a:bodyPr/>
          <a:lstStyle>
            <a:lvl1pPr>
              <a:lnSpc>
                <a:spcPts val="2200"/>
              </a:lnSpc>
              <a:defRPr sz="1800"/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4B419C-6100-4ECC-A14C-29389AFC3646}" type="datetime1">
              <a:rPr lang="de-DE" smtClean="0"/>
              <a:t>09.01.2026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8D2255-8A42-41C6-B7FD-A8F81B1858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1520825"/>
            <a:ext cx="5220000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 sz="1800"/>
            </a:lvl1pPr>
            <a:lvl2pPr indent="-187200">
              <a:lnSpc>
                <a:spcPct val="112000"/>
              </a:lnSpc>
              <a:spcBef>
                <a:spcPts val="0"/>
              </a:spcBef>
              <a:defRPr sz="1800"/>
            </a:lvl2pPr>
            <a:lvl3pPr>
              <a:lnSpc>
                <a:spcPct val="112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816425" y="1520825"/>
            <a:ext cx="5188665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/>
            </a:lvl1pPr>
            <a:lvl2pPr indent="-187200">
              <a:lnSpc>
                <a:spcPct val="112000"/>
              </a:lnSpc>
              <a:spcBef>
                <a:spcPts val="0"/>
              </a:spcBef>
              <a:defRPr/>
            </a:lvl2pPr>
            <a:lvl3pPr>
              <a:lnSpc>
                <a:spcPct val="112000"/>
              </a:lnSpc>
              <a:spcBef>
                <a:spcPts val="0"/>
              </a:spcBef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379B7-331E-424B-A45F-F03D5981C976}" type="datetime1">
              <a:rPr lang="de-DE" smtClean="0"/>
              <a:t>09.01.2026</a:t>
            </a:fld>
            <a:endParaRPr lang="de-DE" dirty="0"/>
          </a:p>
        </p:txBody>
      </p:sp>
      <p:sp>
        <p:nvSpPr>
          <p:cNvPr id="10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8EAC3D31-108A-4FE9-91B5-F944D4EE38A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6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Arial 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792149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+mj-lt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1208242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92149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F7EFE-EEF9-40C5-9AEC-F07BD35586E4}" type="datetime1">
              <a:rPr lang="de-DE" smtClean="0"/>
              <a:t>09.01.2026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C0031C7-9188-4972-9DD4-DD3C320BBB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43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19201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603B7-878E-43D0-A9A1-FA3C2AF87C58}" type="datetime1">
              <a:rPr lang="de-DE" smtClean="0"/>
              <a:t>09.01.2026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65F7AFB-E617-4306-8E77-B348F91DE56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85212-05E7-49A7-ABD6-673A483CDAE3}" type="datetime1">
              <a:rPr lang="de-DE" smtClean="0"/>
              <a:t>09.01.2026</a:t>
            </a:fld>
            <a:endParaRPr lang="de-DE" dirty="0"/>
          </a:p>
        </p:txBody>
      </p:sp>
      <p:sp>
        <p:nvSpPr>
          <p:cNvPr id="3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6339FEA-45E0-4CEE-87DD-55B9FB7065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7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55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rei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idx="1"/>
          </p:nvPr>
        </p:nvSpPr>
        <p:spPr>
          <a:xfrm>
            <a:off x="1206000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idx="14"/>
          </p:nvPr>
        </p:nvSpPr>
        <p:spPr>
          <a:xfrm>
            <a:off x="4893213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5" name="Textplatzhalter 2"/>
          <p:cNvSpPr>
            <a:spLocks noGrp="1"/>
          </p:cNvSpPr>
          <p:nvPr>
            <p:ph type="body" idx="15"/>
          </p:nvPr>
        </p:nvSpPr>
        <p:spPr>
          <a:xfrm>
            <a:off x="4893213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6"/>
          </p:nvPr>
        </p:nvSpPr>
        <p:spPr>
          <a:xfrm>
            <a:off x="8556149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7"/>
          </p:nvPr>
        </p:nvSpPr>
        <p:spPr>
          <a:xfrm>
            <a:off x="8564241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20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535EE-90AE-4348-98D3-AFE064A78180}" type="datetime1">
              <a:rPr lang="de-DE" smtClean="0"/>
              <a:t>09.01.2026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DECBAF-54BF-43CB-A029-D1DF8A041DD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12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hs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idx="27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idx="1"/>
          </p:nvPr>
        </p:nvSpPr>
        <p:spPr>
          <a:xfrm>
            <a:off x="1206000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2" name="Textplatzhalter 2"/>
          <p:cNvSpPr>
            <a:spLocks noGrp="1"/>
          </p:cNvSpPr>
          <p:nvPr>
            <p:ph type="body" idx="13"/>
          </p:nvPr>
        </p:nvSpPr>
        <p:spPr>
          <a:xfrm>
            <a:off x="1206000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14"/>
          </p:nvPr>
        </p:nvSpPr>
        <p:spPr>
          <a:xfrm>
            <a:off x="4893213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2"/>
          <p:cNvSpPr>
            <a:spLocks noGrp="1"/>
          </p:cNvSpPr>
          <p:nvPr>
            <p:ph type="body" idx="15"/>
          </p:nvPr>
        </p:nvSpPr>
        <p:spPr>
          <a:xfrm>
            <a:off x="4893213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idx="16"/>
          </p:nvPr>
        </p:nvSpPr>
        <p:spPr>
          <a:xfrm>
            <a:off x="8564241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6" name="Textplatzhalter 2"/>
          <p:cNvSpPr>
            <a:spLocks noGrp="1"/>
          </p:cNvSpPr>
          <p:nvPr>
            <p:ph type="body" idx="17"/>
          </p:nvPr>
        </p:nvSpPr>
        <p:spPr>
          <a:xfrm>
            <a:off x="8564241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idx="28"/>
          </p:nvPr>
        </p:nvSpPr>
        <p:spPr>
          <a:xfrm>
            <a:off x="1206000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29"/>
          </p:nvPr>
        </p:nvSpPr>
        <p:spPr>
          <a:xfrm>
            <a:off x="1206000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idx="30"/>
          </p:nvPr>
        </p:nvSpPr>
        <p:spPr>
          <a:xfrm>
            <a:off x="4890512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idx="31"/>
          </p:nvPr>
        </p:nvSpPr>
        <p:spPr>
          <a:xfrm>
            <a:off x="4890512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idx="32"/>
          </p:nvPr>
        </p:nvSpPr>
        <p:spPr>
          <a:xfrm>
            <a:off x="8558124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2" name="Textplatzhalter 2"/>
          <p:cNvSpPr>
            <a:spLocks noGrp="1"/>
          </p:cNvSpPr>
          <p:nvPr>
            <p:ph type="body" idx="33"/>
          </p:nvPr>
        </p:nvSpPr>
        <p:spPr>
          <a:xfrm>
            <a:off x="8558124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1D907-3A8C-4FA0-AF32-FB476100B44A}" type="datetime1">
              <a:rPr lang="de-DE" smtClean="0"/>
              <a:t>09.01.2026</a:t>
            </a:fld>
            <a:endParaRPr lang="de-DE" dirty="0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8BD526D-A506-4272-90FB-C6A2218A9A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53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865" y="228779"/>
            <a:ext cx="11368459" cy="914641"/>
          </a:xfrm>
        </p:spPr>
        <p:txBody>
          <a:bodyPr lIns="0" tIns="0" rIns="0" bIns="0"/>
          <a:lstStyle>
            <a:lvl1pPr>
              <a:defRPr sz="290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9499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10867" y="1469681"/>
            <a:ext cx="11368460" cy="3854809"/>
          </a:xfrm>
        </p:spPr>
        <p:txBody>
          <a:bodyPr/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Holder 2"/>
          <p:cNvSpPr>
            <a:spLocks noGrp="1"/>
          </p:cNvSpPr>
          <p:nvPr>
            <p:ph type="title"/>
          </p:nvPr>
        </p:nvSpPr>
        <p:spPr>
          <a:xfrm>
            <a:off x="410865" y="228779"/>
            <a:ext cx="11368459" cy="914641"/>
          </a:xfrm>
        </p:spPr>
        <p:txBody>
          <a:bodyPr lIns="0" tIns="0" rIns="0" bIns="0"/>
          <a:lstStyle>
            <a:lvl1pPr>
              <a:defRPr sz="290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1422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C26682-0C93-4009-904E-AED28518494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138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D1A458-D506-4560-914E-B5421E17A3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5930E3-AAC2-4ADF-925B-A037BED539BF}" type="datetime1">
              <a:rPr lang="de-DE" smtClean="0"/>
              <a:t>09.01.2026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EFA00E-A96F-4147-9719-EA15ED786BD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1FC8CA-7D7D-4BF5-97CE-E12CD0B5C87B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580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914400"/>
            <a:ext cx="508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08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0D2A5-F52F-4653-819F-1A37B28B85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fld id="{77078B80-CC76-49E8-922A-90B2CBA19035}" type="datetime1">
              <a:rPr lang="de-DE" smtClean="0"/>
              <a:t>09.01.2026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10964-A49D-4BBE-9507-6315150321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C8488-569A-444F-B796-697E2B83AA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9885B7-B8B8-4BDF-9399-E15470497E67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7688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331298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190625" y="2268141"/>
            <a:ext cx="9810750" cy="2321719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33159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1"/>
            <a:ext cx="10363200" cy="1470025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55975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0F1620-6991-468A-986C-DEA71AF2A6A8}" type="datetime1">
              <a:rPr lang="de-DE" smtClean="0"/>
              <a:t>09.01.2026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97EE5-9B1D-48EF-B619-A2DEE0A0DD92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29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39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w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204913" y="520700"/>
            <a:ext cx="1079976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Überschrift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206500" y="1547813"/>
            <a:ext cx="107997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</p:txBody>
      </p:sp>
      <p:pic>
        <p:nvPicPr>
          <p:cNvPr id="1028" name="Bild 7" descr="Logo_17pt.wmf"/>
          <p:cNvPicPr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0" y="6000750"/>
            <a:ext cx="1223467" cy="71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ußzeilenplatzhalter 3"/>
          <p:cNvSpPr txBox="1">
            <a:spLocks/>
          </p:cNvSpPr>
          <p:nvPr/>
        </p:nvSpPr>
        <p:spPr>
          <a:xfrm>
            <a:off x="2590800" y="6011863"/>
            <a:ext cx="5254625" cy="549275"/>
          </a:xfrm>
          <a:prstGeom prst="rect">
            <a:avLst/>
          </a:prstGeom>
        </p:spPr>
        <p:txBody>
          <a:bodyPr wrap="none"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defRPr/>
            </a:pPr>
            <a:r>
              <a:rPr lang="de-DE" sz="900" b="0" dirty="0"/>
              <a:t>Prof. Dr. Daniel Gaida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/>
            </a:pPr>
            <a:r>
              <a:rPr lang="de-DE" sz="900" b="0" dirty="0">
                <a:solidFill>
                  <a:schemeClr val="tx1"/>
                </a:solidFill>
              </a:rPr>
              <a:t>Professor</a:t>
            </a:r>
            <a:r>
              <a:rPr lang="de-DE" sz="900" b="0" baseline="0" dirty="0">
                <a:solidFill>
                  <a:schemeClr val="tx1"/>
                </a:solidFill>
              </a:rPr>
              <a:t> für Cyber-Physische Systeme</a:t>
            </a:r>
            <a:endParaRPr lang="de-DE" sz="9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/>
            </a:pPr>
            <a:r>
              <a:rPr lang="de-DE" sz="900" b="0" dirty="0">
                <a:solidFill>
                  <a:schemeClr val="tx1"/>
                </a:solidFill>
              </a:rPr>
              <a:t>Fakultät</a:t>
            </a:r>
            <a:r>
              <a:rPr lang="de-DE" sz="900" b="0" baseline="0" dirty="0">
                <a:solidFill>
                  <a:schemeClr val="tx1"/>
                </a:solidFill>
              </a:rPr>
              <a:t> für Informatik und Ingenieurwissenschaften - </a:t>
            </a:r>
            <a:r>
              <a:rPr lang="de-DE" sz="900" b="0" dirty="0">
                <a:solidFill>
                  <a:schemeClr val="tx1"/>
                </a:solidFill>
              </a:rPr>
              <a:t>Institut</a:t>
            </a:r>
            <a:r>
              <a:rPr lang="de-DE" sz="900" b="0" baseline="0" dirty="0">
                <a:solidFill>
                  <a:schemeClr val="tx1"/>
                </a:solidFill>
              </a:rPr>
              <a:t> für Informatik</a:t>
            </a:r>
            <a:endParaRPr lang="de-DE" sz="900" dirty="0"/>
          </a:p>
        </p:txBody>
      </p:sp>
      <p:grpSp>
        <p:nvGrpSpPr>
          <p:cNvPr id="1030" name="Gruppierung 11"/>
          <p:cNvGrpSpPr>
            <a:grpSpLocks/>
          </p:cNvGrpSpPr>
          <p:nvPr/>
        </p:nvGrpSpPr>
        <p:grpSpPr bwMode="auto">
          <a:xfrm>
            <a:off x="1204913" y="0"/>
            <a:ext cx="10991850" cy="71438"/>
            <a:chOff x="903819" y="0"/>
            <a:chExt cx="8244000" cy="108000"/>
          </a:xfrm>
        </p:grpSpPr>
        <p:sp>
          <p:nvSpPr>
            <p:cNvPr id="13" name="Rechteck 12"/>
            <p:cNvSpPr/>
            <p:nvPr/>
          </p:nvSpPr>
          <p:spPr bwMode="auto">
            <a:xfrm>
              <a:off x="903819" y="0"/>
              <a:ext cx="2736094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3639913" y="0"/>
              <a:ext cx="2736094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376006" y="0"/>
              <a:ext cx="2771813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cxnSp>
        <p:nvCxnSpPr>
          <p:cNvPr id="16" name="Gerade Verbindung 15"/>
          <p:cNvCxnSpPr/>
          <p:nvPr/>
        </p:nvCxnSpPr>
        <p:spPr>
          <a:xfrm>
            <a:off x="1206500" y="5951538"/>
            <a:ext cx="10987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1206500" y="6011863"/>
            <a:ext cx="1295400" cy="17938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C590BB0-1566-4728-8689-C18D1116058A}" type="datetime1">
              <a:rPr lang="de-DE" smtClean="0"/>
              <a:t>09.01.2026</a:t>
            </a:fld>
            <a:endParaRPr lang="de-DE" dirty="0"/>
          </a:p>
        </p:txBody>
      </p:sp>
      <p:sp>
        <p:nvSpPr>
          <p:cNvPr id="1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206500" y="6361113"/>
            <a:ext cx="1295400" cy="2143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297CD77D-B4CD-4177-B2B6-FFDA7A317B1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5" r:id="rId8"/>
    <p:sldLayoutId id="2147483714" r:id="rId9"/>
    <p:sldLayoutId id="2147483715" r:id="rId10"/>
    <p:sldLayoutId id="2147483726" r:id="rId11"/>
    <p:sldLayoutId id="2147483727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6" r:id="rId19"/>
  </p:sldLayoutIdLst>
  <p:hf hdr="0" ftr="0"/>
  <p:txStyles>
    <p:titleStyle>
      <a:lvl1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/>
          <a:ea typeface="+mj-ea"/>
          <a:cs typeface="+mj-cs"/>
        </a:defRPr>
      </a:lvl1pPr>
      <a:lvl2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algn="l" defTabSz="457200" rtl="0" eaLnBrk="1" fontAlgn="base" hangingPunct="1">
        <a:lnSpc>
          <a:spcPct val="112000"/>
        </a:lnSpc>
        <a:spcBef>
          <a:spcPct val="0"/>
        </a:spcBef>
        <a:spcAft>
          <a:spcPts val="600"/>
        </a:spcAft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357188" indent="-187200" algn="l" defTabSz="457200" rtl="0" eaLnBrk="1" fontAlgn="base" hangingPunct="1">
        <a:lnSpc>
          <a:spcPct val="112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5738" algn="l" defTabSz="457200" rtl="0" eaLnBrk="1" fontAlgn="base" hangingPunct="1">
        <a:lnSpc>
          <a:spcPct val="112000"/>
        </a:lnSpc>
        <a:spcBef>
          <a:spcPts val="4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714375" indent="-187200" algn="l" defTabSz="457200" rtl="0" eaLnBrk="1" fontAlgn="base" hangingPunct="1">
        <a:lnSpc>
          <a:spcPct val="112000"/>
        </a:lnSpc>
        <a:spcBef>
          <a:spcPts val="500"/>
        </a:spcBef>
        <a:spcAft>
          <a:spcPct val="0"/>
        </a:spcAft>
        <a:buClr>
          <a:srgbClr val="9D167A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074738" indent="-177800" algn="l" defTabSz="457200" rtl="0" eaLnBrk="1" fontAlgn="base" hangingPunct="1">
        <a:lnSpc>
          <a:spcPts val="1600"/>
        </a:lnSpc>
        <a:spcBef>
          <a:spcPts val="50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B9F5315-1C24-41E1-AD7E-9A5700B8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Analyse von Algorithmen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B534FEF-1B69-439E-871C-2D7EB9AF846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DE" noProof="0" dirty="0"/>
          </a:p>
          <a:p>
            <a:endParaRPr lang="de-DE" noProof="0" dirty="0"/>
          </a:p>
          <a:p>
            <a:endParaRPr lang="de-DE" noProof="0" dirty="0"/>
          </a:p>
          <a:p>
            <a:endParaRPr lang="de-DE" noProof="0" dirty="0"/>
          </a:p>
          <a:p>
            <a:endParaRPr lang="de-DE" noProof="0" dirty="0"/>
          </a:p>
          <a:p>
            <a:endParaRPr lang="de-DE" noProof="0" dirty="0"/>
          </a:p>
          <a:p>
            <a:endParaRPr lang="de-DE" noProof="0" dirty="0"/>
          </a:p>
          <a:p>
            <a:endParaRPr lang="de-DE" sz="1200" noProof="0" dirty="0"/>
          </a:p>
          <a:p>
            <a:r>
              <a:rPr lang="de-DE" b="1" noProof="0" dirty="0">
                <a:solidFill>
                  <a:srgbClr val="7030A0"/>
                </a:solidFill>
              </a:rPr>
              <a:t>Analyse von Algorithmen</a:t>
            </a:r>
            <a:r>
              <a:rPr lang="de-DE" noProof="0" dirty="0"/>
              <a:t>: Der Gesamtprozess der Zuordnung von Code zu einer Wachstumsordnung, bestehend aus:</a:t>
            </a:r>
          </a:p>
          <a:p>
            <a:r>
              <a:rPr lang="de-DE" b="1" noProof="0" dirty="0">
                <a:solidFill>
                  <a:srgbClr val="7030A0"/>
                </a:solidFill>
              </a:rPr>
              <a:t>Code Modellierung</a:t>
            </a:r>
            <a:r>
              <a:rPr lang="de-DE" noProof="0" dirty="0"/>
              <a:t>: Code </a:t>
            </a:r>
            <a:r>
              <a:rPr lang="de-DE" noProof="0" dirty="0">
                <a:sym typeface="Wingdings" panose="05000000000000000000" pitchFamily="2" charset="2"/>
              </a:rPr>
              <a:t> Laufzeitf</a:t>
            </a:r>
            <a:r>
              <a:rPr lang="de-DE" noProof="0" dirty="0"/>
              <a:t>unktion, die die Laufzeit des Codes beschreibt</a:t>
            </a:r>
          </a:p>
          <a:p>
            <a:r>
              <a:rPr lang="de-DE" b="1" noProof="0" dirty="0">
                <a:solidFill>
                  <a:srgbClr val="7030A0"/>
                </a:solidFill>
              </a:rPr>
              <a:t>Asymptotische Notation</a:t>
            </a:r>
            <a:r>
              <a:rPr lang="de-DE" noProof="0" dirty="0"/>
              <a:t>: Funktion </a:t>
            </a:r>
            <a:r>
              <a:rPr lang="de-DE" noProof="0" dirty="0">
                <a:sym typeface="Wingdings" panose="05000000000000000000" pitchFamily="2" charset="2"/>
              </a:rPr>
              <a:t> </a:t>
            </a:r>
            <a:r>
              <a:rPr lang="de-DE" noProof="0" dirty="0"/>
              <a:t>Wachstumsordnung, die das asymptotische Verhalten beschreibt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D65A34C-DD32-4D95-A748-1CD19B19C21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noProof="0" dirty="0"/>
              <a:t>Algorithmik – Laufzeitanalyse von Algorithmen durch Asymptotische Notation</a:t>
            </a:r>
          </a:p>
        </p:txBody>
      </p:sp>
      <p:sp>
        <p:nvSpPr>
          <p:cNvPr id="43" name="Datumsplatzhalter 4">
            <a:extLst>
              <a:ext uri="{FF2B5EF4-FFF2-40B4-BE49-F238E27FC236}">
                <a16:creationId xmlns:a16="http://schemas.microsoft.com/office/drawing/2014/main" id="{C49CACB1-F42D-4796-864E-FD26686478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7C55095-590B-4AAB-8606-0F86796D070A}" type="datetime1">
              <a:rPr lang="de-DE" smtClean="0"/>
              <a:pPr/>
              <a:t>09.01.2026</a:t>
            </a:fld>
            <a:endParaRPr lang="de-DE" dirty="0"/>
          </a:p>
        </p:txBody>
      </p:sp>
      <p:sp>
        <p:nvSpPr>
          <p:cNvPr id="44" name="Foliennummernplatzhalter 5">
            <a:extLst>
              <a:ext uri="{FF2B5EF4-FFF2-40B4-BE49-F238E27FC236}">
                <a16:creationId xmlns:a16="http://schemas.microsoft.com/office/drawing/2014/main" id="{587A8A6C-1380-4BD3-AD0E-8ED916D23F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de-DE"/>
              <a:t>Seite </a:t>
            </a:r>
            <a:fld id="{43310F81-32EE-4F95-9E9C-0BDC6AD52EEC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656" name="Google Shape;656;p18"/>
          <p:cNvSpPr/>
          <p:nvPr/>
        </p:nvSpPr>
        <p:spPr>
          <a:xfrm>
            <a:off x="9750282" y="1916034"/>
            <a:ext cx="1700153" cy="11057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Wachstums-ordnung</a:t>
            </a:r>
            <a:endParaRPr sz="2400" dirty="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57" name="Google Shape;657;p18"/>
          <p:cNvSpPr/>
          <p:nvPr/>
        </p:nvSpPr>
        <p:spPr>
          <a:xfrm>
            <a:off x="9472751" y="2276767"/>
            <a:ext cx="532515" cy="385780"/>
          </a:xfrm>
          <a:prstGeom prst="flowChartCollat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58" name="Google Shape;658;p18"/>
          <p:cNvSpPr/>
          <p:nvPr/>
        </p:nvSpPr>
        <p:spPr>
          <a:xfrm rot="5400000">
            <a:off x="9415387" y="2327652"/>
            <a:ext cx="385780" cy="284010"/>
          </a:xfrm>
          <a:prstGeom prst="triangle">
            <a:avLst>
              <a:gd name="adj" fmla="val 50000"/>
            </a:avLst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59" name="Google Shape;659;p18"/>
          <p:cNvSpPr/>
          <p:nvPr/>
        </p:nvSpPr>
        <p:spPr>
          <a:xfrm>
            <a:off x="1998245" y="1916034"/>
            <a:ext cx="365760" cy="365760"/>
          </a:xfrm>
          <a:prstGeom prst="rect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0" name="Google Shape;660;p18"/>
          <p:cNvSpPr/>
          <p:nvPr/>
        </p:nvSpPr>
        <p:spPr>
          <a:xfrm>
            <a:off x="1998245" y="2656060"/>
            <a:ext cx="365760" cy="365760"/>
          </a:xfrm>
          <a:prstGeom prst="rect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1" name="Google Shape;661;p18"/>
          <p:cNvSpPr/>
          <p:nvPr/>
        </p:nvSpPr>
        <p:spPr>
          <a:xfrm>
            <a:off x="2364005" y="1916034"/>
            <a:ext cx="2455665" cy="1105786"/>
          </a:xfrm>
          <a:prstGeom prst="rect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2" name="Google Shape;662;p18"/>
          <p:cNvSpPr/>
          <p:nvPr/>
        </p:nvSpPr>
        <p:spPr>
          <a:xfrm>
            <a:off x="6438073" y="1916034"/>
            <a:ext cx="365760" cy="365760"/>
          </a:xfrm>
          <a:prstGeom prst="rect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3" name="Google Shape;663;p18"/>
          <p:cNvSpPr/>
          <p:nvPr/>
        </p:nvSpPr>
        <p:spPr>
          <a:xfrm>
            <a:off x="6438073" y="2656060"/>
            <a:ext cx="365760" cy="365760"/>
          </a:xfrm>
          <a:prstGeom prst="rect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4" name="Google Shape;664;p18"/>
          <p:cNvSpPr/>
          <p:nvPr/>
        </p:nvSpPr>
        <p:spPr>
          <a:xfrm>
            <a:off x="6803833" y="1916034"/>
            <a:ext cx="2668772" cy="1105786"/>
          </a:xfrm>
          <a:prstGeom prst="rect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5" name="Google Shape;665;p18"/>
          <p:cNvSpPr/>
          <p:nvPr/>
        </p:nvSpPr>
        <p:spPr>
          <a:xfrm flipH="1">
            <a:off x="6090047" y="2287462"/>
            <a:ext cx="1061359" cy="357006"/>
          </a:xfrm>
          <a:prstGeom prst="flowChartOnlineStorag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6" name="Google Shape;666;p18"/>
          <p:cNvSpPr/>
          <p:nvPr/>
        </p:nvSpPr>
        <p:spPr>
          <a:xfrm flipH="1">
            <a:off x="4163056" y="2281794"/>
            <a:ext cx="965902" cy="381164"/>
          </a:xfrm>
          <a:prstGeom prst="flowChartOnlineStorage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7" name="Google Shape;667;p18"/>
          <p:cNvSpPr/>
          <p:nvPr/>
        </p:nvSpPr>
        <p:spPr>
          <a:xfrm flipH="1">
            <a:off x="4944585" y="2279349"/>
            <a:ext cx="1119941" cy="376711"/>
          </a:xfrm>
          <a:prstGeom prst="flowChartOnlineStorag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8" name="Google Shape;668;p18"/>
          <p:cNvSpPr/>
          <p:nvPr/>
        </p:nvSpPr>
        <p:spPr>
          <a:xfrm>
            <a:off x="4814701" y="1914812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9" name="Google Shape;669;p18"/>
          <p:cNvSpPr/>
          <p:nvPr/>
        </p:nvSpPr>
        <p:spPr>
          <a:xfrm>
            <a:off x="4814701" y="265606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881145" y="1916034"/>
            <a:ext cx="1121652" cy="11057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CODE</a:t>
            </a:r>
            <a:endParaRPr dirty="0"/>
          </a:p>
        </p:txBody>
      </p:sp>
      <p:sp>
        <p:nvSpPr>
          <p:cNvPr id="671" name="Google Shape;671;p18"/>
          <p:cNvSpPr/>
          <p:nvPr/>
        </p:nvSpPr>
        <p:spPr>
          <a:xfrm>
            <a:off x="1949073" y="2265740"/>
            <a:ext cx="418989" cy="3968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2" name="Google Shape;672;p18"/>
          <p:cNvSpPr/>
          <p:nvPr/>
        </p:nvSpPr>
        <p:spPr>
          <a:xfrm>
            <a:off x="9472605" y="1918294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3" name="Google Shape;673;p18"/>
          <p:cNvSpPr/>
          <p:nvPr/>
        </p:nvSpPr>
        <p:spPr>
          <a:xfrm>
            <a:off x="9472605" y="2657112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514885" y="1916034"/>
            <a:ext cx="365760" cy="36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5" name="Google Shape;675;p18"/>
          <p:cNvSpPr/>
          <p:nvPr/>
        </p:nvSpPr>
        <p:spPr>
          <a:xfrm>
            <a:off x="514884" y="2656060"/>
            <a:ext cx="365760" cy="36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6" name="Google Shape;676;p18"/>
          <p:cNvSpPr/>
          <p:nvPr/>
        </p:nvSpPr>
        <p:spPr>
          <a:xfrm rot="5400000">
            <a:off x="11421174" y="2295002"/>
            <a:ext cx="424282" cy="36576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2587093" y="2058122"/>
            <a:ext cx="2044962" cy="79296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AC7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8" name="Google Shape;678;p18"/>
          <p:cNvSpPr txBox="1"/>
          <p:nvPr/>
        </p:nvSpPr>
        <p:spPr>
          <a:xfrm>
            <a:off x="2577030" y="2274744"/>
            <a:ext cx="199037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Modellierung</a:t>
            </a:r>
            <a:endParaRPr lang="de-DE" dirty="0"/>
          </a:p>
        </p:txBody>
      </p:sp>
      <p:sp>
        <p:nvSpPr>
          <p:cNvPr id="679" name="Google Shape;679;p18"/>
          <p:cNvSpPr/>
          <p:nvPr/>
        </p:nvSpPr>
        <p:spPr>
          <a:xfrm flipH="1">
            <a:off x="5677559" y="2276767"/>
            <a:ext cx="1119941" cy="376711"/>
          </a:xfrm>
          <a:prstGeom prst="flowChartOnlineStorag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80" name="Google Shape;680;p18"/>
          <p:cNvSpPr/>
          <p:nvPr/>
        </p:nvSpPr>
        <p:spPr>
          <a:xfrm>
            <a:off x="5176839" y="1916034"/>
            <a:ext cx="1662037" cy="11057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LAUFZEIT</a:t>
            </a:r>
            <a:br>
              <a:rPr lang="de-DE" sz="14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de-DE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FUNKTION</a:t>
            </a:r>
            <a:endParaRPr dirty="0"/>
          </a:p>
        </p:txBody>
      </p:sp>
      <p:sp>
        <p:nvSpPr>
          <p:cNvPr id="681" name="Google Shape;681;p18"/>
          <p:cNvSpPr/>
          <p:nvPr/>
        </p:nvSpPr>
        <p:spPr>
          <a:xfrm flipH="1">
            <a:off x="6961995" y="2282492"/>
            <a:ext cx="1119941" cy="376711"/>
          </a:xfrm>
          <a:prstGeom prst="flowChartOnlineStorage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7239672" y="2074362"/>
            <a:ext cx="2279208" cy="79296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AC7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83" name="Google Shape;683;p18"/>
          <p:cNvSpPr txBox="1"/>
          <p:nvPr/>
        </p:nvSpPr>
        <p:spPr>
          <a:xfrm>
            <a:off x="7138837" y="2279362"/>
            <a:ext cx="23737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Asymptotische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endParaRPr dirty="0"/>
          </a:p>
        </p:txBody>
      </p:sp>
      <p:sp>
        <p:nvSpPr>
          <p:cNvPr id="685" name="Google Shape;685;p18"/>
          <p:cNvSpPr/>
          <p:nvPr/>
        </p:nvSpPr>
        <p:spPr>
          <a:xfrm>
            <a:off x="3041941" y="1349370"/>
            <a:ext cx="762636" cy="762636"/>
          </a:xfrm>
          <a:prstGeom prst="ellipse">
            <a:avLst/>
          </a:prstGeom>
          <a:solidFill>
            <a:srgbClr val="4C32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686" name="Google Shape;686;p18"/>
          <p:cNvSpPr/>
          <p:nvPr/>
        </p:nvSpPr>
        <p:spPr>
          <a:xfrm>
            <a:off x="7814190" y="1343402"/>
            <a:ext cx="762636" cy="762636"/>
          </a:xfrm>
          <a:prstGeom prst="ellipse">
            <a:avLst/>
          </a:prstGeom>
          <a:solidFill>
            <a:srgbClr val="4C32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687" name="Google Shape;687;p18"/>
          <p:cNvSpPr/>
          <p:nvPr/>
        </p:nvSpPr>
        <p:spPr>
          <a:xfrm rot="-5400000">
            <a:off x="5927058" y="-1061051"/>
            <a:ext cx="124201" cy="10435884"/>
          </a:xfrm>
          <a:prstGeom prst="leftBracket">
            <a:avLst>
              <a:gd name="adj" fmla="val 99903"/>
            </a:avLst>
          </a:prstGeom>
          <a:noFill/>
          <a:ln w="57150" cap="flat" cmpd="sng">
            <a:solidFill>
              <a:srgbClr val="9B8AB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5400000" algn="ctr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688" name="Google Shape;688;p18"/>
          <p:cNvCxnSpPr/>
          <p:nvPr/>
        </p:nvCxnSpPr>
        <p:spPr>
          <a:xfrm rot="10800000">
            <a:off x="2254577" y="4218992"/>
            <a:ext cx="0" cy="230272"/>
          </a:xfrm>
          <a:prstGeom prst="straightConnector1">
            <a:avLst/>
          </a:prstGeom>
          <a:noFill/>
          <a:ln w="57150" cap="flat" cmpd="sng">
            <a:solidFill>
              <a:srgbClr val="9B8AB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9" name="Google Shape;689;p18"/>
          <p:cNvSpPr txBox="1"/>
          <p:nvPr/>
        </p:nvSpPr>
        <p:spPr>
          <a:xfrm>
            <a:off x="473069" y="3099639"/>
            <a:ext cx="266932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lang="en-U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 </a:t>
            </a:r>
            <a:r>
              <a:rPr lang="en-U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n; </a:t>
            </a:r>
            <a:r>
              <a:rPr lang="en-U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a[</a:t>
            </a:r>
            <a:r>
              <a:rPr lang="en-U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1;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b[</a:t>
            </a:r>
            <a:r>
              <a:rPr lang="en-U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2;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/>
          </a:p>
        </p:txBody>
      </p:sp>
      <p:sp>
        <p:nvSpPr>
          <p:cNvPr id="690" name="Google Shape;690;p18"/>
          <p:cNvSpPr txBox="1"/>
          <p:nvPr/>
        </p:nvSpPr>
        <p:spPr>
          <a:xfrm>
            <a:off x="10232308" y="3110906"/>
            <a:ext cx="7360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sz="1600" dirty="0"/>
          </a:p>
        </p:txBody>
      </p:sp>
      <p:sp>
        <p:nvSpPr>
          <p:cNvPr id="691" name="Google Shape;691;p18"/>
          <p:cNvSpPr txBox="1"/>
          <p:nvPr/>
        </p:nvSpPr>
        <p:spPr>
          <a:xfrm>
            <a:off x="5371040" y="3110906"/>
            <a:ext cx="126829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f(n) = 2n</a:t>
            </a:r>
            <a:endParaRPr sz="1600" dirty="0"/>
          </a:p>
        </p:txBody>
      </p:sp>
      <p:sp>
        <p:nvSpPr>
          <p:cNvPr id="41" name="Google Shape;257;p13">
            <a:extLst>
              <a:ext uri="{FF2B5EF4-FFF2-40B4-BE49-F238E27FC236}">
                <a16:creationId xmlns:a16="http://schemas.microsoft.com/office/drawing/2014/main" id="{94CBFC99-CF63-4F59-B335-72C9A98AF0B3}"/>
              </a:ext>
            </a:extLst>
          </p:cNvPr>
          <p:cNvSpPr txBox="1">
            <a:spLocks/>
          </p:cNvSpPr>
          <p:nvPr/>
        </p:nvSpPr>
        <p:spPr>
          <a:xfrm>
            <a:off x="7499928" y="6407294"/>
            <a:ext cx="2193636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CSE 373 20 AU – SCHAFER</a:t>
            </a:r>
          </a:p>
        </p:txBody>
      </p:sp>
      <p:sp>
        <p:nvSpPr>
          <p:cNvPr id="42" name="Google Shape;257;p13">
            <a:extLst>
              <a:ext uri="{FF2B5EF4-FFF2-40B4-BE49-F238E27FC236}">
                <a16:creationId xmlns:a16="http://schemas.microsoft.com/office/drawing/2014/main" id="{75F9AB88-4985-49E1-8165-03BA26AB7BF2}"/>
              </a:ext>
            </a:extLst>
          </p:cNvPr>
          <p:cNvSpPr txBox="1">
            <a:spLocks/>
          </p:cNvSpPr>
          <p:nvPr/>
        </p:nvSpPr>
        <p:spPr>
          <a:xfrm>
            <a:off x="6881091" y="6150552"/>
            <a:ext cx="2812473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Quelle: Data Structures and </a:t>
            </a:r>
            <a:r>
              <a:rPr lang="fr-FR" sz="800" dirty="0" err="1"/>
              <a:t>Algorithms</a:t>
            </a:r>
            <a:r>
              <a:rPr lang="fr-FR" sz="800" dirty="0"/>
              <a:t> (CSE 373), University of Washington, Spring 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4E14EAE-F586-4704-B989-CB89828251C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public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method2(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n) {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= 0;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i = 0;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while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(i &lt; n) {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j = 0;    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while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(j &lt; n) {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if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(j % 2 == 0) {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    // do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nothing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}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=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+ (i * 3) + j;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j = j + 1;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}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i = i + 1;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}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return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}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4C0F9B-36CF-439E-9A1D-0BBFBE886D3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noProof="0" dirty="0"/>
              <a:t>Algorithmik – Laufzeitanalyse von Algorithmen durch Asymptotische Notation</a:t>
            </a:r>
          </a:p>
        </p:txBody>
      </p:sp>
      <p:sp>
        <p:nvSpPr>
          <p:cNvPr id="758" name="Google Shape;758;p22"/>
          <p:cNvSpPr/>
          <p:nvPr/>
        </p:nvSpPr>
        <p:spPr>
          <a:xfrm>
            <a:off x="3764501" y="1852223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59" name="Google Shape;759;p22"/>
          <p:cNvSpPr/>
          <p:nvPr/>
        </p:nvSpPr>
        <p:spPr>
          <a:xfrm>
            <a:off x="3507612" y="2177350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/>
          </a:p>
        </p:txBody>
      </p:sp>
      <p:sp>
        <p:nvSpPr>
          <p:cNvPr id="760" name="Google Shape;760;p22"/>
          <p:cNvSpPr/>
          <p:nvPr/>
        </p:nvSpPr>
        <p:spPr>
          <a:xfrm>
            <a:off x="4278278" y="2475261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61" name="Google Shape;761;p22"/>
          <p:cNvSpPr/>
          <p:nvPr/>
        </p:nvSpPr>
        <p:spPr>
          <a:xfrm>
            <a:off x="5892432" y="3406728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+2</a:t>
            </a:r>
            <a:endParaRPr dirty="0"/>
          </a:p>
        </p:txBody>
      </p:sp>
      <p:sp>
        <p:nvSpPr>
          <p:cNvPr id="762" name="Google Shape;762;p22"/>
          <p:cNvSpPr/>
          <p:nvPr/>
        </p:nvSpPr>
        <p:spPr>
          <a:xfrm>
            <a:off x="3889192" y="5576698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/>
          </a:p>
        </p:txBody>
      </p:sp>
      <p:sp>
        <p:nvSpPr>
          <p:cNvPr id="763" name="Google Shape;763;p22"/>
          <p:cNvSpPr/>
          <p:nvPr/>
        </p:nvSpPr>
        <p:spPr>
          <a:xfrm>
            <a:off x="7241599" y="3105834"/>
            <a:ext cx="296533" cy="1992639"/>
          </a:xfrm>
          <a:prstGeom prst="rightBrace">
            <a:avLst>
              <a:gd name="adj1" fmla="val 56789"/>
              <a:gd name="adj2" fmla="val 50000"/>
            </a:avLst>
          </a:prstGeom>
          <a:noFill/>
          <a:ln w="38100" cap="flat" cmpd="sng">
            <a:solidFill>
              <a:srgbClr val="B6A4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64" name="Google Shape;764;p22"/>
          <p:cNvSpPr/>
          <p:nvPr/>
        </p:nvSpPr>
        <p:spPr>
          <a:xfrm>
            <a:off x="7690095" y="3945937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+9</a:t>
            </a:r>
            <a:endParaRPr dirty="0"/>
          </a:p>
        </p:txBody>
      </p:sp>
      <p:grpSp>
        <p:nvGrpSpPr>
          <p:cNvPr id="765" name="Google Shape;765;p22"/>
          <p:cNvGrpSpPr/>
          <p:nvPr/>
        </p:nvGrpSpPr>
        <p:grpSpPr>
          <a:xfrm>
            <a:off x="8438680" y="3821525"/>
            <a:ext cx="552870" cy="552870"/>
            <a:chOff x="7574669" y="3536256"/>
            <a:chExt cx="552870" cy="552870"/>
          </a:xfrm>
        </p:grpSpPr>
        <p:sp>
          <p:nvSpPr>
            <p:cNvPr id="766" name="Google Shape;766;p22"/>
            <p:cNvSpPr/>
            <p:nvPr/>
          </p:nvSpPr>
          <p:spPr>
            <a:xfrm>
              <a:off x="7574669" y="3536256"/>
              <a:ext cx="552870" cy="552870"/>
            </a:xfrm>
            <a:prstGeom prst="ellipse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22"/>
            <p:cNvSpPr txBox="1"/>
            <p:nvPr/>
          </p:nvSpPr>
          <p:spPr>
            <a:xfrm>
              <a:off x="7639474" y="3628025"/>
              <a:ext cx="423261" cy="369332"/>
            </a:xfrm>
            <a:prstGeom prst="rect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*n</a:t>
              </a:r>
              <a:endParaRPr dirty="0"/>
            </a:p>
          </p:txBody>
        </p:sp>
      </p:grpSp>
      <p:sp>
        <p:nvSpPr>
          <p:cNvPr id="768" name="Google Shape;768;p22"/>
          <p:cNvSpPr txBox="1"/>
          <p:nvPr/>
        </p:nvSpPr>
        <p:spPr>
          <a:xfrm>
            <a:off x="7602938" y="3129309"/>
            <a:ext cx="18320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Innere Schleife läuft n-mal</a:t>
            </a:r>
            <a:endParaRPr dirty="0"/>
          </a:p>
        </p:txBody>
      </p:sp>
      <p:sp>
        <p:nvSpPr>
          <p:cNvPr id="769" name="Google Shape;769;p22"/>
          <p:cNvSpPr/>
          <p:nvPr/>
        </p:nvSpPr>
        <p:spPr>
          <a:xfrm>
            <a:off x="8586634" y="971774"/>
            <a:ext cx="2898900" cy="1150800"/>
          </a:xfrm>
          <a:prstGeom prst="rect">
            <a:avLst/>
          </a:prstGeom>
          <a:solidFill>
            <a:srgbClr val="4C32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f(n) = (9n+4)n + 3</a:t>
            </a:r>
            <a:endParaRPr/>
          </a:p>
        </p:txBody>
      </p:sp>
      <p:sp>
        <p:nvSpPr>
          <p:cNvPr id="770" name="Google Shape;770;p22"/>
          <p:cNvSpPr/>
          <p:nvPr/>
        </p:nvSpPr>
        <p:spPr>
          <a:xfrm>
            <a:off x="4137357" y="2803857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71" name="Google Shape;771;p22"/>
          <p:cNvSpPr/>
          <p:nvPr/>
        </p:nvSpPr>
        <p:spPr>
          <a:xfrm>
            <a:off x="4940327" y="3092516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72" name="Google Shape;772;p22"/>
          <p:cNvSpPr/>
          <p:nvPr/>
        </p:nvSpPr>
        <p:spPr>
          <a:xfrm>
            <a:off x="4788532" y="4641895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+2</a:t>
            </a:r>
            <a:endParaRPr/>
          </a:p>
        </p:txBody>
      </p:sp>
      <p:sp>
        <p:nvSpPr>
          <p:cNvPr id="773" name="Google Shape;773;p22"/>
          <p:cNvSpPr/>
          <p:nvPr/>
        </p:nvSpPr>
        <p:spPr>
          <a:xfrm>
            <a:off x="4040904" y="5249482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+2</a:t>
            </a:r>
            <a:endParaRPr dirty="0"/>
          </a:p>
        </p:txBody>
      </p:sp>
      <p:sp>
        <p:nvSpPr>
          <p:cNvPr id="774" name="Google Shape;774;p22"/>
          <p:cNvSpPr/>
          <p:nvPr/>
        </p:nvSpPr>
        <p:spPr>
          <a:xfrm>
            <a:off x="6575859" y="4328129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+4</a:t>
            </a:r>
            <a:endParaRPr/>
          </a:p>
        </p:txBody>
      </p:sp>
      <p:sp>
        <p:nvSpPr>
          <p:cNvPr id="775" name="Google Shape;775;p22"/>
          <p:cNvSpPr/>
          <p:nvPr/>
        </p:nvSpPr>
        <p:spPr>
          <a:xfrm>
            <a:off x="9544475" y="2481396"/>
            <a:ext cx="296533" cy="3072132"/>
          </a:xfrm>
          <a:prstGeom prst="rightBrace">
            <a:avLst>
              <a:gd name="adj1" fmla="val 56789"/>
              <a:gd name="adj2" fmla="val 50000"/>
            </a:avLst>
          </a:prstGeom>
          <a:noFill/>
          <a:ln w="38100" cap="flat" cmpd="sng">
            <a:solidFill>
              <a:srgbClr val="B6A4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6" name="Google Shape;776;p22"/>
          <p:cNvSpPr/>
          <p:nvPr/>
        </p:nvSpPr>
        <p:spPr>
          <a:xfrm>
            <a:off x="9986157" y="3857166"/>
            <a:ext cx="100586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9n + 4</a:t>
            </a:r>
            <a:endParaRPr dirty="0"/>
          </a:p>
        </p:txBody>
      </p:sp>
      <p:grpSp>
        <p:nvGrpSpPr>
          <p:cNvPr id="777" name="Google Shape;777;p22"/>
          <p:cNvGrpSpPr/>
          <p:nvPr/>
        </p:nvGrpSpPr>
        <p:grpSpPr>
          <a:xfrm>
            <a:off x="11219403" y="3736518"/>
            <a:ext cx="552870" cy="552870"/>
            <a:chOff x="7574669" y="3536256"/>
            <a:chExt cx="552870" cy="552870"/>
          </a:xfrm>
        </p:grpSpPr>
        <p:sp>
          <p:nvSpPr>
            <p:cNvPr id="778" name="Google Shape;778;p22"/>
            <p:cNvSpPr/>
            <p:nvPr/>
          </p:nvSpPr>
          <p:spPr>
            <a:xfrm>
              <a:off x="7574669" y="3536256"/>
              <a:ext cx="552870" cy="552870"/>
            </a:xfrm>
            <a:prstGeom prst="ellipse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22"/>
            <p:cNvSpPr txBox="1"/>
            <p:nvPr/>
          </p:nvSpPr>
          <p:spPr>
            <a:xfrm>
              <a:off x="7639474" y="3628025"/>
              <a:ext cx="423261" cy="369332"/>
            </a:xfrm>
            <a:prstGeom prst="rect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*n</a:t>
              </a:r>
              <a:endParaRPr/>
            </a:p>
          </p:txBody>
        </p:sp>
      </p:grpSp>
      <p:sp>
        <p:nvSpPr>
          <p:cNvPr id="780" name="Google Shape;780;p22"/>
          <p:cNvSpPr txBox="1"/>
          <p:nvPr/>
        </p:nvSpPr>
        <p:spPr>
          <a:xfrm>
            <a:off x="10275455" y="3059653"/>
            <a:ext cx="174355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Äußere Schleife läuft n-mal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6A02B41-9DB1-4C6D-AAD3-ECD4AEA2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Code Modellierung </a:t>
            </a:r>
            <a:br>
              <a:rPr lang="de-DE" noProof="0" dirty="0"/>
            </a:br>
            <a:r>
              <a:rPr lang="de-DE" sz="2000" noProof="0" dirty="0"/>
              <a:t>Beispiel 2</a:t>
            </a:r>
            <a:endParaRPr lang="de-DE" noProof="0" dirty="0"/>
          </a:p>
        </p:txBody>
      </p:sp>
      <p:sp>
        <p:nvSpPr>
          <p:cNvPr id="32" name="Google Shape;257;p13">
            <a:extLst>
              <a:ext uri="{FF2B5EF4-FFF2-40B4-BE49-F238E27FC236}">
                <a16:creationId xmlns:a16="http://schemas.microsoft.com/office/drawing/2014/main" id="{0A68E42F-6C45-447E-9231-FB8F810495F8}"/>
              </a:ext>
            </a:extLst>
          </p:cNvPr>
          <p:cNvSpPr txBox="1">
            <a:spLocks/>
          </p:cNvSpPr>
          <p:nvPr/>
        </p:nvSpPr>
        <p:spPr>
          <a:xfrm>
            <a:off x="7499928" y="6407294"/>
            <a:ext cx="2193636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CSE 373 20 AU – SCHAFER</a:t>
            </a:r>
          </a:p>
        </p:txBody>
      </p:sp>
      <p:sp>
        <p:nvSpPr>
          <p:cNvPr id="33" name="Google Shape;257;p13">
            <a:extLst>
              <a:ext uri="{FF2B5EF4-FFF2-40B4-BE49-F238E27FC236}">
                <a16:creationId xmlns:a16="http://schemas.microsoft.com/office/drawing/2014/main" id="{9C3AAB72-B8FE-4AF4-8E54-FB17F40605FF}"/>
              </a:ext>
            </a:extLst>
          </p:cNvPr>
          <p:cNvSpPr txBox="1">
            <a:spLocks/>
          </p:cNvSpPr>
          <p:nvPr/>
        </p:nvSpPr>
        <p:spPr>
          <a:xfrm>
            <a:off x="6881091" y="6150552"/>
            <a:ext cx="2812473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Quelle: Data Structures and </a:t>
            </a:r>
            <a:r>
              <a:rPr lang="fr-FR" sz="800" dirty="0" err="1"/>
              <a:t>Algorithms</a:t>
            </a:r>
            <a:r>
              <a:rPr lang="fr-FR" sz="800" dirty="0"/>
              <a:t> (CSE 373), University of Washington, Spring 2022</a:t>
            </a:r>
          </a:p>
        </p:txBody>
      </p:sp>
      <p:sp>
        <p:nvSpPr>
          <p:cNvPr id="31" name="Datumsplatzhalter 4">
            <a:extLst>
              <a:ext uri="{FF2B5EF4-FFF2-40B4-BE49-F238E27FC236}">
                <a16:creationId xmlns:a16="http://schemas.microsoft.com/office/drawing/2014/main" id="{1D3BAF9C-2C3C-4DE9-95B8-EF12E0F9544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06500" y="6011863"/>
            <a:ext cx="1295400" cy="179387"/>
          </a:xfrm>
        </p:spPr>
        <p:txBody>
          <a:bodyPr/>
          <a:lstStyle/>
          <a:p>
            <a:fld id="{97C55095-590B-4AAB-8606-0F86796D070A}" type="datetime1">
              <a:rPr lang="de-DE" smtClean="0"/>
              <a:pPr/>
              <a:t>09.01.2026</a:t>
            </a:fld>
            <a:endParaRPr lang="de-DE" dirty="0"/>
          </a:p>
        </p:txBody>
      </p:sp>
      <p:sp>
        <p:nvSpPr>
          <p:cNvPr id="34" name="Foliennummernplatzhalter 5">
            <a:extLst>
              <a:ext uri="{FF2B5EF4-FFF2-40B4-BE49-F238E27FC236}">
                <a16:creationId xmlns:a16="http://schemas.microsoft.com/office/drawing/2014/main" id="{1C577E6E-BCBF-4C5E-800A-8C6E8A3293E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206500" y="6361113"/>
            <a:ext cx="1295400" cy="214312"/>
          </a:xfrm>
        </p:spPr>
        <p:txBody>
          <a:bodyPr/>
          <a:lstStyle/>
          <a:p>
            <a:r>
              <a:rPr lang="de-DE"/>
              <a:t>Seite </a:t>
            </a:r>
            <a:fld id="{43310F81-32EE-4F95-9E9C-0BDC6AD52EEC}" type="slidenum">
              <a:rPr lang="de-DE" smtClean="0"/>
              <a:pPr/>
              <a:t>2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asterfolien_16_9">
  <a:themeElements>
    <a:clrScheme name="TH Köln Spektrum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C00009"/>
      </a:accent1>
      <a:accent2>
        <a:srgbClr val="E24300"/>
      </a:accent2>
      <a:accent3>
        <a:srgbClr val="9D167A"/>
      </a:accent3>
      <a:accent4>
        <a:srgbClr val="00CC00"/>
      </a:accent4>
      <a:accent5>
        <a:srgbClr val="FFFF00"/>
      </a:accent5>
      <a:accent6>
        <a:srgbClr val="259EFF"/>
      </a:accent6>
      <a:hlink>
        <a:srgbClr val="005294"/>
      </a:hlink>
      <a:folHlink>
        <a:srgbClr val="6783B4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  <a:tailEnd type="triangle" w="med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k_ln_pptvorlage_16_9_Feb2016_V1.potx" id="{A576FD44-4E46-4723-9FCD-6DC9777E0436}" vid="{1A564047-D60B-4EFF-AAEA-89036AD4D3C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masterfolien_16_9</Template>
  <TotalTime>0</TotalTime>
  <Words>310</Words>
  <Application>Microsoft Office PowerPoint</Application>
  <PresentationFormat>Breitbild</PresentationFormat>
  <Paragraphs>68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2" baseType="lpstr">
      <vt:lpstr>Arial</vt:lpstr>
      <vt:lpstr>Arial </vt:lpstr>
      <vt:lpstr>Calibri</vt:lpstr>
      <vt:lpstr>Consolas</vt:lpstr>
      <vt:lpstr>Courier New</vt:lpstr>
      <vt:lpstr>Montserrat</vt:lpstr>
      <vt:lpstr>Symbol</vt:lpstr>
      <vt:lpstr>Twentieth Century</vt:lpstr>
      <vt:lpstr>Wingdings</vt:lpstr>
      <vt:lpstr>masterfolien_16_9</vt:lpstr>
      <vt:lpstr>Analyse von Algorithmen</vt:lpstr>
      <vt:lpstr>Code Modellierung  Beispiel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02_Algorithmik_AsymptotischeAnalyse</dc:title>
  <dc:creator>Daniel Gaida</dc:creator>
  <cp:lastModifiedBy>Ivan Kurilin (ikurilin)</cp:lastModifiedBy>
  <cp:revision>971</cp:revision>
  <cp:lastPrinted>2016-02-26T07:58:29Z</cp:lastPrinted>
  <dcterms:created xsi:type="dcterms:W3CDTF">2021-07-17T19:54:54Z</dcterms:created>
  <dcterms:modified xsi:type="dcterms:W3CDTF">2026-01-09T10:11:53Z</dcterms:modified>
</cp:coreProperties>
</file>