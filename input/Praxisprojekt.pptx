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33"/>
  </p:notesMasterIdLst>
  <p:sldIdLst>
    <p:sldId id="263" r:id="rId5"/>
    <p:sldId id="2147472278" r:id="rId6"/>
    <p:sldId id="2147472322" r:id="rId7"/>
    <p:sldId id="2147472323" r:id="rId8"/>
    <p:sldId id="2147472319" r:id="rId9"/>
    <p:sldId id="2147472310" r:id="rId10"/>
    <p:sldId id="2147472324" r:id="rId11"/>
    <p:sldId id="2147472315" r:id="rId12"/>
    <p:sldId id="2147472325" r:id="rId13"/>
    <p:sldId id="2147472328" r:id="rId14"/>
    <p:sldId id="2147472305" r:id="rId15"/>
    <p:sldId id="2147472307" r:id="rId16"/>
    <p:sldId id="2147472306" r:id="rId17"/>
    <p:sldId id="2147472308" r:id="rId18"/>
    <p:sldId id="2147472309" r:id="rId19"/>
    <p:sldId id="2147472326" r:id="rId20"/>
    <p:sldId id="2147472331" r:id="rId21"/>
    <p:sldId id="2147472332" r:id="rId22"/>
    <p:sldId id="2147472333" r:id="rId23"/>
    <p:sldId id="2147472334" r:id="rId24"/>
    <p:sldId id="2147472335" r:id="rId25"/>
    <p:sldId id="2147472317" r:id="rId26"/>
    <p:sldId id="2147472327" r:id="rId27"/>
    <p:sldId id="2147472311" r:id="rId28"/>
    <p:sldId id="2147472313" r:id="rId29"/>
    <p:sldId id="2147472330" r:id="rId30"/>
    <p:sldId id="2147472329" r:id="rId31"/>
    <p:sldId id="2147472302" r:id="rId32"/>
  </p:sldIdLst>
  <p:sldSz cx="9144000" cy="5148263"/>
  <p:notesSz cx="6858000" cy="9144000"/>
  <p:embeddedFontLst>
    <p:embeddedFont>
      <p:font typeface="RWE Sans" panose="020B0504020101010102" pitchFamily="34" charset="0"/>
      <p:regular r:id="rId34"/>
      <p:bold r:id="rId35"/>
      <p:italic r:id="rId36"/>
      <p:boldItalic r:id="rId37"/>
    </p:embeddedFont>
  </p:embeddedFontLst>
  <p:defaultTextStyle>
    <a:defPPr>
      <a:defRPr lang="de-DE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8645ADFC-0663-4FA2-A721-C91E8EA6D47F}">
          <p14:sldIdLst>
            <p14:sldId id="263"/>
            <p14:sldId id="2147472278"/>
            <p14:sldId id="2147472322"/>
            <p14:sldId id="2147472323"/>
            <p14:sldId id="2147472319"/>
            <p14:sldId id="2147472310"/>
            <p14:sldId id="2147472324"/>
            <p14:sldId id="2147472315"/>
            <p14:sldId id="2147472325"/>
            <p14:sldId id="2147472328"/>
            <p14:sldId id="2147472305"/>
            <p14:sldId id="2147472307"/>
            <p14:sldId id="2147472306"/>
            <p14:sldId id="2147472308"/>
            <p14:sldId id="2147472309"/>
            <p14:sldId id="2147472326"/>
            <p14:sldId id="2147472331"/>
            <p14:sldId id="2147472332"/>
            <p14:sldId id="2147472333"/>
            <p14:sldId id="2147472334"/>
            <p14:sldId id="2147472335"/>
            <p14:sldId id="2147472317"/>
            <p14:sldId id="2147472327"/>
            <p14:sldId id="2147472311"/>
            <p14:sldId id="2147472313"/>
            <p14:sldId id="2147472330"/>
            <p14:sldId id="2147472329"/>
            <p14:sldId id="2147472302"/>
          </p14:sldIdLst>
        </p14:section>
        <p14:section name="Back Up" id="{95452EE3-4703-4ABB-BE14-FF098E824C7A}">
          <p14:sldIdLst/>
        </p14:section>
      </p14:sectionLst>
    </p:ex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162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EBE5716-D141-B737-A4BA-A30A30D10FA3}" name="Geissler, Christine" initials="CG" userId="S::UI568935@rwe-ag.com::ab3f6b08-866b-427c-b67d-a93e8fc3ebe4" providerId="AD"/>
  <p188:author id="{2AEC204F-299D-016D-2382-B596BFF5F050}" name="Grubben, Louis" initials="GL" userId="S::R501226@rwe-ag.com::dd20a281-2fd4-4282-81a7-8c0f6ca282fb" providerId="AD"/>
  <p188:author id="{BFE4EC7F-4935-C0B9-47E3-387C2EC0D357}" name="Hudgell, Colin" initials="HC" userId="S::UI354905@rwe-ag.com::0a291012-da7a-48a0-a113-6d9a56596b79" providerId="AD"/>
  <p188:author id="{5EB122A4-DCF4-95FC-3B6E-AA819B97D7B0}" name="Fröwis, Marc Michael" initials="FM" userId="S::r913186@rwe-ag.com::2ed9c957-c582-4f88-9f19-f3b1e5b7f2ea" providerId="AD"/>
  <p188:author id="{62A1DEDE-12AA-F73A-7E9C-96DB15174776}" name="Haupt, Mario" initials="HM" userId="S::ui914542@rwe-ag.com::2c5eb05c-c7eb-4a54-a9d6-0e92f1af924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F24BBB-C975-448C-79B1-88810A13D9B5}" v="99" dt="2024-03-18T09:54:50.288"/>
    <p1510:client id="{5E852C9F-EB85-45AB-BDF0-FFC587F51815}" v="7" dt="2024-03-18T08:26:03.860"/>
    <p1510:client id="{8A2FC33A-9910-5403-4394-93C207AB34D1}" v="150" dt="2024-03-18T14:01:41.202"/>
    <p1510:client id="{EA1BC084-DCE2-4ADC-90C3-7BA14CEFFF9E}" v="10" dt="2024-03-18T13:23:00.830"/>
    <p1510:client id="{EB343059-1127-EF54-486A-F8F8AB2DAAC8}" v="5" dt="2024-03-18T10:00:53.874"/>
  </p1510:revLst>
</p1510:revInfo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215" d="100"/>
          <a:sy n="215" d="100"/>
        </p:scale>
        <p:origin x="210" y="168"/>
      </p:cViewPr>
      <p:guideLst>
        <p:guide pos="2880"/>
        <p:guide orient="horz" pos="162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4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8C698-B6E6-4825-BE5C-D88ABA108705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D0B9E-069B-45F3-9BF7-07F1EA0B1F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542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emf"/><Relationship Id="rId4" Type="http://schemas.openxmlformats.org/officeDocument/2006/relationships/image" Target="../media/image12.jpe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liennummer">
            <a:extLst>
              <a:ext uri="{FF2B5EF4-FFF2-40B4-BE49-F238E27FC236}">
                <a16:creationId xmlns:a16="http://schemas.microsoft.com/office/drawing/2014/main" id="{C7B05CF9-0C14-4E60-9298-84DC510A8BB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098164" y="5292000"/>
            <a:ext cx="504000" cy="108000"/>
          </a:xfrm>
        </p:spPr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25" name="Fußzeile">
            <a:extLst>
              <a:ext uri="{FF2B5EF4-FFF2-40B4-BE49-F238E27FC236}">
                <a16:creationId xmlns:a16="http://schemas.microsoft.com/office/drawing/2014/main" id="{52760A87-05D5-47F4-966C-F3857A204A7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40000" y="5292000"/>
            <a:ext cx="6588000" cy="108000"/>
          </a:xfrm>
        </p:spPr>
        <p:txBody>
          <a:bodyPr/>
          <a:lstStyle/>
          <a:p>
            <a:r>
              <a:rPr lang="en-US"/>
              <a:t>Offline Cache – Progressive Web App – RWE Power App Plattform</a:t>
            </a:r>
            <a:endParaRPr lang="en-GB"/>
          </a:p>
        </p:txBody>
      </p:sp>
      <p:sp>
        <p:nvSpPr>
          <p:cNvPr id="20" name="Datum">
            <a:extLst>
              <a:ext uri="{FF2B5EF4-FFF2-40B4-BE49-F238E27FC236}">
                <a16:creationId xmlns:a16="http://schemas.microsoft.com/office/drawing/2014/main" id="{97B4E906-131F-490E-B3AF-AF5CE6F0154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3999" y="5292000"/>
            <a:ext cx="504000" cy="108000"/>
          </a:xfrm>
        </p:spPr>
        <p:txBody>
          <a:bodyPr/>
          <a:lstStyle/>
          <a:p>
            <a:fld id="{4FEB2FDE-9A35-4713-A2A0-EEB3A61D383F}" type="datetime1">
              <a:rPr lang="de-DE" smtClean="0"/>
              <a:t>08.12.2025</a:t>
            </a:fld>
            <a:endParaRPr lang="en-GB"/>
          </a:p>
        </p:txBody>
      </p:sp>
      <p:pic>
        <p:nvPicPr>
          <p:cNvPr id="12" name="Energiefeld">
            <a:extLst>
              <a:ext uri="{FF2B5EF4-FFF2-40B4-BE49-F238E27FC236}">
                <a16:creationId xmlns:a16="http://schemas.microsoft.com/office/drawing/2014/main" id="{16BD3CE1-BE51-4D71-99C6-18F96DC18C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92173" y="1980263"/>
            <a:ext cx="3551827" cy="3168000"/>
          </a:xfrm>
          <a:prstGeom prst="rect">
            <a:avLst/>
          </a:prstGeom>
        </p:spPr>
      </p:pic>
      <p:pic>
        <p:nvPicPr>
          <p:cNvPr id="23" name="RWE Logo">
            <a:extLst>
              <a:ext uri="{FF2B5EF4-FFF2-40B4-BE49-F238E27FC236}">
                <a16:creationId xmlns:a16="http://schemas.microsoft.com/office/drawing/2014/main" id="{55386AFA-5C87-4DD0-90DA-C27B4195EAE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942000" y="288000"/>
            <a:ext cx="1260000" cy="360000"/>
          </a:xfrm>
          <a:prstGeom prst="rect">
            <a:avLst/>
          </a:prstGeom>
        </p:spPr>
      </p:pic>
      <p:sp>
        <p:nvSpPr>
          <p:cNvPr id="21" name="Thema/Unterthema">
            <a:extLst>
              <a:ext uri="{FF2B5EF4-FFF2-40B4-BE49-F238E27FC236}">
                <a16:creationId xmlns:a16="http://schemas.microsoft.com/office/drawing/2014/main" id="{EC07B22B-D9D1-4E18-9044-5F6D7DC01C9D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538163" y="2160589"/>
            <a:ext cx="8062913" cy="2519361"/>
          </a:xfrm>
        </p:spPr>
        <p:txBody>
          <a:bodyPr vert="horz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spc="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  <a:defRPr sz="1800" b="1" spc="0" baseline="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000"/>
              </a:spcBef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1200" b="0" i="0" u="none" strike="noStrike" spc="0" baseline="0" smtClean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Subject of the presentation on the first level // for subtopic and additional information </a:t>
            </a:r>
            <a:br>
              <a:rPr lang="en-GB" noProof="0"/>
            </a:br>
            <a:r>
              <a:rPr lang="en-GB" noProof="0"/>
              <a:t>&gt;&gt; Increase List Level 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48618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 userDrawn="1">
          <p15:clr>
            <a:srgbClr val="FBAE40"/>
          </p15:clr>
        </p15:guide>
        <p15:guide id="2" pos="5420" userDrawn="1">
          <p15:clr>
            <a:srgbClr val="FBAE40"/>
          </p15:clr>
        </p15:guide>
        <p15:guide id="3" orient="horz" pos="1361" userDrawn="1">
          <p15:clr>
            <a:srgbClr val="FBAE40"/>
          </p15:clr>
        </p15:guide>
        <p15:guide id="5" pos="4263" userDrawn="1">
          <p15:clr>
            <a:srgbClr val="FBAE40"/>
          </p15:clr>
        </p15:guide>
        <p15:guide id="6" orient="horz" pos="294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dark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liennummer">
            <a:extLst>
              <a:ext uri="{FF2B5EF4-FFF2-40B4-BE49-F238E27FC236}">
                <a16:creationId xmlns:a16="http://schemas.microsoft.com/office/drawing/2014/main" id="{F5C2CA7C-AD4B-4E9D-9775-D2BDACE850F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8098164" y="5292000"/>
            <a:ext cx="504000" cy="108000"/>
          </a:xfrm>
        </p:spPr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27" name="Fußzeile">
            <a:extLst>
              <a:ext uri="{FF2B5EF4-FFF2-40B4-BE49-F238E27FC236}">
                <a16:creationId xmlns:a16="http://schemas.microsoft.com/office/drawing/2014/main" id="{E9004F84-FAC1-4218-9DBA-208A8E5F564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440000" y="5292000"/>
            <a:ext cx="6588000" cy="108000"/>
          </a:xfrm>
        </p:spPr>
        <p:txBody>
          <a:bodyPr/>
          <a:lstStyle/>
          <a:p>
            <a:r>
              <a:rPr lang="en-US"/>
              <a:t>Offline Cache – Progressive Web App – RWE Power App Plattform</a:t>
            </a:r>
            <a:endParaRPr lang="en-GB"/>
          </a:p>
        </p:txBody>
      </p:sp>
      <p:sp>
        <p:nvSpPr>
          <p:cNvPr id="26" name="Datum">
            <a:extLst>
              <a:ext uri="{FF2B5EF4-FFF2-40B4-BE49-F238E27FC236}">
                <a16:creationId xmlns:a16="http://schemas.microsoft.com/office/drawing/2014/main" id="{6DABE8B3-529F-42C1-AD18-018928849731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863999" y="5292000"/>
            <a:ext cx="504000" cy="108000"/>
          </a:xfrm>
        </p:spPr>
        <p:txBody>
          <a:bodyPr/>
          <a:lstStyle/>
          <a:p>
            <a:fld id="{1B0ECBFD-7D0D-413A-8B98-3E6320F5453F}" type="datetime1">
              <a:rPr lang="de-DE" smtClean="0"/>
              <a:t>08.12.2025</a:t>
            </a:fld>
            <a:endParaRPr lang="en-GB"/>
          </a:p>
        </p:txBody>
      </p:sp>
      <p:sp>
        <p:nvSpPr>
          <p:cNvPr id="10" name="Bild">
            <a:extLst>
              <a:ext uri="{FF2B5EF4-FFF2-40B4-BE49-F238E27FC236}">
                <a16:creationId xmlns:a16="http://schemas.microsoft.com/office/drawing/2014/main" id="{C4E2C5A4-8A4B-4CCA-9017-D87D8894103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ltGray">
          <a:xfrm>
            <a:off x="1" y="0"/>
            <a:ext cx="9144000" cy="5148263"/>
          </a:xfrm>
          <a:blipFill>
            <a:blip r:embed="rId2"/>
            <a:stretch>
              <a:fillRect/>
            </a:stretch>
          </a:blipFill>
        </p:spPr>
        <p:txBody>
          <a:bodyPr anchor="t" anchorCtr="0"/>
          <a:lstStyle>
            <a:lvl1pPr algn="ctr">
              <a:spcBef>
                <a:spcPts val="0"/>
              </a:spcBef>
              <a:defRPr>
                <a:solidFill>
                  <a:schemeClr val="bg1"/>
                </a:solidFill>
              </a:defRPr>
            </a:lvl1pPr>
          </a:lstStyle>
          <a:p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Insert dark picture via menu: </a:t>
            </a:r>
            <a:br>
              <a:rPr lang="en-GB"/>
            </a:br>
            <a:r>
              <a:rPr lang="en-GB"/>
              <a:t>Insert &gt; Pictures</a:t>
            </a:r>
          </a:p>
        </p:txBody>
      </p:sp>
      <p:sp>
        <p:nvSpPr>
          <p:cNvPr id="30" name="Energiefeld">
            <a:extLst>
              <a:ext uri="{FF2B5EF4-FFF2-40B4-BE49-F238E27FC236}">
                <a16:creationId xmlns:a16="http://schemas.microsoft.com/office/drawing/2014/main" id="{4676040A-E8CD-47CB-9984-466DF1FA391B}"/>
              </a:ext>
            </a:extLst>
          </p:cNvPr>
          <p:cNvSpPr>
            <a:spLocks noGrp="1" noChangeAspect="1"/>
          </p:cNvSpPr>
          <p:nvPr>
            <p:ph type="body" orient="vert" idx="26" hasCustomPrompt="1"/>
          </p:nvPr>
        </p:nvSpPr>
        <p:spPr>
          <a:xfrm>
            <a:off x="5590800" y="1980263"/>
            <a:ext cx="3553200" cy="3168000"/>
          </a:xfrm>
          <a:blipFill>
            <a:blip r:embed="rId3"/>
            <a:stretch>
              <a:fillRect/>
            </a:stretch>
          </a:blipFill>
        </p:spPr>
        <p:txBody>
          <a:bodyPr vert="horz" wrap="none" tIns="324000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650" b="0" i="1" u="none" strike="noStrike" spc="0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Scale or delete the energy field if necessary (see also library for alternative versions of energy fields)</a:t>
            </a:r>
          </a:p>
        </p:txBody>
      </p:sp>
      <p:sp>
        <p:nvSpPr>
          <p:cNvPr id="9" name="RWE Logo">
            <a:extLst>
              <a:ext uri="{FF2B5EF4-FFF2-40B4-BE49-F238E27FC236}">
                <a16:creationId xmlns:a16="http://schemas.microsoft.com/office/drawing/2014/main" id="{69B08FAB-2E4B-44DB-84AA-CA508F18FEC4}"/>
              </a:ext>
            </a:extLst>
          </p:cNvPr>
          <p:cNvSpPr>
            <a:spLocks noGrp="1" noChangeAspect="1"/>
          </p:cNvSpPr>
          <p:nvPr>
            <p:ph type="body" orient="vert" idx="13" hasCustomPrompt="1"/>
          </p:nvPr>
        </p:nvSpPr>
        <p:spPr>
          <a:xfrm>
            <a:off x="3942000" y="288000"/>
            <a:ext cx="1260000" cy="360000"/>
          </a:xfrm>
          <a:blipFill>
            <a:blip r:embed="rId4"/>
            <a:stretch>
              <a:fillRect/>
            </a:stretch>
          </a:blipFill>
        </p:spPr>
        <p:txBody>
          <a:bodyPr vert="horz" wrap="none" tIns="0" bIns="10800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-2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-20" baseline="0">
                <a:solidFill>
                  <a:schemeClr val="accent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650" b="0" i="1" spc="-20" baseline="0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650" b="0" i="1" spc="-20" baseline="0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650" b="0" i="1" spc="-20" baseline="0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650" b="0" i="1" spc="-20" baseline="0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650" b="0" i="1" spc="-20" baseline="0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-20" baseline="0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650" b="0" i="1" u="none" strike="noStrike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Do not remove or delete the logo</a:t>
            </a:r>
          </a:p>
        </p:txBody>
      </p:sp>
      <p:sp>
        <p:nvSpPr>
          <p:cNvPr id="25" name="Thema/Unterthema">
            <a:extLst>
              <a:ext uri="{FF2B5EF4-FFF2-40B4-BE49-F238E27FC236}">
                <a16:creationId xmlns:a16="http://schemas.microsoft.com/office/drawing/2014/main" id="{C7315163-9CD4-4B8E-B886-F507B96D6E6B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538163" y="2160589"/>
            <a:ext cx="8062913" cy="2519361"/>
          </a:xfrm>
        </p:spPr>
        <p:txBody>
          <a:bodyPr vert="horz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spc="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  <a:defRPr sz="1800" b="1" spc="0" baseline="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000"/>
              </a:spcBef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1200" b="0" i="0" u="none" strike="noStrike" spc="0" baseline="0" smtClean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Subject of the presentation on the first level // for subtopic and additional information </a:t>
            </a:r>
            <a:br>
              <a:rPr lang="en-GB" noProof="0"/>
            </a:br>
            <a:r>
              <a:rPr lang="en-GB" noProof="0"/>
              <a:t>&gt;&gt; Increase List Level 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0165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pos="5420">
          <p15:clr>
            <a:srgbClr val="FBAE40"/>
          </p15:clr>
        </p15:guide>
        <p15:guide id="3" orient="horz" pos="1361">
          <p15:clr>
            <a:srgbClr val="FBAE40"/>
          </p15:clr>
        </p15:guide>
        <p15:guide id="4" orient="horz" pos="1814">
          <p15:clr>
            <a:srgbClr val="FBAE40"/>
          </p15:clr>
        </p15:guide>
        <p15:guide id="5" pos="4263">
          <p15:clr>
            <a:srgbClr val="FBAE40"/>
          </p15:clr>
        </p15:guide>
        <p15:guide id="6" orient="horz" pos="29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liennummer">
            <a:extLst>
              <a:ext uri="{FF2B5EF4-FFF2-40B4-BE49-F238E27FC236}">
                <a16:creationId xmlns:a16="http://schemas.microsoft.com/office/drawing/2014/main" id="{F5C2CA7C-AD4B-4E9D-9775-D2BDACE850F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8098164" y="5292000"/>
            <a:ext cx="504000" cy="108000"/>
          </a:xfrm>
        </p:spPr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27" name="Fußzeile">
            <a:extLst>
              <a:ext uri="{FF2B5EF4-FFF2-40B4-BE49-F238E27FC236}">
                <a16:creationId xmlns:a16="http://schemas.microsoft.com/office/drawing/2014/main" id="{E9004F84-FAC1-4218-9DBA-208A8E5F564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440000" y="5292000"/>
            <a:ext cx="6588000" cy="108000"/>
          </a:xfrm>
        </p:spPr>
        <p:txBody>
          <a:bodyPr/>
          <a:lstStyle/>
          <a:p>
            <a:r>
              <a:rPr lang="en-US"/>
              <a:t>Offline Cache – Progressive Web App – RWE Power App Plattform</a:t>
            </a:r>
            <a:endParaRPr lang="en-GB"/>
          </a:p>
        </p:txBody>
      </p:sp>
      <p:sp>
        <p:nvSpPr>
          <p:cNvPr id="26" name="Datum">
            <a:extLst>
              <a:ext uri="{FF2B5EF4-FFF2-40B4-BE49-F238E27FC236}">
                <a16:creationId xmlns:a16="http://schemas.microsoft.com/office/drawing/2014/main" id="{6DABE8B3-529F-42C1-AD18-018928849731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863999" y="5292000"/>
            <a:ext cx="504000" cy="108000"/>
          </a:xfrm>
        </p:spPr>
        <p:txBody>
          <a:bodyPr/>
          <a:lstStyle/>
          <a:p>
            <a:fld id="{059AFECA-BAB1-4738-B6AE-4E5008B91B36}" type="datetime1">
              <a:rPr lang="de-DE" smtClean="0"/>
              <a:t>08.12.2025</a:t>
            </a:fld>
            <a:endParaRPr lang="en-GB"/>
          </a:p>
        </p:txBody>
      </p:sp>
      <p:sp>
        <p:nvSpPr>
          <p:cNvPr id="10" name="Bild">
            <a:extLst>
              <a:ext uri="{FF2B5EF4-FFF2-40B4-BE49-F238E27FC236}">
                <a16:creationId xmlns:a16="http://schemas.microsoft.com/office/drawing/2014/main" id="{C4E2C5A4-8A4B-4CCA-9017-D87D8894103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ltGray">
          <a:xfrm>
            <a:off x="1" y="0"/>
            <a:ext cx="9144000" cy="5148263"/>
          </a:xfrm>
          <a:blipFill>
            <a:blip r:embed="rId2"/>
            <a:stretch>
              <a:fillRect/>
            </a:stretch>
          </a:blipFill>
        </p:spPr>
        <p:txBody>
          <a:bodyPr anchor="t" anchorCtr="0"/>
          <a:lstStyle>
            <a:lvl1pPr algn="ctr"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</a:lstStyle>
          <a:p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Insert light picture via menu:</a:t>
            </a:r>
            <a:br>
              <a:rPr lang="en-GB"/>
            </a:br>
            <a:r>
              <a:rPr lang="en-GB"/>
              <a:t>Insert &gt; Pictures</a:t>
            </a:r>
          </a:p>
        </p:txBody>
      </p:sp>
      <p:sp>
        <p:nvSpPr>
          <p:cNvPr id="30" name="Energiefeld">
            <a:extLst>
              <a:ext uri="{FF2B5EF4-FFF2-40B4-BE49-F238E27FC236}">
                <a16:creationId xmlns:a16="http://schemas.microsoft.com/office/drawing/2014/main" id="{4676040A-E8CD-47CB-9984-466DF1FA391B}"/>
              </a:ext>
            </a:extLst>
          </p:cNvPr>
          <p:cNvSpPr>
            <a:spLocks noGrp="1" noChangeAspect="1"/>
          </p:cNvSpPr>
          <p:nvPr>
            <p:ph type="body" orient="vert" idx="26" hasCustomPrompt="1"/>
          </p:nvPr>
        </p:nvSpPr>
        <p:spPr bwMode="gray">
          <a:xfrm>
            <a:off x="5590800" y="1980263"/>
            <a:ext cx="3553200" cy="3168000"/>
          </a:xfrm>
          <a:blipFill>
            <a:blip r:embed="rId3"/>
            <a:stretch>
              <a:fillRect/>
            </a:stretch>
          </a:blipFill>
        </p:spPr>
        <p:txBody>
          <a:bodyPr vert="horz" wrap="none" tIns="324000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650" b="0" i="1" u="none" strike="noStrike" spc="0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Scale or delete the energy field if necessary (see also library for alternative versions of energy fields)</a:t>
            </a:r>
          </a:p>
        </p:txBody>
      </p:sp>
      <p:sp>
        <p:nvSpPr>
          <p:cNvPr id="9" name="RWE Logo">
            <a:extLst>
              <a:ext uri="{FF2B5EF4-FFF2-40B4-BE49-F238E27FC236}">
                <a16:creationId xmlns:a16="http://schemas.microsoft.com/office/drawing/2014/main" id="{69B08FAB-2E4B-44DB-84AA-CA508F18FEC4}"/>
              </a:ext>
            </a:extLst>
          </p:cNvPr>
          <p:cNvSpPr>
            <a:spLocks noGrp="1" noChangeAspect="1"/>
          </p:cNvSpPr>
          <p:nvPr>
            <p:ph type="body" orient="vert" idx="13" hasCustomPrompt="1"/>
          </p:nvPr>
        </p:nvSpPr>
        <p:spPr>
          <a:xfrm>
            <a:off x="3942000" y="288000"/>
            <a:ext cx="1260000" cy="360000"/>
          </a:xfrm>
          <a:blipFill>
            <a:blip r:embed="rId4"/>
            <a:stretch>
              <a:fillRect/>
            </a:stretch>
          </a:blipFill>
        </p:spPr>
        <p:txBody>
          <a:bodyPr vert="horz" wrap="none" tIns="0" bIns="10800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-2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-20" baseline="0">
                <a:solidFill>
                  <a:schemeClr val="accent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650" b="0" i="1" spc="-20" baseline="0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650" b="0" i="1" spc="-20" baseline="0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650" b="0" i="1" spc="-20" baseline="0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650" b="0" i="1" spc="-20" baseline="0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650" b="0" i="1" spc="-20" baseline="0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-20" baseline="0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650" b="0" i="1" u="none" strike="noStrike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Do not remove or delete the logo</a:t>
            </a:r>
          </a:p>
        </p:txBody>
      </p:sp>
      <p:sp>
        <p:nvSpPr>
          <p:cNvPr id="25" name="Thema/Unterthema">
            <a:extLst>
              <a:ext uri="{FF2B5EF4-FFF2-40B4-BE49-F238E27FC236}">
                <a16:creationId xmlns:a16="http://schemas.microsoft.com/office/drawing/2014/main" id="{C7315163-9CD4-4B8E-B886-F507B96D6E6B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538163" y="2160589"/>
            <a:ext cx="8062913" cy="2519361"/>
          </a:xfrm>
        </p:spPr>
        <p:txBody>
          <a:bodyPr vert="horz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spc="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  <a:defRPr sz="1800" b="1" spc="0" baseline="0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000"/>
              </a:spcBef>
              <a:buNone/>
              <a:defRPr sz="1200" b="0" spc="0" baseline="0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spc="0" baseline="0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1200" b="0" i="0" u="none" strike="noStrike" spc="0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Subject of the presentation on the first level // for subtopic and additional information </a:t>
            </a:r>
            <a:br>
              <a:rPr lang="en-GB" noProof="0"/>
            </a:br>
            <a:r>
              <a:rPr lang="en-GB" noProof="0"/>
              <a:t>&gt;&gt; Increase List Level 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84616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pos="5420">
          <p15:clr>
            <a:srgbClr val="FBAE40"/>
          </p15:clr>
        </p15:guide>
        <p15:guide id="3" orient="horz" pos="1361">
          <p15:clr>
            <a:srgbClr val="FBAE40"/>
          </p15:clr>
        </p15:guide>
        <p15:guide id="4" orient="horz" pos="1814">
          <p15:clr>
            <a:srgbClr val="FBAE40"/>
          </p15:clr>
        </p15:guide>
        <p15:guide id="5" pos="4263">
          <p15:clr>
            <a:srgbClr val="FBAE40"/>
          </p15:clr>
        </p15:guide>
        <p15:guide id="6" orient="horz" pos="29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nd chapter separato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Kapitel/Unterkapitel">
            <a:extLst>
              <a:ext uri="{FF2B5EF4-FFF2-40B4-BE49-F238E27FC236}">
                <a16:creationId xmlns:a16="http://schemas.microsoft.com/office/drawing/2014/main" id="{EA54C322-2253-4F0D-9CAF-71AFC8F364DD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538163" y="2160589"/>
            <a:ext cx="8062913" cy="2519361"/>
          </a:xfrm>
        </p:spPr>
        <p:txBody>
          <a:bodyPr vert="horz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spc="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  <a:defRPr sz="1800" b="1" spc="0" baseline="0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000"/>
              </a:spcBef>
              <a:buNone/>
              <a:defRPr sz="1200" b="0" spc="0" baseline="0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spc="0" baseline="0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1200" b="0" i="0" u="none" strike="noStrike" spc="0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Chapter on first level // for subchapter &gt;&gt; Menu &gt; Home &gt; Paragraph &gt; Increase List Level 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3" name="Foliennummer">
            <a:extLst>
              <a:ext uri="{FF2B5EF4-FFF2-40B4-BE49-F238E27FC236}">
                <a16:creationId xmlns:a16="http://schemas.microsoft.com/office/drawing/2014/main" id="{F6D63078-871B-42FD-979A-D33D9851DEE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8098164" y="5292000"/>
            <a:ext cx="504000" cy="108000"/>
          </a:xfrm>
        </p:spPr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22" name="Fußzeile">
            <a:extLst>
              <a:ext uri="{FF2B5EF4-FFF2-40B4-BE49-F238E27FC236}">
                <a16:creationId xmlns:a16="http://schemas.microsoft.com/office/drawing/2014/main" id="{4B77DA1C-1EE2-42DE-9FE1-6E84AFB9BD5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Offline Cache – Progressive Web App – RWE Power App Plattform</a:t>
            </a:r>
            <a:endParaRPr lang="en-GB" dirty="0"/>
          </a:p>
        </p:txBody>
      </p:sp>
      <p:sp>
        <p:nvSpPr>
          <p:cNvPr id="21" name="Datum">
            <a:extLst>
              <a:ext uri="{FF2B5EF4-FFF2-40B4-BE49-F238E27FC236}">
                <a16:creationId xmlns:a16="http://schemas.microsoft.com/office/drawing/2014/main" id="{B31F43E5-E4A5-4CC3-9316-F5A2AFE76595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33A91CC-4F86-4A6E-B8FF-CC901A25EF2A}" type="datetime1">
              <a:rPr lang="de-DE" smtClean="0"/>
              <a:t>08.12.2025</a:t>
            </a:fld>
            <a:endParaRPr lang="en-GB" dirty="0"/>
          </a:p>
        </p:txBody>
      </p:sp>
      <p:pic>
        <p:nvPicPr>
          <p:cNvPr id="12" name="Energiefeld">
            <a:extLst>
              <a:ext uri="{FF2B5EF4-FFF2-40B4-BE49-F238E27FC236}">
                <a16:creationId xmlns:a16="http://schemas.microsoft.com/office/drawing/2014/main" id="{16BD3CE1-BE51-4D71-99C6-18F96DC18C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92173" y="1980263"/>
            <a:ext cx="3551827" cy="31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51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pos="5420">
          <p15:clr>
            <a:srgbClr val="FBAE40"/>
          </p15:clr>
        </p15:guide>
        <p15:guide id="3" orient="horz" pos="1361">
          <p15:clr>
            <a:srgbClr val="FBAE40"/>
          </p15:clr>
        </p15:guide>
        <p15:guide id="4" orient="horz" pos="1814">
          <p15:clr>
            <a:srgbClr val="FBAE40"/>
          </p15:clr>
        </p15:guide>
        <p15:guide id="5" pos="4263">
          <p15:clr>
            <a:srgbClr val="FBAE40"/>
          </p15:clr>
        </p15:guide>
        <p15:guide id="6" orient="horz" pos="29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eparator with dark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">
            <a:extLst>
              <a:ext uri="{FF2B5EF4-FFF2-40B4-BE49-F238E27FC236}">
                <a16:creationId xmlns:a16="http://schemas.microsoft.com/office/drawing/2014/main" id="{08623659-E218-43DB-AF9E-9D701435C68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ltGray">
          <a:xfrm>
            <a:off x="1" y="0"/>
            <a:ext cx="9144000" cy="5148263"/>
          </a:xfrm>
          <a:blipFill>
            <a:blip r:embed="rId2"/>
            <a:stretch>
              <a:fillRect/>
            </a:stretch>
          </a:blipFill>
        </p:spPr>
        <p:txBody>
          <a:bodyPr anchor="t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Insert dark picture via menu: </a:t>
            </a:r>
            <a:br>
              <a:rPr lang="en-GB"/>
            </a:br>
            <a:r>
              <a:rPr lang="en-GB"/>
              <a:t>Insert &gt; Pictures</a:t>
            </a:r>
          </a:p>
        </p:txBody>
      </p:sp>
      <p:sp>
        <p:nvSpPr>
          <p:cNvPr id="23" name="Energiefeld">
            <a:extLst>
              <a:ext uri="{FF2B5EF4-FFF2-40B4-BE49-F238E27FC236}">
                <a16:creationId xmlns:a16="http://schemas.microsoft.com/office/drawing/2014/main" id="{BDB501D0-1BBB-4419-88B7-E72B91FBE1BB}"/>
              </a:ext>
            </a:extLst>
          </p:cNvPr>
          <p:cNvSpPr>
            <a:spLocks noGrp="1" noChangeAspect="1"/>
          </p:cNvSpPr>
          <p:nvPr>
            <p:ph type="body" orient="vert" idx="26" hasCustomPrompt="1"/>
          </p:nvPr>
        </p:nvSpPr>
        <p:spPr bwMode="auto">
          <a:xfrm>
            <a:off x="5590800" y="1980263"/>
            <a:ext cx="3553200" cy="3168000"/>
          </a:xfrm>
          <a:blipFill>
            <a:blip r:embed="rId3"/>
            <a:stretch>
              <a:fillRect/>
            </a:stretch>
          </a:blipFill>
        </p:spPr>
        <p:txBody>
          <a:bodyPr vert="horz" wrap="none" tIns="324000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650" b="0" i="1" u="none" strike="noStrike" spc="0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Scale or delete the energy field if necessary (see also library for alternative versions of energy fields)</a:t>
            </a:r>
          </a:p>
        </p:txBody>
      </p:sp>
      <p:sp>
        <p:nvSpPr>
          <p:cNvPr id="21" name="Foliennummer">
            <a:extLst>
              <a:ext uri="{FF2B5EF4-FFF2-40B4-BE49-F238E27FC236}">
                <a16:creationId xmlns:a16="http://schemas.microsoft.com/office/drawing/2014/main" id="{46EEB795-636E-425C-862B-20AB5F142ED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8098164" y="5292000"/>
            <a:ext cx="504000" cy="108000"/>
          </a:xfrm>
        </p:spPr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20" name="Fußzeile">
            <a:extLst>
              <a:ext uri="{FF2B5EF4-FFF2-40B4-BE49-F238E27FC236}">
                <a16:creationId xmlns:a16="http://schemas.microsoft.com/office/drawing/2014/main" id="{30157123-0F0D-45A9-B807-851AE773D69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Offline Cache – Progressive Web App – RWE Power App Plattform</a:t>
            </a:r>
            <a:endParaRPr lang="en-GB"/>
          </a:p>
        </p:txBody>
      </p:sp>
      <p:sp>
        <p:nvSpPr>
          <p:cNvPr id="19" name="Datum">
            <a:extLst>
              <a:ext uri="{FF2B5EF4-FFF2-40B4-BE49-F238E27FC236}">
                <a16:creationId xmlns:a16="http://schemas.microsoft.com/office/drawing/2014/main" id="{EF973F2C-12BA-4722-8A21-9849832C0570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F7419B3-8436-41E2-B91C-FD5E79866E3B}" type="datetime1">
              <a:rPr lang="de-DE" smtClean="0"/>
              <a:t>08.12.2025</a:t>
            </a:fld>
            <a:endParaRPr lang="en-GB" dirty="0"/>
          </a:p>
        </p:txBody>
      </p:sp>
      <p:sp>
        <p:nvSpPr>
          <p:cNvPr id="24" name="RWE Logo">
            <a:extLst>
              <a:ext uri="{FF2B5EF4-FFF2-40B4-BE49-F238E27FC236}">
                <a16:creationId xmlns:a16="http://schemas.microsoft.com/office/drawing/2014/main" id="{C071E9F6-3EA7-4B58-AF97-1462594852BB}"/>
              </a:ext>
            </a:extLst>
          </p:cNvPr>
          <p:cNvSpPr>
            <a:spLocks noGrp="1" noChangeAspect="1"/>
          </p:cNvSpPr>
          <p:nvPr>
            <p:ph type="body" orient="vert" idx="13" hasCustomPrompt="1"/>
          </p:nvPr>
        </p:nvSpPr>
        <p:spPr bwMode="white">
          <a:xfrm>
            <a:off x="538164" y="4896000"/>
            <a:ext cx="216000" cy="62259"/>
          </a:xfrm>
          <a:blipFill>
            <a:blip r:embed="rId4"/>
            <a:stretch>
              <a:fillRect/>
            </a:stretch>
          </a:blipFill>
        </p:spPr>
        <p:txBody>
          <a:bodyPr vert="horz" wrap="none" tIns="504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650" b="0" i="1" u="none" strike="noStrike" spc="0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Do not remove or delete the logo</a:t>
            </a:r>
          </a:p>
        </p:txBody>
      </p:sp>
      <p:sp>
        <p:nvSpPr>
          <p:cNvPr id="22" name="Kapitel/Unterkapitel">
            <a:extLst>
              <a:ext uri="{FF2B5EF4-FFF2-40B4-BE49-F238E27FC236}">
                <a16:creationId xmlns:a16="http://schemas.microsoft.com/office/drawing/2014/main" id="{0CBE08B5-0565-490F-B634-EED3A9D6EDC7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 bwMode="white">
          <a:xfrm>
            <a:off x="538163" y="2160589"/>
            <a:ext cx="8062913" cy="2519361"/>
          </a:xfrm>
        </p:spPr>
        <p:txBody>
          <a:bodyPr vert="horz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spc="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  <a:defRPr sz="1800" b="1" spc="0" baseline="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000"/>
              </a:spcBef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1200" b="0" i="0" u="none" strike="noStrike" spc="0" baseline="0" smtClean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Chapter on first level // for subchapter &gt;&gt; Menu &gt; Home &gt; Paragraph &gt; Increase List Level 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75511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pos="5420">
          <p15:clr>
            <a:srgbClr val="FBAE40"/>
          </p15:clr>
        </p15:guide>
        <p15:guide id="3" orient="horz" pos="1361">
          <p15:clr>
            <a:srgbClr val="FBAE40"/>
          </p15:clr>
        </p15:guide>
        <p15:guide id="4" orient="horz" pos="1814">
          <p15:clr>
            <a:srgbClr val="FBAE40"/>
          </p15:clr>
        </p15:guide>
        <p15:guide id="5" pos="4263">
          <p15:clr>
            <a:srgbClr val="FBAE40"/>
          </p15:clr>
        </p15:guide>
        <p15:guide id="6" orient="horz" pos="29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eparator with l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">
            <a:extLst>
              <a:ext uri="{FF2B5EF4-FFF2-40B4-BE49-F238E27FC236}">
                <a16:creationId xmlns:a16="http://schemas.microsoft.com/office/drawing/2014/main" id="{08623659-E218-43DB-AF9E-9D701435C68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ltGray">
          <a:xfrm>
            <a:off x="1" y="0"/>
            <a:ext cx="9144000" cy="5148263"/>
          </a:xfrm>
          <a:blipFill>
            <a:blip r:embed="rId2"/>
            <a:stretch>
              <a:fillRect/>
            </a:stretch>
          </a:blipFill>
        </p:spPr>
        <p:txBody>
          <a:bodyPr anchor="t" anchorCtr="0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Insert light picture via menu:</a:t>
            </a:r>
            <a:br>
              <a:rPr lang="en-GB"/>
            </a:br>
            <a:r>
              <a:rPr lang="en-GB"/>
              <a:t>Insert &gt; Pictures</a:t>
            </a:r>
          </a:p>
        </p:txBody>
      </p:sp>
      <p:sp>
        <p:nvSpPr>
          <p:cNvPr id="23" name="Energiefeld">
            <a:extLst>
              <a:ext uri="{FF2B5EF4-FFF2-40B4-BE49-F238E27FC236}">
                <a16:creationId xmlns:a16="http://schemas.microsoft.com/office/drawing/2014/main" id="{BDB501D0-1BBB-4419-88B7-E72B91FBE1BB}"/>
              </a:ext>
            </a:extLst>
          </p:cNvPr>
          <p:cNvSpPr>
            <a:spLocks noGrp="1" noChangeAspect="1"/>
          </p:cNvSpPr>
          <p:nvPr>
            <p:ph type="body" orient="vert" idx="26" hasCustomPrompt="1"/>
          </p:nvPr>
        </p:nvSpPr>
        <p:spPr bwMode="gray">
          <a:xfrm>
            <a:off x="5590800" y="1980263"/>
            <a:ext cx="3553200" cy="3168000"/>
          </a:xfrm>
          <a:blipFill>
            <a:blip r:embed="rId3"/>
            <a:stretch>
              <a:fillRect/>
            </a:stretch>
          </a:blipFill>
        </p:spPr>
        <p:txBody>
          <a:bodyPr vert="horz" wrap="none" tIns="324000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650" b="0" i="1" u="none" strike="noStrike" spc="0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Scale or delete the energy field if necessary (see also library for alternative versions of energy fields)</a:t>
            </a:r>
          </a:p>
        </p:txBody>
      </p:sp>
      <p:sp>
        <p:nvSpPr>
          <p:cNvPr id="21" name="Foliennummer">
            <a:extLst>
              <a:ext uri="{FF2B5EF4-FFF2-40B4-BE49-F238E27FC236}">
                <a16:creationId xmlns:a16="http://schemas.microsoft.com/office/drawing/2014/main" id="{46EEB795-636E-425C-862B-20AB5F142ED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8098164" y="5292000"/>
            <a:ext cx="504000" cy="108000"/>
          </a:xfrm>
        </p:spPr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20" name="Fußzeile">
            <a:extLst>
              <a:ext uri="{FF2B5EF4-FFF2-40B4-BE49-F238E27FC236}">
                <a16:creationId xmlns:a16="http://schemas.microsoft.com/office/drawing/2014/main" id="{30157123-0F0D-45A9-B807-851AE773D69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Offline Cache – Progressive Web App – RWE Power App Plattform</a:t>
            </a:r>
            <a:endParaRPr lang="en-GB"/>
          </a:p>
        </p:txBody>
      </p:sp>
      <p:sp>
        <p:nvSpPr>
          <p:cNvPr id="19" name="Datum">
            <a:extLst>
              <a:ext uri="{FF2B5EF4-FFF2-40B4-BE49-F238E27FC236}">
                <a16:creationId xmlns:a16="http://schemas.microsoft.com/office/drawing/2014/main" id="{EF973F2C-12BA-4722-8A21-9849832C057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42D8973D-CFCF-498C-8485-D21E52AF92B2}" type="datetime1">
              <a:rPr lang="de-DE" smtClean="0"/>
              <a:t>08.12.2025</a:t>
            </a:fld>
            <a:endParaRPr lang="en-GB"/>
          </a:p>
        </p:txBody>
      </p:sp>
      <p:sp>
        <p:nvSpPr>
          <p:cNvPr id="24" name="RWE Logo">
            <a:extLst>
              <a:ext uri="{FF2B5EF4-FFF2-40B4-BE49-F238E27FC236}">
                <a16:creationId xmlns:a16="http://schemas.microsoft.com/office/drawing/2014/main" id="{C071E9F6-3EA7-4B58-AF97-1462594852BB}"/>
              </a:ext>
            </a:extLst>
          </p:cNvPr>
          <p:cNvSpPr>
            <a:spLocks noGrp="1" noChangeAspect="1"/>
          </p:cNvSpPr>
          <p:nvPr>
            <p:ph type="body" orient="vert" idx="13" hasCustomPrompt="1"/>
          </p:nvPr>
        </p:nvSpPr>
        <p:spPr bwMode="black">
          <a:xfrm>
            <a:off x="538164" y="4896000"/>
            <a:ext cx="216000" cy="62259"/>
          </a:xfrm>
          <a:blipFill>
            <a:blip r:embed="rId4"/>
            <a:stretch>
              <a:fillRect/>
            </a:stretch>
          </a:blipFill>
        </p:spPr>
        <p:txBody>
          <a:bodyPr vert="horz" wrap="none" tIns="504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650" b="0" i="1" u="none" strike="noStrike" spc="0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Do not remove or delete the logo</a:t>
            </a:r>
          </a:p>
        </p:txBody>
      </p:sp>
      <p:sp>
        <p:nvSpPr>
          <p:cNvPr id="10" name="Kapitel/Unterkapitel">
            <a:extLst>
              <a:ext uri="{FF2B5EF4-FFF2-40B4-BE49-F238E27FC236}">
                <a16:creationId xmlns:a16="http://schemas.microsoft.com/office/drawing/2014/main" id="{A4E12743-F890-477B-A54E-3170FB47EE19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538163" y="2170114"/>
            <a:ext cx="8062913" cy="2519361"/>
          </a:xfrm>
        </p:spPr>
        <p:txBody>
          <a:bodyPr vert="horz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spc="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  <a:defRPr sz="1800" b="1" spc="0" baseline="0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000"/>
              </a:spcBef>
              <a:buNone/>
              <a:defRPr sz="1200" b="0" spc="0" baseline="0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spc="0" baseline="0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1200" b="0" i="0" u="none" strike="noStrike" spc="0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Chapter on first level // for subchapter &gt;&gt; Menu &gt; Home &gt; Paragraph &gt; Increase List Level 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37513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pos="5420">
          <p15:clr>
            <a:srgbClr val="FBAE40"/>
          </p15:clr>
        </p15:guide>
        <p15:guide id="3" orient="horz" pos="1361">
          <p15:clr>
            <a:srgbClr val="FBAE40"/>
          </p15:clr>
        </p15:guide>
        <p15:guide id="4" orient="horz" pos="1814">
          <p15:clr>
            <a:srgbClr val="FBAE40"/>
          </p15:clr>
        </p15:guide>
        <p15:guide id="5" pos="4263">
          <p15:clr>
            <a:srgbClr val="FBAE40"/>
          </p15:clr>
        </p15:guide>
        <p15:guide id="6" orient="horz" pos="29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ergyLightGreen accent chart">
    <p:bg>
      <p:bgPr>
        <a:solidFill>
          <a:srgbClr val="3ED8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RWE Logo">
            <a:extLst>
              <a:ext uri="{FF2B5EF4-FFF2-40B4-BE49-F238E27FC236}">
                <a16:creationId xmlns:a16="http://schemas.microsoft.com/office/drawing/2014/main" id="{62AA7462-CD7C-4C34-AC2D-372137185F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538164" y="4896000"/>
            <a:ext cx="215999" cy="62177"/>
          </a:xfrm>
          <a:prstGeom prst="rect">
            <a:avLst/>
          </a:prstGeom>
        </p:spPr>
      </p:pic>
      <p:sp>
        <p:nvSpPr>
          <p:cNvPr id="17" name="Foliennummer">
            <a:extLst>
              <a:ext uri="{FF2B5EF4-FFF2-40B4-BE49-F238E27FC236}">
                <a16:creationId xmlns:a16="http://schemas.microsoft.com/office/drawing/2014/main" id="{967C0F25-672E-4850-8CDC-8DFCAAA8059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16" name="Fußzeile">
            <a:extLst>
              <a:ext uri="{FF2B5EF4-FFF2-40B4-BE49-F238E27FC236}">
                <a16:creationId xmlns:a16="http://schemas.microsoft.com/office/drawing/2014/main" id="{EF884478-3975-4AF8-9514-99723889F2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Offline Cache – Progressive Web App – RWE Power App Plattform</a:t>
            </a:r>
            <a:endParaRPr lang="en-GB" dirty="0"/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AE73B643-BD9D-4145-808C-DA82B873D52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5B268B-8B9E-4913-9C0B-E2EB0DAC5AF3}" type="datetime1">
              <a:rPr lang="de-DE" smtClean="0"/>
              <a:t>08.12.2025</a:t>
            </a:fld>
            <a:endParaRPr lang="en-GB" dirty="0"/>
          </a:p>
        </p:txBody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08E5B631-41E0-408A-912F-3725E0C154B0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538163" y="2178129"/>
            <a:ext cx="8064001" cy="2592309"/>
          </a:xfrm>
        </p:spPr>
        <p:txBody>
          <a:bodyPr vert="horz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 spc="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b="1" spc="0" baseline="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600" b="1" spc="0" baseline="0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600" b="1" spc="0" baseline="0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600" b="1" spc="0" baseline="0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600" b="1" spc="0" baseline="0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600" b="1" spc="0" baseline="0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spc="0" baseline="0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1600" b="1" i="0" u="none" strike="noStrike" spc="0" baseline="0" smtClean="0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Content to be highlighted/quote on first level // for additional info/source of quote </a:t>
            </a:r>
            <a:br>
              <a:rPr lang="en-GB" noProof="0"/>
            </a:br>
            <a:r>
              <a:rPr lang="en-GB" noProof="0"/>
              <a:t>&gt;&gt; Menu &gt; Home &gt; Paragraph &gt; Increase List Level  </a:t>
            </a:r>
          </a:p>
          <a:p>
            <a:pPr lvl="1"/>
            <a:r>
              <a:rPr lang="en-GB" noProof="0"/>
              <a:t>Second level</a:t>
            </a:r>
          </a:p>
        </p:txBody>
      </p:sp>
      <p:grpSp>
        <p:nvGrpSpPr>
          <p:cNvPr id="21" name="Regieanweisungen">
            <a:extLst>
              <a:ext uri="{FF2B5EF4-FFF2-40B4-BE49-F238E27FC236}">
                <a16:creationId xmlns:a16="http://schemas.microsoft.com/office/drawing/2014/main" id="{4473CA49-504E-4C12-A3A8-F7D4E5F6E7CB}"/>
              </a:ext>
            </a:extLst>
          </p:cNvPr>
          <p:cNvGrpSpPr/>
          <p:nvPr userDrawn="1"/>
        </p:nvGrpSpPr>
        <p:grpSpPr>
          <a:xfrm>
            <a:off x="-1404000" y="-396000"/>
            <a:ext cx="11520000" cy="6012000"/>
            <a:chOff x="-1404000" y="-396000"/>
            <a:chExt cx="11520000" cy="6012000"/>
          </a:xfrm>
        </p:grpSpPr>
        <p:sp>
          <p:nvSpPr>
            <p:cNvPr id="22" name="Hilfslinien">
              <a:extLst>
                <a:ext uri="{FF2B5EF4-FFF2-40B4-BE49-F238E27FC236}">
                  <a16:creationId xmlns:a16="http://schemas.microsoft.com/office/drawing/2014/main" id="{7F691FE7-0FC1-4393-823D-95EB2EE47498}"/>
                </a:ext>
              </a:extLst>
            </p:cNvPr>
            <p:cNvSpPr txBox="1"/>
            <p:nvPr userDrawn="1"/>
          </p:nvSpPr>
          <p:spPr>
            <a:xfrm rot="10800000" flipH="1" flipV="1">
              <a:off x="538164" y="-396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To display guides, tick </a:t>
              </a:r>
              <a:r>
                <a:rPr kumimoji="0" lang="en-GB" sz="8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Guides</a:t>
              </a:r>
              <a:r>
                <a:rPr kumimoji="0" lang="en-GB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in </a:t>
              </a:r>
              <a:r>
                <a:rPr kumimoji="0" lang="en-GB" sz="8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View</a:t>
              </a:r>
            </a:p>
          </p:txBody>
        </p:sp>
        <p:sp>
          <p:nvSpPr>
            <p:cNvPr id="23" name="Zurücksetzen">
              <a:extLst>
                <a:ext uri="{FF2B5EF4-FFF2-40B4-BE49-F238E27FC236}">
                  <a16:creationId xmlns:a16="http://schemas.microsoft.com/office/drawing/2014/main" id="{62DE9E13-F5F1-49AA-81CA-13CAB9743C43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0"/>
              <a:ext cx="864000" cy="64627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800" b="0" baseline="0">
                  <a:solidFill>
                    <a:schemeClr val="accent2"/>
                  </a:solidFill>
                  <a:latin typeface="+mn-lt"/>
                </a:rPr>
                <a:t>To reset the slide to its original form, select </a:t>
              </a:r>
              <a:r>
                <a:rPr lang="en-GB" sz="800" b="1" baseline="0">
                  <a:solidFill>
                    <a:schemeClr val="accent2"/>
                  </a:solidFill>
                  <a:latin typeface="+mn-lt"/>
                </a:rPr>
                <a:t>Home &gt; Slides &gt; Reset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E851226C-E217-40C6-9254-99CF320A4DCB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692828"/>
              <a:ext cx="864000" cy="61027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800" b="0" baseline="0">
                  <a:solidFill>
                    <a:schemeClr val="accent2"/>
                  </a:solidFill>
                  <a:latin typeface="+mn-lt"/>
                </a:rPr>
                <a:t>To change the layout, select </a:t>
              </a:r>
              <a:r>
                <a:rPr lang="en-GB" sz="800" b="1" baseline="0">
                  <a:solidFill>
                    <a:schemeClr val="accent2"/>
                  </a:solidFill>
                  <a:latin typeface="+mn-lt"/>
                </a:rPr>
                <a:t>Home &gt; Slides &gt; Layout</a:t>
              </a:r>
            </a:p>
          </p:txBody>
        </p:sp>
        <p:sp>
          <p:nvSpPr>
            <p:cNvPr id="40" name="Fußzeile">
              <a:extLst>
                <a:ext uri="{FF2B5EF4-FFF2-40B4-BE49-F238E27FC236}">
                  <a16:creationId xmlns:a16="http://schemas.microsoft.com/office/drawing/2014/main" id="{AB853FBF-5320-4136-8D40-F72C946D55BF}"/>
                </a:ext>
              </a:extLst>
            </p:cNvPr>
            <p:cNvSpPr txBox="1"/>
            <p:nvPr userDrawn="1"/>
          </p:nvSpPr>
          <p:spPr>
            <a:xfrm rot="10800000" flipH="1" flipV="1">
              <a:off x="538163" y="5436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800" b="0" baseline="0">
                  <a:solidFill>
                    <a:schemeClr val="accent2"/>
                  </a:solidFill>
                  <a:latin typeface="+mn-lt"/>
                </a:rPr>
                <a:t>Adjust footer/date via menu: </a:t>
              </a:r>
              <a:r>
                <a:rPr lang="en-GB" sz="800" b="1" baseline="0">
                  <a:solidFill>
                    <a:schemeClr val="accent2"/>
                  </a:solidFill>
                  <a:latin typeface="+mn-lt"/>
                </a:rPr>
                <a:t>Insert &gt; Header &amp; Footer</a:t>
              </a:r>
            </a:p>
          </p:txBody>
        </p:sp>
        <p:grpSp>
          <p:nvGrpSpPr>
            <p:cNvPr id="41" name="Listenebenen">
              <a:extLst>
                <a:ext uri="{FF2B5EF4-FFF2-40B4-BE49-F238E27FC236}">
                  <a16:creationId xmlns:a16="http://schemas.microsoft.com/office/drawing/2014/main" id="{92520245-D545-49B2-B566-52227EDFE8FC}"/>
                </a:ext>
              </a:extLst>
            </p:cNvPr>
            <p:cNvGrpSpPr/>
            <p:nvPr userDrawn="1"/>
          </p:nvGrpSpPr>
          <p:grpSpPr>
            <a:xfrm>
              <a:off x="-1404000" y="479268"/>
              <a:ext cx="1300321" cy="2107912"/>
              <a:chOff x="-1404000" y="479268"/>
              <a:chExt cx="1300321" cy="2107912"/>
            </a:xfrm>
          </p:grpSpPr>
          <p:sp>
            <p:nvSpPr>
              <p:cNvPr id="42" name="Text // Listenebene erhöhen">
                <a:extLst>
                  <a:ext uri="{FF2B5EF4-FFF2-40B4-BE49-F238E27FC236}">
                    <a16:creationId xmlns:a16="http://schemas.microsoft.com/office/drawing/2014/main" id="{CE37E504-CE16-4729-8D2A-6F368FE529A5}"/>
                  </a:ext>
                </a:extLst>
              </p:cNvPr>
              <p:cNvSpPr txBox="1"/>
              <p:nvPr userDrawn="1"/>
            </p:nvSpPr>
            <p:spPr>
              <a:xfrm>
                <a:off x="-1404000" y="1186275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0" i="0" baseline="0">
                    <a:solidFill>
                      <a:schemeClr val="accent2"/>
                    </a:solidFill>
                    <a:latin typeface="+mn-lt"/>
                  </a:rPr>
                  <a:t>Increase </a:t>
                </a:r>
                <a:br>
                  <a:rPr lang="en-GB" sz="800" b="0" i="0" baseline="0">
                    <a:solidFill>
                      <a:schemeClr val="accent2"/>
                    </a:solidFill>
                    <a:latin typeface="+mn-lt"/>
                  </a:rPr>
                </a:br>
                <a:r>
                  <a:rPr lang="en-GB" sz="800" b="0" i="0" baseline="0">
                    <a:solidFill>
                      <a:schemeClr val="accent2"/>
                    </a:solidFill>
                    <a:latin typeface="+mn-lt"/>
                  </a:rPr>
                  <a:t>List Level</a:t>
                </a:r>
              </a:p>
            </p:txBody>
          </p:sp>
          <p:sp>
            <p:nvSpPr>
              <p:cNvPr id="43" name="Text // Listenebene verringern">
                <a:extLst>
                  <a:ext uri="{FF2B5EF4-FFF2-40B4-BE49-F238E27FC236}">
                    <a16:creationId xmlns:a16="http://schemas.microsoft.com/office/drawing/2014/main" id="{D935954A-29FF-44E5-BD4B-CC8699C2B618}"/>
                  </a:ext>
                </a:extLst>
              </p:cNvPr>
              <p:cNvSpPr txBox="1"/>
              <p:nvPr userDrawn="1"/>
            </p:nvSpPr>
            <p:spPr>
              <a:xfrm>
                <a:off x="-1404000" y="15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0" i="0" baseline="0">
                    <a:solidFill>
                      <a:schemeClr val="accent2"/>
                    </a:solidFill>
                    <a:latin typeface="+mn-lt"/>
                  </a:rPr>
                  <a:t>Decrease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0" i="0" baseline="0">
                    <a:solidFill>
                      <a:schemeClr val="accent2"/>
                    </a:solidFill>
                    <a:latin typeface="+mn-lt"/>
                  </a:rPr>
                  <a:t>List Level</a:t>
                </a:r>
              </a:p>
            </p:txBody>
          </p:sp>
          <p:sp>
            <p:nvSpPr>
              <p:cNvPr id="44" name="Listenebenen">
                <a:extLst>
                  <a:ext uri="{FF2B5EF4-FFF2-40B4-BE49-F238E27FC236}">
                    <a16:creationId xmlns:a16="http://schemas.microsoft.com/office/drawing/2014/main" id="{54E8A817-764B-4DC9-A443-E407479CD6F4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479268"/>
                <a:ext cx="1080000" cy="64627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0" baseline="0">
                    <a:solidFill>
                      <a:schemeClr val="accent2"/>
                    </a:solidFill>
                    <a:latin typeface="+mn-lt"/>
                  </a:rPr>
                  <a:t>To change the</a:t>
                </a:r>
                <a:br>
                  <a:rPr lang="en-GB" sz="800" b="0" baseline="0">
                    <a:solidFill>
                      <a:schemeClr val="accent2"/>
                    </a:solidFill>
                    <a:latin typeface="+mn-lt"/>
                  </a:rPr>
                </a:br>
                <a:r>
                  <a:rPr lang="en-GB" sz="800" b="0" baseline="0">
                    <a:solidFill>
                      <a:schemeClr val="accent2"/>
                    </a:solidFill>
                    <a:latin typeface="+mn-lt"/>
                  </a:rPr>
                  <a:t>text level, select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1" baseline="0">
                    <a:solidFill>
                      <a:schemeClr val="accent2"/>
                    </a:solidFill>
                    <a:latin typeface="+mn-lt"/>
                  </a:rPr>
                  <a:t>Home &gt; Paragraph </a:t>
                </a:r>
                <a:br>
                  <a:rPr lang="en-GB" sz="800" b="1" baseline="0">
                    <a:solidFill>
                      <a:schemeClr val="accent2"/>
                    </a:solidFill>
                    <a:latin typeface="+mn-lt"/>
                  </a:rPr>
                </a:br>
                <a:r>
                  <a:rPr lang="en-GB" sz="800" b="1" baseline="0">
                    <a:solidFill>
                      <a:schemeClr val="accent2"/>
                    </a:solidFill>
                    <a:latin typeface="+mn-lt"/>
                  </a:rPr>
                  <a:t>&gt; Increase/Decrease List Level</a:t>
                </a:r>
              </a:p>
            </p:txBody>
          </p:sp>
          <p:pic>
            <p:nvPicPr>
              <p:cNvPr id="45" name="Bild // Listenebene erhöhen">
                <a:extLst>
                  <a:ext uri="{FF2B5EF4-FFF2-40B4-BE49-F238E27FC236}">
                    <a16:creationId xmlns:a16="http://schemas.microsoft.com/office/drawing/2014/main" id="{420BACCF-923C-49D7-91CC-3FBF1851F57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-648001" y="1186275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46" name="Bild // Listenebene verringern">
                <a:extLst>
                  <a:ext uri="{FF2B5EF4-FFF2-40B4-BE49-F238E27FC236}">
                    <a16:creationId xmlns:a16="http://schemas.microsoft.com/office/drawing/2014/main" id="{F20017A7-E5AB-4DB4-ACB3-ABD0EE1F3CD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47999" y="151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47" name="Bild // Aufzählungszeichen etc.">
                <a:extLst>
                  <a:ext uri="{FF2B5EF4-FFF2-40B4-BE49-F238E27FC236}">
                    <a16:creationId xmlns:a16="http://schemas.microsoft.com/office/drawing/2014/main" id="{58C8AA99-885B-478A-8AC0-5694124C0CC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867672" y="2341725"/>
                <a:ext cx="756000" cy="245455"/>
              </a:xfrm>
              <a:prstGeom prst="rect">
                <a:avLst/>
              </a:prstGeom>
            </p:spPr>
          </p:pic>
          <p:sp>
            <p:nvSpPr>
              <p:cNvPr id="48" name="Aufzählungszeichen etc.">
                <a:extLst>
                  <a:ext uri="{FF2B5EF4-FFF2-40B4-BE49-F238E27FC236}">
                    <a16:creationId xmlns:a16="http://schemas.microsoft.com/office/drawing/2014/main" id="{8DAE17FE-BBF3-41F5-A9AC-8F5F79FBB8B3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404000" y="1944000"/>
                <a:ext cx="1296000" cy="39772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0" baseline="0">
                    <a:solidFill>
                      <a:schemeClr val="accent2"/>
                    </a:solidFill>
                    <a:latin typeface="+mn-lt"/>
                  </a:rPr>
                  <a:t>Do not use the standard bullets and numbering function &gt; </a:t>
                </a:r>
                <a:r>
                  <a:rPr lang="en-GB" sz="800" b="1" baseline="0">
                    <a:solidFill>
                      <a:schemeClr val="accent2"/>
                    </a:solidFill>
                    <a:latin typeface="+mn-lt"/>
                  </a:rPr>
                  <a:t>List levels only</a:t>
                </a:r>
              </a:p>
            </p:txBody>
          </p:sp>
          <p:cxnSp>
            <p:nvCxnSpPr>
              <p:cNvPr id="49" name="Linie">
                <a:extLst>
                  <a:ext uri="{FF2B5EF4-FFF2-40B4-BE49-F238E27FC236}">
                    <a16:creationId xmlns:a16="http://schemas.microsoft.com/office/drawing/2014/main" id="{A4819EF7-E762-4F19-B4FC-5EDEAB80607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-867672" y="2341725"/>
                <a:ext cx="752324" cy="245455"/>
              </a:xfrm>
              <a:prstGeom prst="line">
                <a:avLst/>
              </a:prstGeom>
              <a:ln w="6350">
                <a:solidFill>
                  <a:srgbClr val="E5233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71040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3" pos="5420">
          <p15:clr>
            <a:srgbClr val="FBAE40"/>
          </p15:clr>
        </p15:guide>
        <p15:guide id="4" orient="horz" pos="1372" userDrawn="1">
          <p15:clr>
            <a:srgbClr val="FBAE40"/>
          </p15:clr>
        </p15:guide>
        <p15:guide id="6" orient="horz" pos="2948">
          <p15:clr>
            <a:srgbClr val="FBAE40"/>
          </p15:clr>
        </p15:guide>
        <p15:guide id="7" orient="horz" pos="300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accen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liennummer">
            <a:extLst>
              <a:ext uri="{FF2B5EF4-FFF2-40B4-BE49-F238E27FC236}">
                <a16:creationId xmlns:a16="http://schemas.microsoft.com/office/drawing/2014/main" id="{BF3B9AE4-4862-4172-B11A-D3EB240969D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16" name="Fußzeile">
            <a:extLst>
              <a:ext uri="{FF2B5EF4-FFF2-40B4-BE49-F238E27FC236}">
                <a16:creationId xmlns:a16="http://schemas.microsoft.com/office/drawing/2014/main" id="{CC797F17-2762-4AA8-8EA0-6E87F7EB94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Offline Cache – Progressive Web App – RWE Power App Plattform</a:t>
            </a:r>
            <a:endParaRPr lang="en-GB"/>
          </a:p>
        </p:txBody>
      </p:sp>
      <p:sp>
        <p:nvSpPr>
          <p:cNvPr id="14" name="Datum">
            <a:extLst>
              <a:ext uri="{FF2B5EF4-FFF2-40B4-BE49-F238E27FC236}">
                <a16:creationId xmlns:a16="http://schemas.microsoft.com/office/drawing/2014/main" id="{6612F51D-EEFE-4F8C-A97A-3A25FAAA1F4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89B5A97-DF90-4D80-911F-A43597C7FB67}" type="datetime1">
              <a:rPr lang="de-DE" smtClean="0"/>
              <a:t>08.12.2025</a:t>
            </a:fld>
            <a:endParaRPr lang="en-GB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41F740D2-684A-4B0A-B257-0982ACEB4100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538163" y="2178129"/>
            <a:ext cx="8062913" cy="2592309"/>
          </a:xfrm>
        </p:spPr>
        <p:txBody>
          <a:bodyPr vert="horz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 spc="0" baseline="0">
                <a:solidFill>
                  <a:schemeClr val="accent5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b="1" spc="0" baseline="0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600" b="1" spc="0" baseline="0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600" b="1" spc="0" baseline="0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600" b="1" spc="0" baseline="0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600" b="1" spc="0" baseline="0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600" b="1" spc="0" baseline="0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spc="0" baseline="0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1600" b="1" i="0" u="none" strike="noStrike" spc="0" baseline="0" smtClean="0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Content to be highlighted/quote on first level // for additional info/source of quote </a:t>
            </a:r>
            <a:br>
              <a:rPr lang="en-GB" noProof="0"/>
            </a:br>
            <a:r>
              <a:rPr lang="en-GB" noProof="0"/>
              <a:t>&gt;&gt; Menu &gt; Home &gt; Paragraph &gt; Increase List Level  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11117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3" pos="5420">
          <p15:clr>
            <a:srgbClr val="FBAE40"/>
          </p15:clr>
        </p15:guide>
        <p15:guide id="4" orient="horz" pos="1372">
          <p15:clr>
            <a:srgbClr val="FBAE40"/>
          </p15:clr>
        </p15:guide>
        <p15:guide id="6" orient="horz" pos="2948">
          <p15:clr>
            <a:srgbClr val="FBAE40"/>
          </p15:clr>
        </p15:guide>
        <p15:guide id="7" orient="horz" pos="300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liennummer">
            <a:extLst>
              <a:ext uri="{FF2B5EF4-FFF2-40B4-BE49-F238E27FC236}">
                <a16:creationId xmlns:a16="http://schemas.microsoft.com/office/drawing/2014/main" id="{D5A46A94-CC1A-49B8-9C7C-653BD3526CD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24" name="Fußzeile">
            <a:extLst>
              <a:ext uri="{FF2B5EF4-FFF2-40B4-BE49-F238E27FC236}">
                <a16:creationId xmlns:a16="http://schemas.microsoft.com/office/drawing/2014/main" id="{8E708240-BE00-4F4A-8A02-A73AA293EA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Offline Cache – Progressive Web App – RWE Power App Plattform</a:t>
            </a:r>
            <a:endParaRPr lang="en-GB" dirty="0"/>
          </a:p>
        </p:txBody>
      </p:sp>
      <p:sp>
        <p:nvSpPr>
          <p:cNvPr id="23" name="Datum">
            <a:extLst>
              <a:ext uri="{FF2B5EF4-FFF2-40B4-BE49-F238E27FC236}">
                <a16:creationId xmlns:a16="http://schemas.microsoft.com/office/drawing/2014/main" id="{7B17CA51-894E-4E38-8CDB-51E0D1E1433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1F0AD47-1D8B-4164-8F7E-C2DA5F0DFB8B}" type="datetime1">
              <a:rPr lang="de-DE" smtClean="0"/>
              <a:t>08.12.2025</a:t>
            </a:fld>
            <a:endParaRPr lang="en-GB" dirty="0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E71F50D2-931D-4441-96DC-B22A851743DC}"/>
              </a:ext>
            </a:extLst>
          </p:cNvPr>
          <p:cNvSpPr>
            <a:spLocks noGrp="1"/>
          </p:cNvSpPr>
          <p:nvPr>
            <p:ph type="body" orient="vert" idx="14" hasCustomPrompt="1"/>
          </p:nvPr>
        </p:nvSpPr>
        <p:spPr>
          <a:xfrm>
            <a:off x="538162" y="1438275"/>
            <a:ext cx="8064000" cy="3240000"/>
          </a:xfrm>
        </p:spPr>
        <p:txBody>
          <a:bodyPr vert="horz"/>
          <a:lstStyle>
            <a:lvl1pPr>
              <a:spcBef>
                <a:spcPts val="1200"/>
              </a:spcBef>
              <a:tabLst>
                <a:tab pos="8064000" algn="r"/>
              </a:tabLst>
              <a:defRPr b="1" baseline="0">
                <a:solidFill>
                  <a:schemeClr val="accent5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tabLst>
                <a:tab pos="8064000" algn="r"/>
              </a:tabLst>
              <a:defRPr b="0" baseline="0">
                <a:solidFill>
                  <a:schemeClr val="accent2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tabLst>
                <a:tab pos="8064000" algn="r"/>
              </a:tabLst>
              <a:defRPr b="0" baseline="0">
                <a:solidFill>
                  <a:schemeClr val="accent2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tabLst>
                <a:tab pos="8064000" algn="r"/>
              </a:tabLst>
              <a:defRPr b="0" baseline="0">
                <a:solidFill>
                  <a:schemeClr val="accent2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tabLst>
                <a:tab pos="8064000" algn="r"/>
              </a:tabLst>
              <a:defRPr b="0" baseline="0">
                <a:solidFill>
                  <a:schemeClr val="accent2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tabLst>
                <a:tab pos="8064000" algn="r"/>
              </a:tabLst>
              <a:defRPr b="0" baseline="0">
                <a:solidFill>
                  <a:schemeClr val="accent2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tabLst>
                <a:tab pos="8064000" algn="r"/>
              </a:tabLst>
              <a:defRPr b="0" baseline="0">
                <a:solidFill>
                  <a:schemeClr val="accent2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tabLst>
                <a:tab pos="8064000" algn="r"/>
              </a:tabLst>
              <a:defRPr b="0" baseline="0">
                <a:solidFill>
                  <a:schemeClr val="accent2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tabLst>
                <a:tab pos="8064000" algn="r"/>
              </a:tabLst>
              <a:defRPr b="0" baseline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Topic on first level // for topic sub-item </a:t>
            </a:r>
            <a:br>
              <a:rPr lang="en-GB" noProof="0"/>
            </a:br>
            <a:r>
              <a:rPr lang="en-GB" noProof="0"/>
              <a:t>&gt;&gt; Menu &gt; Home &gt; Paragraph &gt; Increase List Level</a:t>
            </a:r>
            <a:br>
              <a:rPr lang="en-GB" noProof="0"/>
            </a:br>
            <a:r>
              <a:rPr lang="en-GB" noProof="0"/>
              <a:t>Use tab (22.4) to place page numbers at the end.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Sixth level</a:t>
            </a:r>
          </a:p>
          <a:p>
            <a:pPr lvl="6"/>
            <a:r>
              <a:rPr lang="en-GB" noProof="0"/>
              <a:t>Seventh level</a:t>
            </a:r>
          </a:p>
          <a:p>
            <a:pPr lvl="7"/>
            <a:r>
              <a:rPr lang="en-GB" noProof="0"/>
              <a:t>Eighth level</a:t>
            </a:r>
          </a:p>
          <a:p>
            <a:pPr lvl="8"/>
            <a:r>
              <a:rPr lang="en-GB" noProof="0"/>
              <a:t>Ninth level</a:t>
            </a:r>
          </a:p>
        </p:txBody>
      </p:sp>
      <p:sp>
        <p:nvSpPr>
          <p:cNvPr id="19" name="Headline/Subheadline">
            <a:extLst>
              <a:ext uri="{FF2B5EF4-FFF2-40B4-BE49-F238E27FC236}">
                <a16:creationId xmlns:a16="http://schemas.microsoft.com/office/drawing/2014/main" id="{A027BFB6-8A24-4754-94AD-2435A24CC225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538163" y="358776"/>
            <a:ext cx="8062913" cy="684000"/>
          </a:xfrm>
        </p:spPr>
        <p:txBody>
          <a:bodyPr vert="horz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100" b="1" i="0" u="none" strike="noStrike" spc="0" baseline="0" smtClean="0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Headline on first level // for sub-headline </a:t>
            </a:r>
            <a:br>
              <a:rPr lang="en-GB" noProof="0"/>
            </a:br>
            <a:r>
              <a:rPr lang="en-GB" noProof="0"/>
              <a:t>&gt;&gt; Menu &gt; Home &gt; Paragraph &gt; Increase List Level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26907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906">
          <p15:clr>
            <a:srgbClr val="FBAE40"/>
          </p15:clr>
        </p15:guide>
        <p15:guide id="3" pos="5420">
          <p15:clr>
            <a:srgbClr val="FBAE40"/>
          </p15:clr>
        </p15:guide>
        <p15:guide id="4" orient="horz" pos="227" userDrawn="1">
          <p15:clr>
            <a:srgbClr val="FBAE40"/>
          </p15:clr>
        </p15:guide>
        <p15:guide id="6" orient="horz" pos="294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liennummer">
            <a:extLst>
              <a:ext uri="{FF2B5EF4-FFF2-40B4-BE49-F238E27FC236}">
                <a16:creationId xmlns:a16="http://schemas.microsoft.com/office/drawing/2014/main" id="{A1A11B15-E0F1-4D35-BEEC-EFC7E30ED0E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14" name="Fußzeile">
            <a:extLst>
              <a:ext uri="{FF2B5EF4-FFF2-40B4-BE49-F238E27FC236}">
                <a16:creationId xmlns:a16="http://schemas.microsoft.com/office/drawing/2014/main" id="{0A5AD056-E09D-4A82-AB19-618E87B47D3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Offline Cache – Progressive Web App – RWE Power App Plattform</a:t>
            </a:r>
            <a:endParaRPr lang="en-GB" dirty="0"/>
          </a:p>
        </p:txBody>
      </p:sp>
      <p:sp>
        <p:nvSpPr>
          <p:cNvPr id="13" name="Datum">
            <a:extLst>
              <a:ext uri="{FF2B5EF4-FFF2-40B4-BE49-F238E27FC236}">
                <a16:creationId xmlns:a16="http://schemas.microsoft.com/office/drawing/2014/main" id="{7937C116-263C-44A1-87D8-7540143002F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417520-E41B-43C8-895A-2A55B2D526C9}" type="datetime1">
              <a:rPr lang="de-DE" smtClean="0"/>
              <a:t>08.12.2025</a:t>
            </a:fld>
            <a:endParaRPr lang="en-GB" dirty="0"/>
          </a:p>
        </p:txBody>
      </p:sp>
      <p:sp>
        <p:nvSpPr>
          <p:cNvPr id="19" name="Quelle">
            <a:extLst>
              <a:ext uri="{FF2B5EF4-FFF2-40B4-BE49-F238E27FC236}">
                <a16:creationId xmlns:a16="http://schemas.microsoft.com/office/drawing/2014/main" id="{1A96136A-5EC6-4C9F-97BB-7F0DFC1B9EFE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538163" y="4555050"/>
            <a:ext cx="8062913" cy="216000"/>
          </a:xfrm>
        </p:spPr>
        <p:txBody>
          <a:bodyPr vert="horz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650" b="0" i="0" u="none" strike="noStrike" spc="0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Source (bold): sample source | # (superscript) sample source | # (superscript) sample source // no further levels</a:t>
            </a:r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98C7491E-756C-46A1-B1E4-A02BE90EEC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162" y="1438274"/>
            <a:ext cx="8064000" cy="324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Text for first level // for further text formats (headline, bullets and numbering) &gt;&gt; Menu &gt; Home &gt; Paragraph &gt; Increase List Level 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  <a:p>
            <a:pPr lvl="6"/>
            <a:r>
              <a:rPr lang="en-GB" noProof="0" dirty="0"/>
              <a:t>Seventh level</a:t>
            </a:r>
          </a:p>
          <a:p>
            <a:pPr lvl="7"/>
            <a:r>
              <a:rPr lang="en-GB" noProof="0" dirty="0"/>
              <a:t>Eighth level</a:t>
            </a:r>
          </a:p>
          <a:p>
            <a:pPr lvl="8"/>
            <a:r>
              <a:rPr lang="en-GB" noProof="0" dirty="0"/>
              <a:t>Ninth level</a:t>
            </a:r>
          </a:p>
        </p:txBody>
      </p:sp>
      <p:sp>
        <p:nvSpPr>
          <p:cNvPr id="7" name="Headline/Subheadline">
            <a:extLst>
              <a:ext uri="{FF2B5EF4-FFF2-40B4-BE49-F238E27FC236}">
                <a16:creationId xmlns:a16="http://schemas.microsoft.com/office/drawing/2014/main" id="{ED731C04-CFBC-4232-9BBD-2CF92ECAD7A9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538163" y="358776"/>
            <a:ext cx="8062913" cy="684000"/>
          </a:xfrm>
        </p:spPr>
        <p:txBody>
          <a:bodyPr vert="horz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100" b="1" i="0" u="none" strike="noStrike" spc="0" baseline="0" smtClean="0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Headline on first level // for sub-headline </a:t>
            </a:r>
            <a:br>
              <a:rPr lang="en-GB" noProof="0"/>
            </a:br>
            <a:r>
              <a:rPr lang="en-GB" noProof="0"/>
              <a:t>&gt;&gt; Menu &gt; Home &gt; Paragraph &gt; Increase List Level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487777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 userDrawn="1">
          <p15:clr>
            <a:srgbClr val="FBAE40"/>
          </p15:clr>
        </p15:guide>
        <p15:guide id="2" orient="horz" pos="906" userDrawn="1">
          <p15:clr>
            <a:srgbClr val="FBAE40"/>
          </p15:clr>
        </p15:guide>
        <p15:guide id="3" pos="5420" userDrawn="1">
          <p15:clr>
            <a:srgbClr val="FBAE40"/>
          </p15:clr>
        </p15:guide>
        <p15:guide id="4" orient="horz" pos="226" userDrawn="1">
          <p15:clr>
            <a:srgbClr val="FBAE40"/>
          </p15:clr>
        </p15:guide>
        <p15:guide id="6" orient="horz" pos="294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heading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liennummer">
            <a:extLst>
              <a:ext uri="{FF2B5EF4-FFF2-40B4-BE49-F238E27FC236}">
                <a16:creationId xmlns:a16="http://schemas.microsoft.com/office/drawing/2014/main" id="{37E27EA3-12B6-45BA-B20A-4CA637791E7D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21" name="Fußzeile">
            <a:extLst>
              <a:ext uri="{FF2B5EF4-FFF2-40B4-BE49-F238E27FC236}">
                <a16:creationId xmlns:a16="http://schemas.microsoft.com/office/drawing/2014/main" id="{3B699A9C-4DF5-4D16-8023-019C9CA4B90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Offline Cache – Progressive Web App – RWE Power App Plattform</a:t>
            </a:r>
            <a:endParaRPr lang="en-GB"/>
          </a:p>
        </p:txBody>
      </p:sp>
      <p:sp>
        <p:nvSpPr>
          <p:cNvPr id="20" name="Datum">
            <a:extLst>
              <a:ext uri="{FF2B5EF4-FFF2-40B4-BE49-F238E27FC236}">
                <a16:creationId xmlns:a16="http://schemas.microsoft.com/office/drawing/2014/main" id="{BF8CECC2-DF5C-4EA5-B029-37E05F570F98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019FA506-D1CB-4428-965D-AAD0E6929A40}" type="datetime1">
              <a:rPr lang="de-DE" smtClean="0"/>
              <a:t>08.12.2025</a:t>
            </a:fld>
            <a:endParaRPr lang="en-GB" dirty="0"/>
          </a:p>
        </p:txBody>
      </p:sp>
      <p:sp>
        <p:nvSpPr>
          <p:cNvPr id="41" name="Quelle">
            <a:extLst>
              <a:ext uri="{FF2B5EF4-FFF2-40B4-BE49-F238E27FC236}">
                <a16:creationId xmlns:a16="http://schemas.microsoft.com/office/drawing/2014/main" id="{35AF177F-7226-4277-BA4E-87531651F1FC}"/>
              </a:ext>
            </a:extLst>
          </p:cNvPr>
          <p:cNvSpPr>
            <a:spLocks noGrp="1"/>
          </p:cNvSpPr>
          <p:nvPr>
            <p:ph type="body" orient="vert" idx="31" hasCustomPrompt="1"/>
          </p:nvPr>
        </p:nvSpPr>
        <p:spPr>
          <a:xfrm>
            <a:off x="538163" y="4555050"/>
            <a:ext cx="8062913" cy="216000"/>
          </a:xfrm>
        </p:spPr>
        <p:txBody>
          <a:bodyPr vert="horz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650" b="0" i="0" u="none" strike="noStrike" spc="0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Source (bold): sample source | # (superscript) sample source | # (superscript) sample source // no further levels</a:t>
            </a:r>
          </a:p>
        </p:txBody>
      </p:sp>
      <p:sp>
        <p:nvSpPr>
          <p:cNvPr id="31" name="Inhalt">
            <a:extLst>
              <a:ext uri="{FF2B5EF4-FFF2-40B4-BE49-F238E27FC236}">
                <a16:creationId xmlns:a16="http://schemas.microsoft.com/office/drawing/2014/main" id="{DC99EEA0-2450-4DE2-BF6B-D8B69BD48C6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681539" y="1962150"/>
            <a:ext cx="3924000" cy="27178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Text for first level // for further text formats (headline, bullets and numbering) &gt;&gt; Menu &gt; Home &gt; Paragraph &gt; Increase List Level 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cxnSp>
        <p:nvCxnSpPr>
          <p:cNvPr id="32" name="Überschrift Linie">
            <a:extLst>
              <a:ext uri="{FF2B5EF4-FFF2-40B4-BE49-F238E27FC236}">
                <a16:creationId xmlns:a16="http://schemas.microsoft.com/office/drawing/2014/main" id="{A209A980-C21C-4E44-B5DC-221B1EA5F438}"/>
              </a:ext>
            </a:extLst>
          </p:cNvPr>
          <p:cNvCxnSpPr>
            <a:cxnSpLocks/>
          </p:cNvCxnSpPr>
          <p:nvPr userDrawn="1"/>
        </p:nvCxnSpPr>
        <p:spPr>
          <a:xfrm>
            <a:off x="4679950" y="1800000"/>
            <a:ext cx="3924301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Überschrift">
            <a:extLst>
              <a:ext uri="{FF2B5EF4-FFF2-40B4-BE49-F238E27FC236}">
                <a16:creationId xmlns:a16="http://schemas.microsoft.com/office/drawing/2014/main" id="{31562D90-3A1C-4DDA-8967-C36382B1878F}"/>
              </a:ext>
            </a:extLst>
          </p:cNvPr>
          <p:cNvSpPr>
            <a:spLocks noGrp="1"/>
          </p:cNvSpPr>
          <p:nvPr>
            <p:ph type="body" orient="vert" idx="30" hasCustomPrompt="1"/>
          </p:nvPr>
        </p:nvSpPr>
        <p:spPr>
          <a:xfrm>
            <a:off x="4680000" y="1141413"/>
            <a:ext cx="3924301" cy="53983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spc="0" baseline="0">
                <a:solidFill>
                  <a:schemeClr val="accent5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spc="0" baseline="0">
                <a:solidFill>
                  <a:schemeClr val="accent5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600" b="1" spc="0" baseline="0">
                <a:solidFill>
                  <a:schemeClr val="accent5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600" b="1" spc="0" baseline="0">
                <a:solidFill>
                  <a:schemeClr val="accent5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600" b="1" spc="0" baseline="0">
                <a:solidFill>
                  <a:schemeClr val="accent5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600" b="1" spc="0" baseline="0">
                <a:solidFill>
                  <a:schemeClr val="accent5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600" b="1" spc="0" baseline="0">
                <a:solidFill>
                  <a:schemeClr val="accent5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spc="0" baseline="0">
                <a:solidFill>
                  <a:schemeClr val="accent5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1600" b="1" i="0" u="none" strike="noStrike" spc="0" baseline="0" smtClean="0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GB"/>
              <a:t>Headline, two lines </a:t>
            </a:r>
            <a:br>
              <a:rPr lang="en-GB"/>
            </a:br>
            <a:r>
              <a:rPr lang="en-GB"/>
              <a:t>also possible</a:t>
            </a:r>
            <a:endParaRPr lang="en-GB" noProof="0"/>
          </a:p>
        </p:txBody>
      </p:sp>
      <p:sp>
        <p:nvSpPr>
          <p:cNvPr id="34" name="Inhalt">
            <a:extLst>
              <a:ext uri="{FF2B5EF4-FFF2-40B4-BE49-F238E27FC236}">
                <a16:creationId xmlns:a16="http://schemas.microsoft.com/office/drawing/2014/main" id="{28EFB929-3258-4B86-BC6E-EDD7024F313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163" y="1962150"/>
            <a:ext cx="3924300" cy="27178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Text for first level // for further text formats (headline, bullets and numbering) &gt;&gt; Menu &gt; Home &gt; Paragraph &gt; Increase List Level 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cxnSp>
        <p:nvCxnSpPr>
          <p:cNvPr id="35" name="Überschrift Linie">
            <a:extLst>
              <a:ext uri="{FF2B5EF4-FFF2-40B4-BE49-F238E27FC236}">
                <a16:creationId xmlns:a16="http://schemas.microsoft.com/office/drawing/2014/main" id="{61A47817-5B24-4B7B-A9BE-075F617E5E27}"/>
              </a:ext>
            </a:extLst>
          </p:cNvPr>
          <p:cNvCxnSpPr>
            <a:cxnSpLocks/>
          </p:cNvCxnSpPr>
          <p:nvPr userDrawn="1"/>
        </p:nvCxnSpPr>
        <p:spPr>
          <a:xfrm>
            <a:off x="538163" y="1800000"/>
            <a:ext cx="39243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Überschrift">
            <a:extLst>
              <a:ext uri="{FF2B5EF4-FFF2-40B4-BE49-F238E27FC236}">
                <a16:creationId xmlns:a16="http://schemas.microsoft.com/office/drawing/2014/main" id="{4324A403-E577-4892-A5F6-2CE099DABA9B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538163" y="1141413"/>
            <a:ext cx="3924301" cy="53983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spc="0" baseline="0">
                <a:solidFill>
                  <a:schemeClr val="accent5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spc="0" baseline="0">
                <a:solidFill>
                  <a:schemeClr val="accent5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600" b="1" spc="0" baseline="0">
                <a:solidFill>
                  <a:schemeClr val="accent5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600" b="1" spc="0" baseline="0">
                <a:solidFill>
                  <a:schemeClr val="accent5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600" b="1" spc="0" baseline="0">
                <a:solidFill>
                  <a:schemeClr val="accent5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600" b="1" spc="0" baseline="0">
                <a:solidFill>
                  <a:schemeClr val="accent5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600" b="1" spc="0" baseline="0">
                <a:solidFill>
                  <a:schemeClr val="accent5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spc="0" baseline="0">
                <a:solidFill>
                  <a:schemeClr val="accent5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1600" b="1" i="0" u="none" strike="noStrike" spc="0" baseline="0" smtClean="0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GB"/>
              <a:t>Headline, two lines </a:t>
            </a:r>
            <a:br>
              <a:rPr lang="en-GB"/>
            </a:br>
            <a:r>
              <a:rPr lang="en-GB"/>
              <a:t>also possible</a:t>
            </a:r>
            <a:endParaRPr lang="en-GB" noProof="0"/>
          </a:p>
        </p:txBody>
      </p:sp>
      <p:sp>
        <p:nvSpPr>
          <p:cNvPr id="23" name="Headline/Subheadline">
            <a:extLst>
              <a:ext uri="{FF2B5EF4-FFF2-40B4-BE49-F238E27FC236}">
                <a16:creationId xmlns:a16="http://schemas.microsoft.com/office/drawing/2014/main" id="{A699C864-1A72-4AE3-AA50-7FAAC99A39FB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538163" y="358776"/>
            <a:ext cx="8062913" cy="684000"/>
          </a:xfrm>
        </p:spPr>
        <p:txBody>
          <a:bodyPr vert="horz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100" b="1" i="0" u="none" strike="noStrike" spc="0" baseline="0" smtClean="0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Headline on first level // for sub-headline </a:t>
            </a:r>
            <a:br>
              <a:rPr lang="en-GB" noProof="0"/>
            </a:br>
            <a:r>
              <a:rPr lang="en-GB" noProof="0"/>
              <a:t>&gt;&gt; Menu &gt; Home &gt; Paragraph &gt; Increase List Level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420546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719" userDrawn="1">
          <p15:clr>
            <a:srgbClr val="FBAE40"/>
          </p15:clr>
        </p15:guide>
        <p15:guide id="3" pos="5420" userDrawn="1">
          <p15:clr>
            <a:srgbClr val="FBAE40"/>
          </p15:clr>
        </p15:guide>
        <p15:guide id="4" orient="horz" pos="227" userDrawn="1">
          <p15:clr>
            <a:srgbClr val="FBAE40"/>
          </p15:clr>
        </p15:guide>
        <p15:guide id="6" orient="horz" pos="2948" userDrawn="1">
          <p15:clr>
            <a:srgbClr val="FBAE40"/>
          </p15:clr>
        </p15:guide>
        <p15:guide id="7" orient="horz" pos="1236" userDrawn="1">
          <p15:clr>
            <a:srgbClr val="FBAE40"/>
          </p15:clr>
        </p15:guide>
        <p15:guide id="8" pos="2811" userDrawn="1">
          <p15:clr>
            <a:srgbClr val="FBAE40"/>
          </p15:clr>
        </p15:guide>
        <p15:guide id="9" pos="294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heading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liennummer">
            <a:extLst>
              <a:ext uri="{FF2B5EF4-FFF2-40B4-BE49-F238E27FC236}">
                <a16:creationId xmlns:a16="http://schemas.microsoft.com/office/drawing/2014/main" id="{2FDB6D56-61DC-4613-99E3-63895736F9E3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24" name="Fußzeile">
            <a:extLst>
              <a:ext uri="{FF2B5EF4-FFF2-40B4-BE49-F238E27FC236}">
                <a16:creationId xmlns:a16="http://schemas.microsoft.com/office/drawing/2014/main" id="{1CAFC038-9346-4FB5-9387-34CF9BB2498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GB"/>
              <a:t>Offline Cache – Progressive Web App – RWE Power App Plattform</a:t>
            </a:r>
            <a:endParaRPr lang="en-GB" dirty="0"/>
          </a:p>
        </p:txBody>
      </p:sp>
      <p:sp>
        <p:nvSpPr>
          <p:cNvPr id="23" name="Datum">
            <a:extLst>
              <a:ext uri="{FF2B5EF4-FFF2-40B4-BE49-F238E27FC236}">
                <a16:creationId xmlns:a16="http://schemas.microsoft.com/office/drawing/2014/main" id="{3D9D45D3-E0BD-4426-B6FC-8F6786D8F17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05486DFE-0D6E-475F-B302-49E8CF4E4AA9}" type="datetime1">
              <a:rPr lang="de-DE" smtClean="0"/>
              <a:t>08.12.2025</a:t>
            </a:fld>
            <a:endParaRPr lang="en-GB" dirty="0"/>
          </a:p>
        </p:txBody>
      </p:sp>
      <p:sp>
        <p:nvSpPr>
          <p:cNvPr id="32" name="Quelle">
            <a:extLst>
              <a:ext uri="{FF2B5EF4-FFF2-40B4-BE49-F238E27FC236}">
                <a16:creationId xmlns:a16="http://schemas.microsoft.com/office/drawing/2014/main" id="{A4D602F8-F217-4A7A-A94E-0D8FAA7C0149}"/>
              </a:ext>
            </a:extLst>
          </p:cNvPr>
          <p:cNvSpPr>
            <a:spLocks noGrp="1"/>
          </p:cNvSpPr>
          <p:nvPr>
            <p:ph type="body" orient="vert" idx="31" hasCustomPrompt="1"/>
          </p:nvPr>
        </p:nvSpPr>
        <p:spPr>
          <a:xfrm>
            <a:off x="538163" y="4555050"/>
            <a:ext cx="8062913" cy="216000"/>
          </a:xfrm>
        </p:spPr>
        <p:txBody>
          <a:bodyPr vert="horz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650" b="0" i="0" u="none" strike="noStrike" spc="0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Source (bold): sample source | # (superscript) sample source | # (superscript) sample source // no further levels</a:t>
            </a:r>
          </a:p>
        </p:txBody>
      </p:sp>
      <p:sp>
        <p:nvSpPr>
          <p:cNvPr id="21" name="Inhalt">
            <a:extLst>
              <a:ext uri="{FF2B5EF4-FFF2-40B4-BE49-F238E27FC236}">
                <a16:creationId xmlns:a16="http://schemas.microsoft.com/office/drawing/2014/main" id="{1FEE72D6-B346-4185-9104-D09166F7737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011863" y="1908175"/>
            <a:ext cx="2590800" cy="2771775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400"/>
            </a:lvl1pPr>
            <a:lvl2pPr>
              <a:spcBef>
                <a:spcPts val="800"/>
              </a:spcBef>
              <a:defRPr sz="1400"/>
            </a:lvl2pPr>
            <a:lvl3pPr marL="216000" indent="-216000">
              <a:spcBef>
                <a:spcPts val="400"/>
              </a:spcBef>
              <a:defRPr sz="1400"/>
            </a:lvl3pPr>
            <a:lvl4pPr marL="432000" indent="-216000">
              <a:defRPr sz="1400"/>
            </a:lvl4pPr>
            <a:lvl5pPr marL="216000" indent="-216000">
              <a:spcBef>
                <a:spcPts val="400"/>
              </a:spcBef>
              <a:defRPr sz="1400"/>
            </a:lvl5pPr>
            <a:lvl6pPr marL="432000" indent="-216000">
              <a:defRPr sz="1400"/>
            </a:lvl6pPr>
            <a:lvl7pPr marL="216000">
              <a:defRPr sz="1400"/>
            </a:lvl7pPr>
            <a:lvl8pPr marL="432000">
              <a:defRPr sz="1400"/>
            </a:lvl8pPr>
            <a:lvl9pPr marL="648000" indent="-216000">
              <a:defRPr sz="1400"/>
            </a:lvl9pPr>
          </a:lstStyle>
          <a:p>
            <a:pPr lvl="0"/>
            <a:r>
              <a:rPr lang="en-GB" noProof="0"/>
              <a:t>Text for first level // for further text formats (headline, bullets and numbering) &gt;&gt; Menu &gt; Home &gt; Paragraph &gt; Increase List Level 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cxnSp>
        <p:nvCxnSpPr>
          <p:cNvPr id="19" name="Überschrift Linie">
            <a:extLst>
              <a:ext uri="{FF2B5EF4-FFF2-40B4-BE49-F238E27FC236}">
                <a16:creationId xmlns:a16="http://schemas.microsoft.com/office/drawing/2014/main" id="{664531AB-0069-4942-94B1-68A2CEB56B71}"/>
              </a:ext>
            </a:extLst>
          </p:cNvPr>
          <p:cNvCxnSpPr>
            <a:cxnSpLocks/>
          </p:cNvCxnSpPr>
          <p:nvPr userDrawn="1"/>
        </p:nvCxnSpPr>
        <p:spPr>
          <a:xfrm>
            <a:off x="6011863" y="1782000"/>
            <a:ext cx="25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Überschrift">
            <a:extLst>
              <a:ext uri="{FF2B5EF4-FFF2-40B4-BE49-F238E27FC236}">
                <a16:creationId xmlns:a16="http://schemas.microsoft.com/office/drawing/2014/main" id="{3CC9D01B-CA04-4FFE-BEBE-3030F99C1BF3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6011862" y="1209802"/>
            <a:ext cx="2589214" cy="468000"/>
          </a:xfrm>
        </p:spPr>
        <p:txBody>
          <a:bodyPr vert="horz"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1400" b="1" i="0" u="none" strike="noStrike" spc="0" baseline="0" smtClean="0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GB"/>
              <a:t>Headline, two lines </a:t>
            </a:r>
            <a:br>
              <a:rPr lang="en-GB"/>
            </a:br>
            <a:r>
              <a:rPr lang="en-GB"/>
              <a:t>also possible</a:t>
            </a:r>
            <a:endParaRPr lang="en-GB" noProof="0"/>
          </a:p>
        </p:txBody>
      </p:sp>
      <p:sp>
        <p:nvSpPr>
          <p:cNvPr id="12" name="Inhalt">
            <a:extLst>
              <a:ext uri="{FF2B5EF4-FFF2-40B4-BE49-F238E27FC236}">
                <a16:creationId xmlns:a16="http://schemas.microsoft.com/office/drawing/2014/main" id="{667B37D0-7B19-4518-A3D6-13B7CBF91E2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76601" y="1908175"/>
            <a:ext cx="2590800" cy="2771775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400"/>
            </a:lvl1pPr>
            <a:lvl2pPr>
              <a:spcBef>
                <a:spcPts val="800"/>
              </a:spcBef>
              <a:defRPr sz="1400"/>
            </a:lvl2pPr>
            <a:lvl3pPr marL="216000" indent="-216000">
              <a:spcBef>
                <a:spcPts val="400"/>
              </a:spcBef>
              <a:defRPr sz="1400"/>
            </a:lvl3pPr>
            <a:lvl4pPr marL="432000" indent="-216000">
              <a:defRPr sz="1400"/>
            </a:lvl4pPr>
            <a:lvl5pPr marL="216000" indent="-216000">
              <a:spcBef>
                <a:spcPts val="400"/>
              </a:spcBef>
              <a:defRPr sz="1400"/>
            </a:lvl5pPr>
            <a:lvl6pPr marL="432000" indent="-216000">
              <a:defRPr sz="1400"/>
            </a:lvl6pPr>
            <a:lvl7pPr marL="216000">
              <a:defRPr sz="1400"/>
            </a:lvl7pPr>
            <a:lvl8pPr marL="432000">
              <a:defRPr sz="1400"/>
            </a:lvl8pPr>
            <a:lvl9pPr marL="648000" indent="-216000">
              <a:defRPr sz="1400"/>
            </a:lvl9pPr>
          </a:lstStyle>
          <a:p>
            <a:pPr lvl="0"/>
            <a:r>
              <a:rPr lang="en-GB" noProof="0"/>
              <a:t>Text for first level // for further text formats (headline, bullets and numbering) &gt;&gt; Menu &gt; Home &gt; Paragraph &gt; Increase List Level 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cxnSp>
        <p:nvCxnSpPr>
          <p:cNvPr id="16" name="Überschrift Linie">
            <a:extLst>
              <a:ext uri="{FF2B5EF4-FFF2-40B4-BE49-F238E27FC236}">
                <a16:creationId xmlns:a16="http://schemas.microsoft.com/office/drawing/2014/main" id="{3A3A3E36-F7F0-4FC3-9CEE-E7FF9AB11F07}"/>
              </a:ext>
            </a:extLst>
          </p:cNvPr>
          <p:cNvCxnSpPr>
            <a:cxnSpLocks/>
          </p:cNvCxnSpPr>
          <p:nvPr userDrawn="1"/>
        </p:nvCxnSpPr>
        <p:spPr>
          <a:xfrm>
            <a:off x="3276601" y="1782000"/>
            <a:ext cx="25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Überschrift">
            <a:extLst>
              <a:ext uri="{FF2B5EF4-FFF2-40B4-BE49-F238E27FC236}">
                <a16:creationId xmlns:a16="http://schemas.microsoft.com/office/drawing/2014/main" id="{3DC8CC4E-8622-4126-AA50-F5A303EC543F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3276601" y="1207290"/>
            <a:ext cx="2590800" cy="468000"/>
          </a:xfrm>
        </p:spPr>
        <p:txBody>
          <a:bodyPr vert="horz"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1400" b="1" i="0" u="none" strike="noStrike" spc="0" baseline="0" smtClean="0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GB"/>
              <a:t>Headline, two lines </a:t>
            </a:r>
            <a:br>
              <a:rPr lang="en-GB"/>
            </a:br>
            <a:r>
              <a:rPr lang="en-GB"/>
              <a:t>also possible</a:t>
            </a:r>
            <a:endParaRPr lang="en-GB" noProof="0"/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98C7491E-756C-46A1-B1E4-A02BE90EEC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163" y="1908175"/>
            <a:ext cx="2590801" cy="2771775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400"/>
            </a:lvl1pPr>
            <a:lvl2pPr>
              <a:spcBef>
                <a:spcPts val="800"/>
              </a:spcBef>
              <a:defRPr sz="1400"/>
            </a:lvl2pPr>
            <a:lvl3pPr marL="216000" indent="-216000">
              <a:spcBef>
                <a:spcPts val="400"/>
              </a:spcBef>
              <a:defRPr sz="1400"/>
            </a:lvl3pPr>
            <a:lvl4pPr marL="432000" indent="-216000">
              <a:defRPr sz="1400"/>
            </a:lvl4pPr>
            <a:lvl5pPr marL="216000" indent="-216000">
              <a:spcBef>
                <a:spcPts val="400"/>
              </a:spcBef>
              <a:defRPr sz="1400"/>
            </a:lvl5pPr>
            <a:lvl6pPr marL="432000" indent="-216000">
              <a:defRPr sz="1400"/>
            </a:lvl6pPr>
            <a:lvl7pPr marL="216000">
              <a:defRPr sz="1400"/>
            </a:lvl7pPr>
            <a:lvl8pPr marL="432000">
              <a:defRPr sz="1400"/>
            </a:lvl8pPr>
            <a:lvl9pPr marL="648000" indent="-216000">
              <a:defRPr sz="1400"/>
            </a:lvl9pPr>
          </a:lstStyle>
          <a:p>
            <a:pPr lvl="0"/>
            <a:r>
              <a:rPr lang="en-GB" noProof="0"/>
              <a:t>Text for first level // for further text formats (headline, bullets and numbering) &gt;&gt; Menu &gt; Home &gt; Paragraph &gt; Increase List Level 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cxnSp>
        <p:nvCxnSpPr>
          <p:cNvPr id="6" name="Überschrift Linie">
            <a:extLst>
              <a:ext uri="{FF2B5EF4-FFF2-40B4-BE49-F238E27FC236}">
                <a16:creationId xmlns:a16="http://schemas.microsoft.com/office/drawing/2014/main" id="{BD6BA604-B361-4F5B-BAF4-A56116FC6F5E}"/>
              </a:ext>
            </a:extLst>
          </p:cNvPr>
          <p:cNvCxnSpPr>
            <a:cxnSpLocks/>
          </p:cNvCxnSpPr>
          <p:nvPr userDrawn="1"/>
        </p:nvCxnSpPr>
        <p:spPr>
          <a:xfrm>
            <a:off x="538163" y="1782000"/>
            <a:ext cx="2590801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Überschrift">
            <a:extLst>
              <a:ext uri="{FF2B5EF4-FFF2-40B4-BE49-F238E27FC236}">
                <a16:creationId xmlns:a16="http://schemas.microsoft.com/office/drawing/2014/main" id="{A44D21C7-7038-4AE2-990E-0B346FF92D4A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538163" y="1206500"/>
            <a:ext cx="2590801" cy="468791"/>
          </a:xfrm>
        </p:spPr>
        <p:txBody>
          <a:bodyPr vert="horz"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spc="0" baseline="0">
                <a:solidFill>
                  <a:schemeClr val="accent5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1400" b="1" i="0" u="none" strike="noStrike" spc="0" baseline="0" smtClean="0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GB"/>
              <a:t>Headline, two lines </a:t>
            </a:r>
            <a:br>
              <a:rPr lang="en-GB"/>
            </a:br>
            <a:r>
              <a:rPr lang="en-GB"/>
              <a:t>also possible</a:t>
            </a:r>
            <a:endParaRPr lang="en-GB" noProof="0"/>
          </a:p>
        </p:txBody>
      </p:sp>
      <p:sp>
        <p:nvSpPr>
          <p:cNvPr id="26" name="Headline/Subheadline">
            <a:extLst>
              <a:ext uri="{FF2B5EF4-FFF2-40B4-BE49-F238E27FC236}">
                <a16:creationId xmlns:a16="http://schemas.microsoft.com/office/drawing/2014/main" id="{D8A7C36A-FB89-44EB-8E14-A7ACF19F8525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538163" y="358776"/>
            <a:ext cx="8062913" cy="684000"/>
          </a:xfrm>
        </p:spPr>
        <p:txBody>
          <a:bodyPr vert="horz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100" b="1" i="0" u="none" strike="noStrike" spc="0" baseline="0" smtClean="0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Headline on first level // for sub-headline </a:t>
            </a:r>
            <a:br>
              <a:rPr lang="en-GB" noProof="0"/>
            </a:br>
            <a:r>
              <a:rPr lang="en-GB" noProof="0"/>
              <a:t>&gt;&gt; Menu &gt; Home &gt; Paragraph &gt; Increase List Level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91015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760" userDrawn="1">
          <p15:clr>
            <a:srgbClr val="FBAE40"/>
          </p15:clr>
        </p15:guide>
        <p15:guide id="3" pos="5420" userDrawn="1">
          <p15:clr>
            <a:srgbClr val="FBAE40"/>
          </p15:clr>
        </p15:guide>
        <p15:guide id="4" orient="horz" pos="227" userDrawn="1">
          <p15:clr>
            <a:srgbClr val="FBAE40"/>
          </p15:clr>
        </p15:guide>
        <p15:guide id="6" orient="horz" pos="2948">
          <p15:clr>
            <a:srgbClr val="FBAE40"/>
          </p15:clr>
        </p15:guide>
        <p15:guide id="7" orient="horz" pos="1202" userDrawn="1">
          <p15:clr>
            <a:srgbClr val="FBAE40"/>
          </p15:clr>
        </p15:guide>
        <p15:guide id="8" pos="1973" userDrawn="1">
          <p15:clr>
            <a:srgbClr val="FBAE40"/>
          </p15:clr>
        </p15:guide>
        <p15:guide id="9" pos="3696" userDrawn="1">
          <p15:clr>
            <a:srgbClr val="FBAE40"/>
          </p15:clr>
        </p15:guide>
        <p15:guide id="10" pos="2064" userDrawn="1">
          <p15:clr>
            <a:srgbClr val="FBAE40"/>
          </p15:clr>
        </p15:guide>
        <p15:guide id="11" pos="37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heading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liennummer">
            <a:extLst>
              <a:ext uri="{FF2B5EF4-FFF2-40B4-BE49-F238E27FC236}">
                <a16:creationId xmlns:a16="http://schemas.microsoft.com/office/drawing/2014/main" id="{6AE00708-18AF-4C2C-8927-537EAA3F02E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27" name="Fußzeile">
            <a:extLst>
              <a:ext uri="{FF2B5EF4-FFF2-40B4-BE49-F238E27FC236}">
                <a16:creationId xmlns:a16="http://schemas.microsoft.com/office/drawing/2014/main" id="{2337056F-242A-430F-A900-BA17EC4343EC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GB"/>
              <a:t>Offline Cache – Progressive Web App – RWE Power App Plattform</a:t>
            </a:r>
            <a:endParaRPr lang="en-GB" dirty="0"/>
          </a:p>
        </p:txBody>
      </p:sp>
      <p:sp>
        <p:nvSpPr>
          <p:cNvPr id="26" name="Datum">
            <a:extLst>
              <a:ext uri="{FF2B5EF4-FFF2-40B4-BE49-F238E27FC236}">
                <a16:creationId xmlns:a16="http://schemas.microsoft.com/office/drawing/2014/main" id="{1B7E706D-8461-42D4-9D65-8D7E1FE375DF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C5FE8494-A8A2-4256-981F-D13B11B72460}" type="datetime1">
              <a:rPr lang="de-DE" smtClean="0"/>
              <a:t>08.12.2025</a:t>
            </a:fld>
            <a:endParaRPr lang="en-GB" dirty="0"/>
          </a:p>
        </p:txBody>
      </p:sp>
      <p:sp>
        <p:nvSpPr>
          <p:cNvPr id="31" name="Quelle">
            <a:extLst>
              <a:ext uri="{FF2B5EF4-FFF2-40B4-BE49-F238E27FC236}">
                <a16:creationId xmlns:a16="http://schemas.microsoft.com/office/drawing/2014/main" id="{5B52AE38-80B3-4244-966B-AB5B24C91E51}"/>
              </a:ext>
            </a:extLst>
          </p:cNvPr>
          <p:cNvSpPr>
            <a:spLocks noGrp="1"/>
          </p:cNvSpPr>
          <p:nvPr>
            <p:ph type="body" orient="vert" idx="31" hasCustomPrompt="1"/>
          </p:nvPr>
        </p:nvSpPr>
        <p:spPr>
          <a:xfrm>
            <a:off x="538163" y="4555050"/>
            <a:ext cx="8062913" cy="216000"/>
          </a:xfrm>
        </p:spPr>
        <p:txBody>
          <a:bodyPr vert="horz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650" b="0" i="0" u="none" strike="noStrike" spc="0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Source (bold): sample source | # (superscript) sample source | # (superscript) sample source // no further levels</a:t>
            </a:r>
          </a:p>
        </p:txBody>
      </p:sp>
      <p:sp>
        <p:nvSpPr>
          <p:cNvPr id="32" name="Inhalt">
            <a:extLst>
              <a:ext uri="{FF2B5EF4-FFF2-40B4-BE49-F238E27FC236}">
                <a16:creationId xmlns:a16="http://schemas.microsoft.com/office/drawing/2014/main" id="{C4287E6D-28C1-4452-93F9-90E2A4745C73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696031" y="2070101"/>
            <a:ext cx="1908175" cy="2607338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200"/>
            </a:lvl1pPr>
            <a:lvl2pPr>
              <a:spcBef>
                <a:spcPts val="800"/>
              </a:spcBef>
              <a:defRPr sz="1200"/>
            </a:lvl2pPr>
            <a:lvl3pPr marL="216000" indent="-216000">
              <a:spcBef>
                <a:spcPts val="400"/>
              </a:spcBef>
              <a:defRPr sz="1200"/>
            </a:lvl3pPr>
            <a:lvl4pPr marL="432000" indent="-216000">
              <a:defRPr sz="1200"/>
            </a:lvl4pPr>
            <a:lvl5pPr marL="216000" indent="-216000">
              <a:spcBef>
                <a:spcPts val="400"/>
              </a:spcBef>
              <a:defRPr sz="1200"/>
            </a:lvl5pPr>
            <a:lvl6pPr marL="432000" indent="-216000">
              <a:defRPr sz="1200"/>
            </a:lvl6pPr>
            <a:lvl7pPr marL="216000">
              <a:defRPr sz="1200"/>
            </a:lvl7pPr>
            <a:lvl8pPr marL="432000">
              <a:defRPr sz="1200"/>
            </a:lvl8pPr>
            <a:lvl9pPr marL="648000" indent="-216000">
              <a:defRPr sz="1200"/>
            </a:lvl9pPr>
          </a:lstStyle>
          <a:p>
            <a:pPr lvl="0"/>
            <a:r>
              <a:rPr lang="en-GB" noProof="0"/>
              <a:t>Text for first level // for further text formats (headline, bullets and numbering) &gt;&gt; Menu &gt; Home &gt; Paragraph &gt; Increase List Level 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cxnSp>
        <p:nvCxnSpPr>
          <p:cNvPr id="33" name="Überschrift Linie">
            <a:extLst>
              <a:ext uri="{FF2B5EF4-FFF2-40B4-BE49-F238E27FC236}">
                <a16:creationId xmlns:a16="http://schemas.microsoft.com/office/drawing/2014/main" id="{5D0C6B0E-1545-41F4-8272-7429A6E1370E}"/>
              </a:ext>
            </a:extLst>
          </p:cNvPr>
          <p:cNvCxnSpPr>
            <a:cxnSpLocks/>
          </p:cNvCxnSpPr>
          <p:nvPr userDrawn="1"/>
        </p:nvCxnSpPr>
        <p:spPr>
          <a:xfrm>
            <a:off x="6696000" y="1944000"/>
            <a:ext cx="1908175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Überschrift">
            <a:extLst>
              <a:ext uri="{FF2B5EF4-FFF2-40B4-BE49-F238E27FC236}">
                <a16:creationId xmlns:a16="http://schemas.microsoft.com/office/drawing/2014/main" id="{28CED89C-6107-4336-A98B-34BDBA2BD834}"/>
              </a:ext>
            </a:extLst>
          </p:cNvPr>
          <p:cNvSpPr>
            <a:spLocks noGrp="1"/>
          </p:cNvSpPr>
          <p:nvPr>
            <p:ph type="body" orient="vert" idx="23" hasCustomPrompt="1"/>
          </p:nvPr>
        </p:nvSpPr>
        <p:spPr>
          <a:xfrm>
            <a:off x="6696075" y="1270000"/>
            <a:ext cx="1908175" cy="581502"/>
          </a:xfrm>
        </p:spPr>
        <p:txBody>
          <a:bodyPr vert="horz" anchor="b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1200" b="1" i="0" u="none" strike="noStrike" spc="0" baseline="0" smtClean="0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GB"/>
              <a:t>Headline, multiple lines, i.e. also three lines, </a:t>
            </a:r>
            <a:br>
              <a:rPr lang="en-GB"/>
            </a:br>
            <a:r>
              <a:rPr lang="en-GB"/>
              <a:t>also possible</a:t>
            </a:r>
          </a:p>
        </p:txBody>
      </p:sp>
      <p:sp>
        <p:nvSpPr>
          <p:cNvPr id="21" name="Inhalt">
            <a:extLst>
              <a:ext uri="{FF2B5EF4-FFF2-40B4-BE49-F238E27FC236}">
                <a16:creationId xmlns:a16="http://schemas.microsoft.com/office/drawing/2014/main" id="{1FEE72D6-B346-4185-9104-D09166F7737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643394" y="2070101"/>
            <a:ext cx="1908175" cy="2607338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200"/>
            </a:lvl1pPr>
            <a:lvl2pPr>
              <a:spcBef>
                <a:spcPts val="800"/>
              </a:spcBef>
              <a:defRPr sz="1200"/>
            </a:lvl2pPr>
            <a:lvl3pPr marL="216000" indent="-216000">
              <a:spcBef>
                <a:spcPts val="400"/>
              </a:spcBef>
              <a:defRPr sz="1200"/>
            </a:lvl3pPr>
            <a:lvl4pPr marL="432000" indent="-216000">
              <a:defRPr sz="1200"/>
            </a:lvl4pPr>
            <a:lvl5pPr marL="216000" indent="-216000">
              <a:spcBef>
                <a:spcPts val="400"/>
              </a:spcBef>
              <a:defRPr sz="1200"/>
            </a:lvl5pPr>
            <a:lvl6pPr marL="432000" indent="-216000">
              <a:defRPr sz="1200"/>
            </a:lvl6pPr>
            <a:lvl7pPr marL="216000">
              <a:defRPr sz="1200"/>
            </a:lvl7pPr>
            <a:lvl8pPr marL="432000">
              <a:defRPr sz="1200"/>
            </a:lvl8pPr>
            <a:lvl9pPr marL="648000" indent="-216000">
              <a:defRPr sz="1200"/>
            </a:lvl9pPr>
          </a:lstStyle>
          <a:p>
            <a:pPr lvl="0"/>
            <a:r>
              <a:rPr lang="en-GB" noProof="0"/>
              <a:t>Text for first level // for further text formats (headline, bullets and numbering) &gt;&gt; Menu &gt; Home &gt; Paragraph &gt; Increase List Level 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cxnSp>
        <p:nvCxnSpPr>
          <p:cNvPr id="19" name="Überschrift Linie">
            <a:extLst>
              <a:ext uri="{FF2B5EF4-FFF2-40B4-BE49-F238E27FC236}">
                <a16:creationId xmlns:a16="http://schemas.microsoft.com/office/drawing/2014/main" id="{664531AB-0069-4942-94B1-68A2CEB56B71}"/>
              </a:ext>
            </a:extLst>
          </p:cNvPr>
          <p:cNvCxnSpPr>
            <a:cxnSpLocks/>
          </p:cNvCxnSpPr>
          <p:nvPr userDrawn="1"/>
        </p:nvCxnSpPr>
        <p:spPr>
          <a:xfrm>
            <a:off x="4643363" y="1944000"/>
            <a:ext cx="1908175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Überschrift">
            <a:extLst>
              <a:ext uri="{FF2B5EF4-FFF2-40B4-BE49-F238E27FC236}">
                <a16:creationId xmlns:a16="http://schemas.microsoft.com/office/drawing/2014/main" id="{3CC9D01B-CA04-4FFE-BEBE-3030F99C1BF3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4643438" y="1270000"/>
            <a:ext cx="1908175" cy="581502"/>
          </a:xfrm>
        </p:spPr>
        <p:txBody>
          <a:bodyPr vert="horz" anchor="b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1200" b="1" i="0" u="none" strike="noStrike" spc="0" baseline="0" smtClean="0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GB"/>
              <a:t>Headline, multiple lines, i.e. also three lines, </a:t>
            </a:r>
            <a:br>
              <a:rPr lang="en-GB"/>
            </a:br>
            <a:r>
              <a:rPr lang="en-GB"/>
              <a:t>also possible</a:t>
            </a:r>
          </a:p>
        </p:txBody>
      </p:sp>
      <p:sp>
        <p:nvSpPr>
          <p:cNvPr id="12" name="Inhalt">
            <a:extLst>
              <a:ext uri="{FF2B5EF4-FFF2-40B4-BE49-F238E27FC236}">
                <a16:creationId xmlns:a16="http://schemas.microsoft.com/office/drawing/2014/main" id="{667B37D0-7B19-4518-A3D6-13B7CBF91E2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592071" y="2070101"/>
            <a:ext cx="1908592" cy="2607338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200"/>
            </a:lvl1pPr>
            <a:lvl2pPr>
              <a:spcBef>
                <a:spcPts val="800"/>
              </a:spcBef>
              <a:defRPr sz="1200"/>
            </a:lvl2pPr>
            <a:lvl3pPr marL="216000" indent="-216000">
              <a:spcBef>
                <a:spcPts val="400"/>
              </a:spcBef>
              <a:defRPr sz="1200"/>
            </a:lvl3pPr>
            <a:lvl4pPr marL="432000" indent="-216000">
              <a:defRPr sz="1200"/>
            </a:lvl4pPr>
            <a:lvl5pPr marL="216000" indent="-216000">
              <a:spcBef>
                <a:spcPts val="400"/>
              </a:spcBef>
              <a:defRPr sz="1200"/>
            </a:lvl5pPr>
            <a:lvl6pPr marL="432000" indent="-216000">
              <a:defRPr sz="1200"/>
            </a:lvl6pPr>
            <a:lvl7pPr marL="216000">
              <a:defRPr sz="1200"/>
            </a:lvl7pPr>
            <a:lvl8pPr marL="432000">
              <a:defRPr sz="1200"/>
            </a:lvl8pPr>
            <a:lvl9pPr marL="648000" indent="-216000">
              <a:defRPr sz="1200"/>
            </a:lvl9pPr>
          </a:lstStyle>
          <a:p>
            <a:pPr lvl="0"/>
            <a:r>
              <a:rPr lang="en-GB" noProof="0"/>
              <a:t>Text for first level // for further text formats (headline, bullets and numbering) &gt;&gt; Menu &gt; Home &gt; Paragraph &gt; Increase List Level 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cxnSp>
        <p:nvCxnSpPr>
          <p:cNvPr id="16" name="Überschrift Linie">
            <a:extLst>
              <a:ext uri="{FF2B5EF4-FFF2-40B4-BE49-F238E27FC236}">
                <a16:creationId xmlns:a16="http://schemas.microsoft.com/office/drawing/2014/main" id="{3A3A3E36-F7F0-4FC3-9CEE-E7FF9AB11F07}"/>
              </a:ext>
            </a:extLst>
          </p:cNvPr>
          <p:cNvCxnSpPr>
            <a:cxnSpLocks/>
          </p:cNvCxnSpPr>
          <p:nvPr userDrawn="1"/>
        </p:nvCxnSpPr>
        <p:spPr>
          <a:xfrm>
            <a:off x="2592072" y="1944000"/>
            <a:ext cx="1908592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Überschrift">
            <a:extLst>
              <a:ext uri="{FF2B5EF4-FFF2-40B4-BE49-F238E27FC236}">
                <a16:creationId xmlns:a16="http://schemas.microsoft.com/office/drawing/2014/main" id="{3DC8CC4E-8622-4126-AA50-F5A303EC543F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2592071" y="1270000"/>
            <a:ext cx="1908592" cy="581502"/>
          </a:xfrm>
        </p:spPr>
        <p:txBody>
          <a:bodyPr vert="horz" anchor="b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1200" b="1" i="0" u="none" strike="noStrike" spc="0" baseline="0" smtClean="0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GB"/>
              <a:t>Headline, multiple lines, i.e. also three lines, </a:t>
            </a:r>
            <a:br>
              <a:rPr lang="en-GB"/>
            </a:br>
            <a:r>
              <a:rPr lang="en-GB"/>
              <a:t>also possible</a:t>
            </a:r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98C7491E-756C-46A1-B1E4-A02BE90EEC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163" y="2070101"/>
            <a:ext cx="1908175" cy="2607338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200"/>
            </a:lvl1pPr>
            <a:lvl2pPr>
              <a:spcBef>
                <a:spcPts val="800"/>
              </a:spcBef>
              <a:defRPr sz="1200"/>
            </a:lvl2pPr>
            <a:lvl3pPr marL="216000" indent="-216000">
              <a:spcBef>
                <a:spcPts val="400"/>
              </a:spcBef>
              <a:defRPr sz="1200"/>
            </a:lvl3pPr>
            <a:lvl4pPr marL="432000" indent="-216000">
              <a:defRPr sz="1200"/>
            </a:lvl4pPr>
            <a:lvl5pPr marL="216000" indent="-216000">
              <a:spcBef>
                <a:spcPts val="400"/>
              </a:spcBef>
              <a:defRPr sz="1200"/>
            </a:lvl5pPr>
            <a:lvl6pPr marL="432000" indent="-216000">
              <a:defRPr sz="1200"/>
            </a:lvl6pPr>
            <a:lvl7pPr marL="216000">
              <a:defRPr sz="1200"/>
            </a:lvl7pPr>
            <a:lvl8pPr marL="432000">
              <a:defRPr sz="1200"/>
            </a:lvl8pPr>
            <a:lvl9pPr marL="648000" indent="-216000">
              <a:defRPr sz="1200"/>
            </a:lvl9pPr>
          </a:lstStyle>
          <a:p>
            <a:pPr lvl="0"/>
            <a:r>
              <a:rPr lang="en-GB" noProof="0"/>
              <a:t>Text for first level // for further text formats (headline, bullets and numbering) &gt;&gt; Menu &gt; Home &gt; Paragraph &gt; Increase List Level 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cxnSp>
        <p:nvCxnSpPr>
          <p:cNvPr id="6" name="Überschrift Linie">
            <a:extLst>
              <a:ext uri="{FF2B5EF4-FFF2-40B4-BE49-F238E27FC236}">
                <a16:creationId xmlns:a16="http://schemas.microsoft.com/office/drawing/2014/main" id="{BD6BA604-B361-4F5B-BAF4-A56116FC6F5E}"/>
              </a:ext>
            </a:extLst>
          </p:cNvPr>
          <p:cNvCxnSpPr>
            <a:cxnSpLocks/>
          </p:cNvCxnSpPr>
          <p:nvPr userDrawn="1"/>
        </p:nvCxnSpPr>
        <p:spPr>
          <a:xfrm>
            <a:off x="538163" y="1944000"/>
            <a:ext cx="1908593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Überschrift">
            <a:extLst>
              <a:ext uri="{FF2B5EF4-FFF2-40B4-BE49-F238E27FC236}">
                <a16:creationId xmlns:a16="http://schemas.microsoft.com/office/drawing/2014/main" id="{A44D21C7-7038-4AE2-990E-0B346FF92D4A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538164" y="1270000"/>
            <a:ext cx="1908592" cy="581502"/>
          </a:xfrm>
        </p:spPr>
        <p:txBody>
          <a:bodyPr vert="horz" anchor="b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 spc="0" baseline="0">
                <a:solidFill>
                  <a:schemeClr val="accent5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1200" b="1" i="0" u="none" strike="noStrike" spc="0" baseline="0" smtClean="0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GB"/>
              <a:t>Headline, multiple lines, i.e. also three lines, </a:t>
            </a:r>
            <a:br>
              <a:rPr lang="en-GB"/>
            </a:br>
            <a:r>
              <a:rPr lang="en-GB"/>
              <a:t>also possible</a:t>
            </a:r>
          </a:p>
        </p:txBody>
      </p:sp>
      <p:sp>
        <p:nvSpPr>
          <p:cNvPr id="29" name="Headline/Subheadline">
            <a:extLst>
              <a:ext uri="{FF2B5EF4-FFF2-40B4-BE49-F238E27FC236}">
                <a16:creationId xmlns:a16="http://schemas.microsoft.com/office/drawing/2014/main" id="{8A34D7A9-C7E0-4D58-AEAB-AF6F82D2DC72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538163" y="358776"/>
            <a:ext cx="8062913" cy="684000"/>
          </a:xfrm>
        </p:spPr>
        <p:txBody>
          <a:bodyPr vert="horz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100" b="1" i="0" u="none" strike="noStrike" spc="0" baseline="0" smtClean="0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Headline on first level // for sub-headline </a:t>
            </a:r>
            <a:br>
              <a:rPr lang="en-GB" noProof="0"/>
            </a:br>
            <a:r>
              <a:rPr lang="en-GB" noProof="0"/>
              <a:t>&gt;&gt; Menu &gt; Home &gt; Paragraph &gt; Increase List Level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412603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800" userDrawn="1">
          <p15:clr>
            <a:srgbClr val="FBAE40"/>
          </p15:clr>
        </p15:guide>
        <p15:guide id="3" pos="5420" userDrawn="1">
          <p15:clr>
            <a:srgbClr val="FBAE40"/>
          </p15:clr>
        </p15:guide>
        <p15:guide id="4" orient="horz" pos="227" userDrawn="1">
          <p15:clr>
            <a:srgbClr val="FBAE40"/>
          </p15:clr>
        </p15:guide>
        <p15:guide id="6" orient="horz" pos="2948">
          <p15:clr>
            <a:srgbClr val="FBAE40"/>
          </p15:clr>
        </p15:guide>
        <p15:guide id="7" orient="horz" pos="1304" userDrawn="1">
          <p15:clr>
            <a:srgbClr val="FBAE40"/>
          </p15:clr>
        </p15:guide>
        <p15:guide id="8" pos="1541" userDrawn="1">
          <p15:clr>
            <a:srgbClr val="FBAE40"/>
          </p15:clr>
        </p15:guide>
        <p15:guide id="9" pos="2835" userDrawn="1">
          <p15:clr>
            <a:srgbClr val="FBAE40"/>
          </p15:clr>
        </p15:guide>
        <p15:guide id="10" pos="1633" userDrawn="1">
          <p15:clr>
            <a:srgbClr val="FBAE40"/>
          </p15:clr>
        </p15:guide>
        <p15:guide id="11" pos="2925" userDrawn="1">
          <p15:clr>
            <a:srgbClr val="FBAE40"/>
          </p15:clr>
        </p15:guide>
        <p15:guide id="12" pos="4127" userDrawn="1">
          <p15:clr>
            <a:srgbClr val="FBAE40"/>
          </p15:clr>
        </p15:guide>
        <p15:guide id="13" pos="421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">
            <a:extLst>
              <a:ext uri="{FF2B5EF4-FFF2-40B4-BE49-F238E27FC236}">
                <a16:creationId xmlns:a16="http://schemas.microsoft.com/office/drawing/2014/main" id="{9A9F0EF7-2F86-47D3-BE90-97577738EA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ltGray">
          <a:xfrm>
            <a:off x="1" y="0"/>
            <a:ext cx="9144000" cy="5148263"/>
          </a:xfrm>
          <a:blipFill>
            <a:blip r:embed="rId2"/>
            <a:stretch>
              <a:fillRect/>
            </a:stretch>
          </a:blipFill>
        </p:spPr>
        <p:txBody>
          <a:bodyPr anchor="ctr" anchorCtr="0"/>
          <a:lstStyle>
            <a:lvl1pPr algn="ctr">
              <a:spcBef>
                <a:spcPts val="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dark picture</a:t>
            </a:r>
          </a:p>
        </p:txBody>
      </p:sp>
      <p:sp>
        <p:nvSpPr>
          <p:cNvPr id="20" name="Foliennummer">
            <a:extLst>
              <a:ext uri="{FF2B5EF4-FFF2-40B4-BE49-F238E27FC236}">
                <a16:creationId xmlns:a16="http://schemas.microsoft.com/office/drawing/2014/main" id="{B61E9242-4EB0-4312-838B-624BA38E30D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098164" y="5292000"/>
            <a:ext cx="504000" cy="108000"/>
          </a:xfrm>
        </p:spPr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19" name="Fußzeile">
            <a:extLst>
              <a:ext uri="{FF2B5EF4-FFF2-40B4-BE49-F238E27FC236}">
                <a16:creationId xmlns:a16="http://schemas.microsoft.com/office/drawing/2014/main" id="{B715567D-DD51-402B-A9C0-4A5F5BA9F9C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440000" y="5292000"/>
            <a:ext cx="6588000" cy="108000"/>
          </a:xfrm>
        </p:spPr>
        <p:txBody>
          <a:bodyPr/>
          <a:lstStyle/>
          <a:p>
            <a:r>
              <a:rPr lang="en-US"/>
              <a:t>Offline Cache – Progressive Web App – RWE Power App Plattform</a:t>
            </a:r>
            <a:endParaRPr lang="en-GB"/>
          </a:p>
        </p:txBody>
      </p:sp>
      <p:sp>
        <p:nvSpPr>
          <p:cNvPr id="18" name="Datum">
            <a:extLst>
              <a:ext uri="{FF2B5EF4-FFF2-40B4-BE49-F238E27FC236}">
                <a16:creationId xmlns:a16="http://schemas.microsoft.com/office/drawing/2014/main" id="{2412D26E-F3A5-4E66-BE18-1CA5E6C3729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63999" y="5292000"/>
            <a:ext cx="504000" cy="108000"/>
          </a:xfrm>
        </p:spPr>
        <p:txBody>
          <a:bodyPr/>
          <a:lstStyle/>
          <a:p>
            <a:fld id="{52F10B31-7238-4F0C-9AA8-0838E0E8802B}" type="datetime1">
              <a:rPr lang="de-DE" smtClean="0"/>
              <a:t>08.12.2025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8969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full screen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">
            <a:extLst>
              <a:ext uri="{FF2B5EF4-FFF2-40B4-BE49-F238E27FC236}">
                <a16:creationId xmlns:a16="http://schemas.microsoft.com/office/drawing/2014/main" id="{9A9F0EF7-2F86-47D3-BE90-97577738EA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ltGray">
          <a:xfrm>
            <a:off x="1" y="0"/>
            <a:ext cx="9144000" cy="5148263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anchor="ctr" anchorCtr="0"/>
          <a:lstStyle>
            <a:lvl1pPr algn="ctr">
              <a:spcBef>
                <a:spcPts val="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dark picture</a:t>
            </a:r>
          </a:p>
        </p:txBody>
      </p:sp>
      <p:sp>
        <p:nvSpPr>
          <p:cNvPr id="22" name="Foliennummer">
            <a:extLst>
              <a:ext uri="{FF2B5EF4-FFF2-40B4-BE49-F238E27FC236}">
                <a16:creationId xmlns:a16="http://schemas.microsoft.com/office/drawing/2014/main" id="{9947A31B-F94A-4874-950B-2FCAC823D6D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21" name="Fußzeile">
            <a:extLst>
              <a:ext uri="{FF2B5EF4-FFF2-40B4-BE49-F238E27FC236}">
                <a16:creationId xmlns:a16="http://schemas.microsoft.com/office/drawing/2014/main" id="{7003F921-64CB-4C81-AAAB-AEE082FF6DE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Offline Cache – Progressive Web App – RWE Power App Plattform</a:t>
            </a:r>
            <a:endParaRPr lang="en-GB"/>
          </a:p>
        </p:txBody>
      </p:sp>
      <p:sp>
        <p:nvSpPr>
          <p:cNvPr id="16" name="Datum">
            <a:extLst>
              <a:ext uri="{FF2B5EF4-FFF2-40B4-BE49-F238E27FC236}">
                <a16:creationId xmlns:a16="http://schemas.microsoft.com/office/drawing/2014/main" id="{373D1506-89D1-4388-907C-EE0B3E57E7ED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A3D3758-E2E1-4553-94BC-2442E4124008}" type="datetime1">
              <a:rPr lang="de-DE" smtClean="0"/>
              <a:t>08.12.2025</a:t>
            </a:fld>
            <a:endParaRPr lang="en-GB" dirty="0"/>
          </a:p>
        </p:txBody>
      </p:sp>
      <p:sp>
        <p:nvSpPr>
          <p:cNvPr id="15" name="RWE Logo">
            <a:extLst>
              <a:ext uri="{FF2B5EF4-FFF2-40B4-BE49-F238E27FC236}">
                <a16:creationId xmlns:a16="http://schemas.microsoft.com/office/drawing/2014/main" id="{D0A778C0-4537-4921-86DB-5ED8A69ECD51}"/>
              </a:ext>
            </a:extLst>
          </p:cNvPr>
          <p:cNvSpPr>
            <a:spLocks noGrp="1" noChangeAspect="1"/>
          </p:cNvSpPr>
          <p:nvPr>
            <p:ph type="body" orient="vert" idx="13" hasCustomPrompt="1"/>
          </p:nvPr>
        </p:nvSpPr>
        <p:spPr bwMode="white">
          <a:xfrm>
            <a:off x="538164" y="4896000"/>
            <a:ext cx="216000" cy="62259"/>
          </a:xfrm>
          <a:blipFill>
            <a:blip r:embed="rId3"/>
            <a:stretch>
              <a:fillRect/>
            </a:stretch>
          </a:blipFill>
        </p:spPr>
        <p:txBody>
          <a:bodyPr vert="horz" wrap="none" tIns="504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650" b="0" i="1" u="none" strike="noStrike" spc="0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Do not remove or delete the logo</a:t>
            </a:r>
          </a:p>
        </p:txBody>
      </p:sp>
      <p:sp>
        <p:nvSpPr>
          <p:cNvPr id="8" name="Headline/Subheadline">
            <a:extLst>
              <a:ext uri="{FF2B5EF4-FFF2-40B4-BE49-F238E27FC236}">
                <a16:creationId xmlns:a16="http://schemas.microsoft.com/office/drawing/2014/main" id="{13FA8E54-6DD7-48DE-AC95-DA684328205E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538163" y="358776"/>
            <a:ext cx="8062913" cy="684000"/>
          </a:xfrm>
        </p:spPr>
        <p:txBody>
          <a:bodyPr vert="horz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rgbClr val="3ED8C3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rgbClr val="3ED8C3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rgbClr val="3ED8C3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rgbClr val="3ED8C3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rgbClr val="3ED8C3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rgbClr val="3ED8C3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rgbClr val="3ED8C3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100" b="1" i="0" u="none" strike="noStrike" spc="0" baseline="0" smtClean="0">
                <a:solidFill>
                  <a:srgbClr val="3ED8C3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Headline on first level // for sub-headline </a:t>
            </a:r>
            <a:br>
              <a:rPr lang="en-GB" noProof="0"/>
            </a:br>
            <a:r>
              <a:rPr lang="en-GB" noProof="0"/>
              <a:t>&gt;&gt; Menu &gt; Home &gt; Paragraph &gt; Increase List Level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63922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3" pos="5420" userDrawn="1">
          <p15:clr>
            <a:srgbClr val="FBAE40"/>
          </p15:clr>
        </p15:guide>
        <p15:guide id="4" orient="horz" pos="227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full screen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">
            <a:extLst>
              <a:ext uri="{FF2B5EF4-FFF2-40B4-BE49-F238E27FC236}">
                <a16:creationId xmlns:a16="http://schemas.microsoft.com/office/drawing/2014/main" id="{9A9F0EF7-2F86-47D3-BE90-97577738EA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ltGray">
          <a:xfrm>
            <a:off x="1" y="0"/>
            <a:ext cx="9144000" cy="5148263"/>
          </a:xfrm>
          <a:blipFill>
            <a:blip r:embed="rId2"/>
            <a:stretch>
              <a:fillRect/>
            </a:stretch>
          </a:blipFill>
        </p:spPr>
        <p:txBody>
          <a:bodyPr anchor="ctr" anchorCtr="0"/>
          <a:lstStyle>
            <a:lvl1pPr algn="ctr">
              <a:spcBef>
                <a:spcPts val="0"/>
              </a:spcBef>
              <a:defRPr/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light picture</a:t>
            </a:r>
          </a:p>
        </p:txBody>
      </p:sp>
      <p:sp>
        <p:nvSpPr>
          <p:cNvPr id="23" name="Foliennummer">
            <a:extLst>
              <a:ext uri="{FF2B5EF4-FFF2-40B4-BE49-F238E27FC236}">
                <a16:creationId xmlns:a16="http://schemas.microsoft.com/office/drawing/2014/main" id="{7C45B03F-8023-4519-BBA5-A69FB130E46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22" name="Fußzeile">
            <a:extLst>
              <a:ext uri="{FF2B5EF4-FFF2-40B4-BE49-F238E27FC236}">
                <a16:creationId xmlns:a16="http://schemas.microsoft.com/office/drawing/2014/main" id="{84530F45-F7D6-4D8A-8B7F-07C845E4A46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Offline Cache – Progressive Web App – RWE Power App Plattform</a:t>
            </a:r>
            <a:endParaRPr lang="en-GB" dirty="0"/>
          </a:p>
        </p:txBody>
      </p:sp>
      <p:sp>
        <p:nvSpPr>
          <p:cNvPr id="21" name="Datum">
            <a:extLst>
              <a:ext uri="{FF2B5EF4-FFF2-40B4-BE49-F238E27FC236}">
                <a16:creationId xmlns:a16="http://schemas.microsoft.com/office/drawing/2014/main" id="{ADB50A68-F856-49F6-B8D4-49051318DA5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1D7A2A02-ADF8-454C-81E6-EE352EDB81E9}" type="datetime1">
              <a:rPr lang="de-DE" smtClean="0"/>
              <a:t>08.12.2025</a:t>
            </a:fld>
            <a:endParaRPr lang="en-GB" dirty="0"/>
          </a:p>
        </p:txBody>
      </p:sp>
      <p:sp>
        <p:nvSpPr>
          <p:cNvPr id="20" name="RWE Logo">
            <a:extLst>
              <a:ext uri="{FF2B5EF4-FFF2-40B4-BE49-F238E27FC236}">
                <a16:creationId xmlns:a16="http://schemas.microsoft.com/office/drawing/2014/main" id="{69BF31FA-F12F-48C0-8421-2E4EC1369B68}"/>
              </a:ext>
            </a:extLst>
          </p:cNvPr>
          <p:cNvSpPr>
            <a:spLocks noGrp="1" noChangeAspect="1"/>
          </p:cNvSpPr>
          <p:nvPr>
            <p:ph type="body" orient="vert" idx="13" hasCustomPrompt="1"/>
          </p:nvPr>
        </p:nvSpPr>
        <p:spPr bwMode="black">
          <a:xfrm>
            <a:off x="538164" y="4896000"/>
            <a:ext cx="216000" cy="62259"/>
          </a:xfrm>
          <a:blipFill>
            <a:blip r:embed="rId3"/>
            <a:stretch>
              <a:fillRect/>
            </a:stretch>
          </a:blipFill>
        </p:spPr>
        <p:txBody>
          <a:bodyPr vert="horz" wrap="none" tIns="504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650" b="0" i="1" u="none" strike="noStrike" spc="0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Do not remove or delete the logo</a:t>
            </a:r>
          </a:p>
        </p:txBody>
      </p:sp>
      <p:sp>
        <p:nvSpPr>
          <p:cNvPr id="19" name="Headline/Subheadline">
            <a:extLst>
              <a:ext uri="{FF2B5EF4-FFF2-40B4-BE49-F238E27FC236}">
                <a16:creationId xmlns:a16="http://schemas.microsoft.com/office/drawing/2014/main" id="{735AA7D6-6FA1-4024-9B92-D903362402D5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538163" y="358776"/>
            <a:ext cx="8062913" cy="684000"/>
          </a:xfrm>
        </p:spPr>
        <p:txBody>
          <a:bodyPr vert="horz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100" b="1" i="0" u="none" strike="noStrike" spc="0" baseline="0" smtClean="0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Headline on first level // for sub-headline </a:t>
            </a:r>
            <a:br>
              <a:rPr lang="en-GB" noProof="0"/>
            </a:br>
            <a:r>
              <a:rPr lang="en-GB" noProof="0"/>
              <a:t>&gt;&gt; Menu &gt; Home &gt; Paragraph &gt; Increase List Level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24356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3" pos="5420">
          <p15:clr>
            <a:srgbClr val="FBAE40"/>
          </p15:clr>
        </p15:guide>
        <p15:guide id="4" orient="horz" pos="22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liennummer">
            <a:extLst>
              <a:ext uri="{FF2B5EF4-FFF2-40B4-BE49-F238E27FC236}">
                <a16:creationId xmlns:a16="http://schemas.microsoft.com/office/drawing/2014/main" id="{CBF61080-EE8B-4856-8F2E-668AEDD9195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8098164" y="5292000"/>
            <a:ext cx="504000" cy="108000"/>
          </a:xfrm>
        </p:spPr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19" name="Fußzeile">
            <a:extLst>
              <a:ext uri="{FF2B5EF4-FFF2-40B4-BE49-F238E27FC236}">
                <a16:creationId xmlns:a16="http://schemas.microsoft.com/office/drawing/2014/main" id="{CDFBC812-0E95-48F4-AC3A-598F7FCCA9B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Offline Cache – Progressive Web App – RWE Power App Plattform</a:t>
            </a:r>
            <a:endParaRPr lang="en-GB"/>
          </a:p>
        </p:txBody>
      </p:sp>
      <p:sp>
        <p:nvSpPr>
          <p:cNvPr id="18" name="Datum">
            <a:extLst>
              <a:ext uri="{FF2B5EF4-FFF2-40B4-BE49-F238E27FC236}">
                <a16:creationId xmlns:a16="http://schemas.microsoft.com/office/drawing/2014/main" id="{0E08BEC4-1691-4535-AF5B-F36FD966088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5266306-78E4-4E28-9D09-780584CD6D7C}" type="datetime1">
              <a:rPr lang="de-DE" smtClean="0"/>
              <a:t>08.12.2025</a:t>
            </a:fld>
            <a:endParaRPr lang="en-GB" dirty="0"/>
          </a:p>
        </p:txBody>
      </p:sp>
      <p:sp>
        <p:nvSpPr>
          <p:cNvPr id="21" name="Quelle">
            <a:extLst>
              <a:ext uri="{FF2B5EF4-FFF2-40B4-BE49-F238E27FC236}">
                <a16:creationId xmlns:a16="http://schemas.microsoft.com/office/drawing/2014/main" id="{3AFD6C70-7EFA-4ADF-AF64-6956C0F35418}"/>
              </a:ext>
            </a:extLst>
          </p:cNvPr>
          <p:cNvSpPr>
            <a:spLocks noGrp="1"/>
          </p:cNvSpPr>
          <p:nvPr>
            <p:ph type="body" orient="vert" idx="31" hasCustomPrompt="1"/>
          </p:nvPr>
        </p:nvSpPr>
        <p:spPr>
          <a:xfrm>
            <a:off x="538164" y="4555050"/>
            <a:ext cx="3708400" cy="216000"/>
          </a:xfrm>
        </p:spPr>
        <p:txBody>
          <a:bodyPr vert="horz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0" spc="0" baseline="0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650" b="0" i="0" u="none" strike="noStrike" spc="0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Source (bold): sample source | # (superscript) sample source // no further levels</a:t>
            </a:r>
          </a:p>
        </p:txBody>
      </p:sp>
      <p:sp>
        <p:nvSpPr>
          <p:cNvPr id="11" name="Bild">
            <a:extLst>
              <a:ext uri="{FF2B5EF4-FFF2-40B4-BE49-F238E27FC236}">
                <a16:creationId xmlns:a16="http://schemas.microsoft.com/office/drawing/2014/main" id="{66414AD9-95E5-49BE-B21B-2BA334BEA2E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ltGray">
          <a:xfrm>
            <a:off x="4895851" y="0"/>
            <a:ext cx="4248150" cy="5148263"/>
          </a:xfrm>
          <a:blipFill>
            <a:blip r:embed="rId2"/>
            <a:stretch>
              <a:fillRect/>
            </a:stretch>
          </a:blipFill>
        </p:spPr>
        <p:txBody>
          <a:bodyPr anchor="ctr" anchorCtr="0"/>
          <a:lstStyle>
            <a:lvl1pPr algn="ctr">
              <a:spcBef>
                <a:spcPts val="0"/>
              </a:spcBef>
              <a:defRPr/>
            </a:lvl1pPr>
          </a:lstStyle>
          <a:p>
            <a:br>
              <a:rPr lang="en-GB"/>
            </a:br>
            <a:br>
              <a:rPr lang="en-GB"/>
            </a:br>
            <a:r>
              <a:rPr lang="en-GB"/>
              <a:t>Insert picture via menu:</a:t>
            </a:r>
            <a:br>
              <a:rPr lang="en-GB"/>
            </a:br>
            <a:r>
              <a:rPr lang="en-GB"/>
              <a:t>Insert &gt; Pictures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endParaRPr lang="en-GB"/>
          </a:p>
        </p:txBody>
      </p:sp>
      <p:sp>
        <p:nvSpPr>
          <p:cNvPr id="10" name="Energiefeld">
            <a:extLst>
              <a:ext uri="{FF2B5EF4-FFF2-40B4-BE49-F238E27FC236}">
                <a16:creationId xmlns:a16="http://schemas.microsoft.com/office/drawing/2014/main" id="{0DBB83F1-75FD-42BD-AC99-04C08D164D87}"/>
              </a:ext>
            </a:extLst>
          </p:cNvPr>
          <p:cNvSpPr>
            <a:spLocks noGrp="1" noChangeAspect="1"/>
          </p:cNvSpPr>
          <p:nvPr>
            <p:ph type="body" orient="vert" idx="18" hasCustomPrompt="1"/>
          </p:nvPr>
        </p:nvSpPr>
        <p:spPr bwMode="gray">
          <a:xfrm>
            <a:off x="5590800" y="1980263"/>
            <a:ext cx="3553200" cy="3168000"/>
          </a:xfrm>
          <a:blipFill>
            <a:blip r:embed="rId3"/>
            <a:stretch>
              <a:fillRect/>
            </a:stretch>
          </a:blipFill>
        </p:spPr>
        <p:txBody>
          <a:bodyPr vert="horz" wrap="none" tIns="324000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650" b="0" i="1" u="none" strike="noStrike" spc="0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Scale or delete the energy field if necessary (see also library for alternative versions of energy fields)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C592A5C-F234-40DA-9F31-AA6AFF552A57}"/>
              </a:ext>
            </a:extLst>
          </p:cNvPr>
          <p:cNvSpPr>
            <a:spLocks noGrp="1"/>
          </p:cNvSpPr>
          <p:nvPr>
            <p:ph type="body" orient="vert" idx="14" hasCustomPrompt="1"/>
          </p:nvPr>
        </p:nvSpPr>
        <p:spPr>
          <a:xfrm>
            <a:off x="538163" y="1438275"/>
            <a:ext cx="3708000" cy="3240000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Text for first level // for further text formats (headline, bullets and numbering) &gt;&gt; Menu &gt; Home &gt; Paragraph &gt; Increase List Level 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Sixth level</a:t>
            </a:r>
          </a:p>
          <a:p>
            <a:pPr lvl="6"/>
            <a:r>
              <a:rPr lang="en-GB" noProof="0"/>
              <a:t>Seventh level</a:t>
            </a:r>
          </a:p>
          <a:p>
            <a:pPr lvl="7"/>
            <a:r>
              <a:rPr lang="en-GB" noProof="0"/>
              <a:t>Eighth level</a:t>
            </a:r>
          </a:p>
          <a:p>
            <a:pPr lvl="8"/>
            <a:r>
              <a:rPr lang="en-GB" noProof="0"/>
              <a:t>Ninth level</a:t>
            </a:r>
          </a:p>
        </p:txBody>
      </p:sp>
      <p:sp>
        <p:nvSpPr>
          <p:cNvPr id="15" name="Headline/Subheadline">
            <a:extLst>
              <a:ext uri="{FF2B5EF4-FFF2-40B4-BE49-F238E27FC236}">
                <a16:creationId xmlns:a16="http://schemas.microsoft.com/office/drawing/2014/main" id="{B5C40E0B-0C14-4D0C-BBA2-4EF43A35C51F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538164" y="358776"/>
            <a:ext cx="3708000" cy="684000"/>
          </a:xfrm>
        </p:spPr>
        <p:txBody>
          <a:bodyPr vert="horz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100" b="1" i="0" u="none" strike="noStrike" spc="0" baseline="0" smtClean="0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Headline // for sub-headline </a:t>
            </a:r>
            <a:br>
              <a:rPr lang="en-GB" noProof="0"/>
            </a:br>
            <a:r>
              <a:rPr lang="en-GB" noProof="0"/>
              <a:t>&gt;&gt; Increase List Level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23084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906">
          <p15:clr>
            <a:srgbClr val="FBAE40"/>
          </p15:clr>
        </p15:guide>
        <p15:guide id="3" pos="3084" userDrawn="1">
          <p15:clr>
            <a:srgbClr val="FBAE40"/>
          </p15:clr>
        </p15:guide>
        <p15:guide id="4" orient="horz" pos="227" userDrawn="1">
          <p15:clr>
            <a:srgbClr val="FBAE40"/>
          </p15:clr>
        </p15:guide>
        <p15:guide id="6" orient="horz" pos="2948">
          <p15:clr>
            <a:srgbClr val="FBAE40"/>
          </p15:clr>
        </p15:guide>
        <p15:guide id="7" pos="2675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30D98435-7333-4168-9B3B-A4A32367B7E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B8DB5D05-E9FF-48F5-B751-517CA2BB451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Offline Cache – Progressive Web App – RWE Power App Plattform</a:t>
            </a:r>
            <a:endParaRPr lang="en-GB"/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3EA98F35-BD21-4056-9200-8AAD385C5E68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2EBD308-C471-405A-8E34-444E6B2A7C4D}" type="datetime1">
              <a:rPr lang="de-DE" smtClean="0"/>
              <a:t>08.12.2025</a:t>
            </a:fld>
            <a:endParaRPr lang="en-GB" dirty="0"/>
          </a:p>
        </p:txBody>
      </p:sp>
      <p:sp>
        <p:nvSpPr>
          <p:cNvPr id="11" name="Bild">
            <a:extLst>
              <a:ext uri="{FF2B5EF4-FFF2-40B4-BE49-F238E27FC236}">
                <a16:creationId xmlns:a16="http://schemas.microsoft.com/office/drawing/2014/main" id="{66414AD9-95E5-49BE-B21B-2BA334BEA2E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ltGray">
          <a:xfrm>
            <a:off x="0" y="0"/>
            <a:ext cx="9144001" cy="3562349"/>
          </a:xfrm>
          <a:solidFill>
            <a:srgbClr val="C2C3C5"/>
          </a:solidFill>
        </p:spPr>
        <p:txBody>
          <a:bodyPr anchor="ctr" anchorCtr="0"/>
          <a:lstStyle>
            <a:lvl1pPr algn="ctr">
              <a:spcBef>
                <a:spcPts val="0"/>
              </a:spcBef>
              <a:defRPr/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picture</a:t>
            </a:r>
          </a:p>
        </p:txBody>
      </p:sp>
      <p:sp>
        <p:nvSpPr>
          <p:cNvPr id="9" name="Energiefeld">
            <a:extLst>
              <a:ext uri="{FF2B5EF4-FFF2-40B4-BE49-F238E27FC236}">
                <a16:creationId xmlns:a16="http://schemas.microsoft.com/office/drawing/2014/main" id="{4A6B7F0B-DAA5-4BFC-B93D-0EFDDDC52D4F}"/>
              </a:ext>
            </a:extLst>
          </p:cNvPr>
          <p:cNvSpPr>
            <a:spLocks noGrp="1" noChangeAspect="1"/>
          </p:cNvSpPr>
          <p:nvPr>
            <p:ph type="body" orient="vert" idx="18" hasCustomPrompt="1"/>
          </p:nvPr>
        </p:nvSpPr>
        <p:spPr bwMode="gray">
          <a:xfrm rot="10800000" flipH="1" flipV="1">
            <a:off x="5475600" y="1"/>
            <a:ext cx="3668400" cy="3276000"/>
          </a:xfrm>
          <a:blipFill>
            <a:blip r:embed="rId2"/>
            <a:stretch>
              <a:fillRect/>
            </a:stretch>
          </a:blipFill>
        </p:spPr>
        <p:txBody>
          <a:bodyPr vert="horz" wrap="none" tIns="0" rIns="0" bIns="334800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650" b="0" i="1" u="none" strike="noStrike" spc="0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Scale or delete the energy field if necessary (see also library for alternative versions of energy fields)</a:t>
            </a:r>
          </a:p>
        </p:txBody>
      </p:sp>
      <p:sp>
        <p:nvSpPr>
          <p:cNvPr id="15" name="Headline/Subheadline">
            <a:extLst>
              <a:ext uri="{FF2B5EF4-FFF2-40B4-BE49-F238E27FC236}">
                <a16:creationId xmlns:a16="http://schemas.microsoft.com/office/drawing/2014/main" id="{5DBAFF06-A623-4308-9DAB-FC743FAF4355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538163" y="3870325"/>
            <a:ext cx="8062913" cy="684000"/>
          </a:xfrm>
        </p:spPr>
        <p:txBody>
          <a:bodyPr vert="horz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100" b="1" i="0" u="none" strike="noStrike" spc="0" baseline="0" smtClean="0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Headline on first level // for sub-headline </a:t>
            </a:r>
            <a:br>
              <a:rPr lang="en-GB" noProof="0"/>
            </a:br>
            <a:r>
              <a:rPr lang="en-GB" noProof="0"/>
              <a:t>&gt;&gt; Menu &gt; Home &gt; Paragraph &gt; Increase List Level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63964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2244" userDrawn="1">
          <p15:clr>
            <a:srgbClr val="FBAE40"/>
          </p15:clr>
        </p15:guide>
        <p15:guide id="5" orient="horz" pos="2438" userDrawn="1">
          <p15:clr>
            <a:srgbClr val="FBAE40"/>
          </p15:clr>
        </p15:guide>
        <p15:guide id="6" orient="horz" pos="2948">
          <p15:clr>
            <a:srgbClr val="FBAE40"/>
          </p15:clr>
        </p15:guide>
        <p15:guide id="8" pos="542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headline on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Verlauf" descr="Ein Bild, das draußen, Himmel enthält.&#10;&#10;Automatisch generierte Beschreibung">
            <a:extLst>
              <a:ext uri="{FF2B5EF4-FFF2-40B4-BE49-F238E27FC236}">
                <a16:creationId xmlns:a16="http://schemas.microsoft.com/office/drawing/2014/main" id="{B5D91265-95CE-4F98-8DE7-0CF3F1DF65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69139"/>
          <a:stretch>
            <a:fillRect/>
          </a:stretch>
        </p:blipFill>
        <p:spPr bwMode="white">
          <a:xfrm>
            <a:off x="0" y="3562351"/>
            <a:ext cx="9144000" cy="1585913"/>
          </a:xfrm>
          <a:custGeom>
            <a:avLst/>
            <a:gdLst>
              <a:gd name="connsiteX0" fmla="*/ 0 w 9144000"/>
              <a:gd name="connsiteY0" fmla="*/ 0 h 1585913"/>
              <a:gd name="connsiteX1" fmla="*/ 9144000 w 9144000"/>
              <a:gd name="connsiteY1" fmla="*/ 0 h 1585913"/>
              <a:gd name="connsiteX2" fmla="*/ 9144000 w 9144000"/>
              <a:gd name="connsiteY2" fmla="*/ 1585913 h 1585913"/>
              <a:gd name="connsiteX3" fmla="*/ 0 w 9144000"/>
              <a:gd name="connsiteY3" fmla="*/ 1585913 h 158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0" h="1585913">
                <a:moveTo>
                  <a:pt x="0" y="0"/>
                </a:moveTo>
                <a:lnTo>
                  <a:pt x="9144000" y="0"/>
                </a:lnTo>
                <a:lnTo>
                  <a:pt x="9144000" y="1585913"/>
                </a:lnTo>
                <a:lnTo>
                  <a:pt x="0" y="1585913"/>
                </a:lnTo>
                <a:close/>
              </a:path>
            </a:pathLst>
          </a:cu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30D98435-7333-4168-9B3B-A4A32367B7E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B8DB5D05-E9FF-48F5-B751-517CA2BB451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Offline Cache – Progressive Web App – RWE Power App Plattform</a:t>
            </a:r>
            <a:endParaRPr lang="en-GB" dirty="0"/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3EA98F35-BD21-4056-9200-8AAD385C5E68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9C17C0-7735-44C1-89A5-1F54402F9617}" type="datetime1">
              <a:rPr lang="de-DE" smtClean="0"/>
              <a:t>08.12.2025</a:t>
            </a:fld>
            <a:endParaRPr lang="en-GB"/>
          </a:p>
        </p:txBody>
      </p:sp>
      <p:pic>
        <p:nvPicPr>
          <p:cNvPr id="10" name="RWE Logo">
            <a:extLst>
              <a:ext uri="{FF2B5EF4-FFF2-40B4-BE49-F238E27FC236}">
                <a16:creationId xmlns:a16="http://schemas.microsoft.com/office/drawing/2014/main" id="{2B71567C-2A9D-4345-9035-225BECA580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 bwMode="black">
          <a:xfrm>
            <a:off x="538164" y="4896000"/>
            <a:ext cx="215999" cy="62177"/>
          </a:xfrm>
          <a:prstGeom prst="rect">
            <a:avLst/>
          </a:prstGeom>
        </p:spPr>
      </p:pic>
      <p:sp>
        <p:nvSpPr>
          <p:cNvPr id="11" name="Bild">
            <a:extLst>
              <a:ext uri="{FF2B5EF4-FFF2-40B4-BE49-F238E27FC236}">
                <a16:creationId xmlns:a16="http://schemas.microsoft.com/office/drawing/2014/main" id="{66414AD9-95E5-49BE-B21B-2BA334BEA2E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ltGray">
          <a:xfrm>
            <a:off x="0" y="0"/>
            <a:ext cx="9144001" cy="3562349"/>
          </a:xfrm>
          <a:blipFill>
            <a:blip r:embed="rId4"/>
            <a:stretch>
              <a:fillRect/>
            </a:stretch>
          </a:blipFill>
        </p:spPr>
        <p:txBody>
          <a:bodyPr anchor="ctr" anchorCtr="0"/>
          <a:lstStyle>
            <a:lvl1pPr algn="ctr">
              <a:spcBef>
                <a:spcPts val="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picture</a:t>
            </a:r>
          </a:p>
        </p:txBody>
      </p:sp>
      <p:sp>
        <p:nvSpPr>
          <p:cNvPr id="14" name="Energiefeld">
            <a:extLst>
              <a:ext uri="{FF2B5EF4-FFF2-40B4-BE49-F238E27FC236}">
                <a16:creationId xmlns:a16="http://schemas.microsoft.com/office/drawing/2014/main" id="{F4DB3C0F-A432-469D-8323-31A1B9155D2B}"/>
              </a:ext>
            </a:extLst>
          </p:cNvPr>
          <p:cNvSpPr>
            <a:spLocks noGrp="1" noChangeAspect="1"/>
          </p:cNvSpPr>
          <p:nvPr>
            <p:ph type="body" orient="vert" idx="18" hasCustomPrompt="1"/>
          </p:nvPr>
        </p:nvSpPr>
        <p:spPr bwMode="gray">
          <a:xfrm rot="10800000" flipH="1" flipV="1">
            <a:off x="5475600" y="1"/>
            <a:ext cx="3668400" cy="3276000"/>
          </a:xfrm>
          <a:blipFill>
            <a:blip r:embed="rId5"/>
            <a:stretch>
              <a:fillRect/>
            </a:stretch>
          </a:blipFill>
        </p:spPr>
        <p:txBody>
          <a:bodyPr vert="horz" wrap="none" tIns="0" rIns="0" bIns="334800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50" b="0" i="1" spc="0" baseline="0">
                <a:solidFill>
                  <a:schemeClr val="accent2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650" b="0" i="1" u="none" strike="noStrike" spc="0" baseline="0" smtClean="0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Scale or delete the energy field if necessary (see also library for alternative versions of energy fields)</a:t>
            </a:r>
          </a:p>
        </p:txBody>
      </p:sp>
      <p:sp>
        <p:nvSpPr>
          <p:cNvPr id="13" name="Headline/Subheadline">
            <a:extLst>
              <a:ext uri="{FF2B5EF4-FFF2-40B4-BE49-F238E27FC236}">
                <a16:creationId xmlns:a16="http://schemas.microsoft.com/office/drawing/2014/main" id="{9C2C8554-CAC6-4424-92DE-17330745540B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538163" y="3870325"/>
            <a:ext cx="8062913" cy="684000"/>
          </a:xfrm>
        </p:spPr>
        <p:txBody>
          <a:bodyPr vert="horz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rgbClr val="3ED8C3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rgbClr val="3ED8C3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rgbClr val="3ED8C3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rgbClr val="3ED8C3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rgbClr val="3ED8C3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rgbClr val="3ED8C3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rgbClr val="3ED8C3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100" b="1" i="0" u="none" strike="noStrike" spc="0" baseline="0" smtClean="0">
                <a:solidFill>
                  <a:srgbClr val="3ED8C3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Headline on first level // for sub-headline </a:t>
            </a:r>
            <a:br>
              <a:rPr lang="en-GB" noProof="0"/>
            </a:br>
            <a:r>
              <a:rPr lang="en-GB" noProof="0"/>
              <a:t>&gt;&gt; Menu &gt; Home &gt; Paragraph &gt; Increase List Level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92355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2244">
          <p15:clr>
            <a:srgbClr val="FBAE40"/>
          </p15:clr>
        </p15:guide>
        <p15:guide id="5" orient="horz" pos="2438">
          <p15:clr>
            <a:srgbClr val="FBAE40"/>
          </p15:clr>
        </p15:guide>
        <p15:guide id="6" orient="horz" pos="2948">
          <p15:clr>
            <a:srgbClr val="FBAE40"/>
          </p15:clr>
        </p15:guide>
        <p15:guide id="8" pos="54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liennummer">
            <a:extLst>
              <a:ext uri="{FF2B5EF4-FFF2-40B4-BE49-F238E27FC236}">
                <a16:creationId xmlns:a16="http://schemas.microsoft.com/office/drawing/2014/main" id="{8DAC3660-541C-4C9B-83E3-2BD42F14D84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20" name="Fußzeile">
            <a:extLst>
              <a:ext uri="{FF2B5EF4-FFF2-40B4-BE49-F238E27FC236}">
                <a16:creationId xmlns:a16="http://schemas.microsoft.com/office/drawing/2014/main" id="{1959E3E2-D9D0-4BB6-96E3-37F3C5716A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Offline Cache – Progressive Web App – RWE Power App Plattform</a:t>
            </a:r>
            <a:endParaRPr lang="en-GB" dirty="0"/>
          </a:p>
        </p:txBody>
      </p:sp>
      <p:sp>
        <p:nvSpPr>
          <p:cNvPr id="19" name="Datum">
            <a:extLst>
              <a:ext uri="{FF2B5EF4-FFF2-40B4-BE49-F238E27FC236}">
                <a16:creationId xmlns:a16="http://schemas.microsoft.com/office/drawing/2014/main" id="{4C35431B-46E5-463B-8616-1A72D20BDE3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D1EE436-9E9E-4B8F-91B4-CC05FB7BCD55}" type="datetime1">
              <a:rPr lang="de-DE" smtClean="0"/>
              <a:t>08.12.2025</a:t>
            </a:fld>
            <a:endParaRPr lang="en-GB"/>
          </a:p>
        </p:txBody>
      </p:sp>
      <p:sp>
        <p:nvSpPr>
          <p:cNvPr id="18" name="Headline/Subheadline">
            <a:extLst>
              <a:ext uri="{FF2B5EF4-FFF2-40B4-BE49-F238E27FC236}">
                <a16:creationId xmlns:a16="http://schemas.microsoft.com/office/drawing/2014/main" id="{C8D30344-0D2E-4742-B142-25ACD567158F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538163" y="358776"/>
            <a:ext cx="8062913" cy="684000"/>
          </a:xfrm>
        </p:spPr>
        <p:txBody>
          <a:bodyPr vert="horz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100" b="1" spc="0" baseline="0">
                <a:solidFill>
                  <a:schemeClr val="accent5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100" b="1" i="0" u="none" strike="noStrike" spc="0" baseline="0" smtClean="0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Headline on first level // for sub-headline </a:t>
            </a:r>
            <a:br>
              <a:rPr lang="en-GB" noProof="0"/>
            </a:br>
            <a:r>
              <a:rPr lang="en-GB" noProof="0"/>
              <a:t>&gt;&gt; Menu &gt; Home &gt; Paragraph &gt; Increase List Level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46481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906">
          <p15:clr>
            <a:srgbClr val="FBAE40"/>
          </p15:clr>
        </p15:guide>
        <p15:guide id="3" pos="5420" userDrawn="1">
          <p15:clr>
            <a:srgbClr val="FBAE40"/>
          </p15:clr>
        </p15:guide>
        <p15:guide id="4" orient="horz" pos="227" userDrawn="1">
          <p15:clr>
            <a:srgbClr val="FBAE40"/>
          </p15:clr>
        </p15:guide>
        <p15:guide id="6" orient="horz" pos="294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liennummer">
            <a:extLst>
              <a:ext uri="{FF2B5EF4-FFF2-40B4-BE49-F238E27FC236}">
                <a16:creationId xmlns:a16="http://schemas.microsoft.com/office/drawing/2014/main" id="{9B2C4D49-6F38-4ECB-9E75-57E57D3B5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98164" y="5292000"/>
            <a:ext cx="504000" cy="108000"/>
          </a:xfrm>
        </p:spPr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‹Nr.›</a:t>
            </a:fld>
            <a:endParaRPr lang="en-GB"/>
          </a:p>
        </p:txBody>
      </p:sp>
      <p:sp>
        <p:nvSpPr>
          <p:cNvPr id="24" name="Fußzeile">
            <a:extLst>
              <a:ext uri="{FF2B5EF4-FFF2-40B4-BE49-F238E27FC236}">
                <a16:creationId xmlns:a16="http://schemas.microsoft.com/office/drawing/2014/main" id="{A1389A58-6552-4EF2-BE6F-06FAFB518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0" y="5292000"/>
            <a:ext cx="6588000" cy="108000"/>
          </a:xfrm>
        </p:spPr>
        <p:txBody>
          <a:bodyPr/>
          <a:lstStyle/>
          <a:p>
            <a:r>
              <a:rPr lang="en-US"/>
              <a:t>Offline Cache – Progressive Web App – RWE Power App Plattform</a:t>
            </a:r>
            <a:endParaRPr lang="en-GB"/>
          </a:p>
        </p:txBody>
      </p:sp>
      <p:sp>
        <p:nvSpPr>
          <p:cNvPr id="22" name="Datum">
            <a:extLst>
              <a:ext uri="{FF2B5EF4-FFF2-40B4-BE49-F238E27FC236}">
                <a16:creationId xmlns:a16="http://schemas.microsoft.com/office/drawing/2014/main" id="{2290958C-32EF-4D49-8E21-A1C07110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3999" y="5292000"/>
            <a:ext cx="504000" cy="108000"/>
          </a:xfrm>
        </p:spPr>
        <p:txBody>
          <a:bodyPr/>
          <a:lstStyle/>
          <a:p>
            <a:fld id="{DE74DF4C-D3DF-492C-BEA6-57CC1C96FBE0}" type="datetime1">
              <a:rPr lang="de-DE" smtClean="0"/>
              <a:t>08.12.2025</a:t>
            </a:fld>
            <a:endParaRPr lang="en-GB"/>
          </a:p>
        </p:txBody>
      </p:sp>
      <p:pic>
        <p:nvPicPr>
          <p:cNvPr id="12" name="Energiefeld">
            <a:extLst>
              <a:ext uri="{FF2B5EF4-FFF2-40B4-BE49-F238E27FC236}">
                <a16:creationId xmlns:a16="http://schemas.microsoft.com/office/drawing/2014/main" id="{16BD3CE1-BE51-4D71-99C6-18F96DC18C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92173" y="1980263"/>
            <a:ext cx="3551827" cy="3168000"/>
          </a:xfrm>
          <a:prstGeom prst="rect">
            <a:avLst/>
          </a:prstGeom>
        </p:spPr>
      </p:pic>
      <p:pic>
        <p:nvPicPr>
          <p:cNvPr id="23" name="RWE Logo">
            <a:extLst>
              <a:ext uri="{FF2B5EF4-FFF2-40B4-BE49-F238E27FC236}">
                <a16:creationId xmlns:a16="http://schemas.microsoft.com/office/drawing/2014/main" id="{55386AFA-5C87-4DD0-90DA-C27B4195EAE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942000" y="288000"/>
            <a:ext cx="1260000" cy="360000"/>
          </a:xfrm>
          <a:prstGeom prst="rect">
            <a:avLst/>
          </a:prstGeom>
        </p:spPr>
      </p:pic>
      <p:sp>
        <p:nvSpPr>
          <p:cNvPr id="26" name="Schlussklausel">
            <a:extLst>
              <a:ext uri="{FF2B5EF4-FFF2-40B4-BE49-F238E27FC236}">
                <a16:creationId xmlns:a16="http://schemas.microsoft.com/office/drawing/2014/main" id="{0A25A435-B50F-4148-A2AE-DB73D1CDD289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538163" y="2160589"/>
            <a:ext cx="8062913" cy="2519361"/>
          </a:xfrm>
        </p:spPr>
        <p:txBody>
          <a:bodyPr vert="horz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spc="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  <a:defRPr sz="1800" b="1" spc="0" baseline="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000"/>
              </a:spcBef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spc="0" baseline="0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1200" b="0" i="0" u="none" strike="noStrike" spc="0" baseline="0" smtClean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Closing words</a:t>
            </a:r>
          </a:p>
        </p:txBody>
      </p:sp>
    </p:spTree>
    <p:extLst>
      <p:ext uri="{BB962C8B-B14F-4D97-AF65-F5344CB8AC3E}">
        <p14:creationId xmlns:p14="http://schemas.microsoft.com/office/powerpoint/2010/main" val="1688554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pos="5420">
          <p15:clr>
            <a:srgbClr val="FBAE40"/>
          </p15:clr>
        </p15:guide>
        <p15:guide id="3" orient="horz" pos="1361">
          <p15:clr>
            <a:srgbClr val="FBAE40"/>
          </p15:clr>
        </p15:guide>
        <p15:guide id="4" orient="horz" pos="1814">
          <p15:clr>
            <a:srgbClr val="FBAE40"/>
          </p15:clr>
        </p15:guide>
        <p15:guide id="5" pos="4263">
          <p15:clr>
            <a:srgbClr val="FBAE40"/>
          </p15:clr>
        </p15:guide>
        <p15:guide id="6" orient="horz" pos="29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Relationship Id="rId2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Regieanweisungen">
            <a:extLst>
              <a:ext uri="{FF2B5EF4-FFF2-40B4-BE49-F238E27FC236}">
                <a16:creationId xmlns:a16="http://schemas.microsoft.com/office/drawing/2014/main" id="{654C22F0-6ED9-4767-A729-889012F8F81C}"/>
              </a:ext>
            </a:extLst>
          </p:cNvPr>
          <p:cNvGrpSpPr/>
          <p:nvPr userDrawn="1"/>
        </p:nvGrpSpPr>
        <p:grpSpPr>
          <a:xfrm>
            <a:off x="-1404000" y="-396000"/>
            <a:ext cx="11520000" cy="6012000"/>
            <a:chOff x="-1404000" y="-396000"/>
            <a:chExt cx="11520000" cy="6012000"/>
          </a:xfrm>
        </p:grpSpPr>
        <p:sp>
          <p:nvSpPr>
            <p:cNvPr id="32" name="Hilfslinien">
              <a:extLst>
                <a:ext uri="{FF2B5EF4-FFF2-40B4-BE49-F238E27FC236}">
                  <a16:creationId xmlns:a16="http://schemas.microsoft.com/office/drawing/2014/main" id="{001712D2-3B03-4BAE-B38E-B2B213A405A3}"/>
                </a:ext>
              </a:extLst>
            </p:cNvPr>
            <p:cNvSpPr txBox="1"/>
            <p:nvPr userDrawn="1"/>
          </p:nvSpPr>
          <p:spPr>
            <a:xfrm rot="10800000" flipH="1" flipV="1">
              <a:off x="538164" y="-396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To display guides, tick </a:t>
              </a:r>
              <a:r>
                <a:rPr kumimoji="0" lang="en-GB" sz="8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Guides</a:t>
              </a:r>
              <a:r>
                <a:rPr kumimoji="0" lang="en-GB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in </a:t>
              </a:r>
              <a:r>
                <a:rPr kumimoji="0" lang="en-GB" sz="8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View</a:t>
              </a:r>
            </a:p>
          </p:txBody>
        </p:sp>
        <p:sp>
          <p:nvSpPr>
            <p:cNvPr id="33" name="Zurücksetzen">
              <a:extLst>
                <a:ext uri="{FF2B5EF4-FFF2-40B4-BE49-F238E27FC236}">
                  <a16:creationId xmlns:a16="http://schemas.microsoft.com/office/drawing/2014/main" id="{66CA7B80-70B4-4D8B-A05D-752551C0C037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0"/>
              <a:ext cx="864000" cy="64627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800" b="0" baseline="0">
                  <a:solidFill>
                    <a:schemeClr val="accent2"/>
                  </a:solidFill>
                  <a:latin typeface="+mn-lt"/>
                </a:rPr>
                <a:t>To reset the slide to its original form, select </a:t>
              </a:r>
              <a:r>
                <a:rPr lang="en-GB" sz="800" b="1" baseline="0">
                  <a:solidFill>
                    <a:schemeClr val="accent2"/>
                  </a:solidFill>
                  <a:latin typeface="+mn-lt"/>
                </a:rPr>
                <a:t>Home &gt; Slides &gt; Reset</a:t>
              </a:r>
            </a:p>
          </p:txBody>
        </p:sp>
        <p:sp>
          <p:nvSpPr>
            <p:cNvPr id="34" name="Layoutwechsel">
              <a:extLst>
                <a:ext uri="{FF2B5EF4-FFF2-40B4-BE49-F238E27FC236}">
                  <a16:creationId xmlns:a16="http://schemas.microsoft.com/office/drawing/2014/main" id="{83CCCB44-06CF-4EAF-A753-EE137134EDF8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692828"/>
              <a:ext cx="864000" cy="61027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800" b="0" baseline="0">
                  <a:solidFill>
                    <a:schemeClr val="accent2"/>
                  </a:solidFill>
                  <a:latin typeface="+mn-lt"/>
                </a:rPr>
                <a:t>To change the layout, select </a:t>
              </a:r>
              <a:r>
                <a:rPr lang="en-GB" sz="800" b="1" baseline="0">
                  <a:solidFill>
                    <a:schemeClr val="accent2"/>
                  </a:solidFill>
                  <a:latin typeface="+mn-lt"/>
                </a:rPr>
                <a:t>Home &gt; Slides &gt; Layout</a:t>
              </a:r>
            </a:p>
          </p:txBody>
        </p:sp>
        <p:sp>
          <p:nvSpPr>
            <p:cNvPr id="35" name="Fußzeile">
              <a:extLst>
                <a:ext uri="{FF2B5EF4-FFF2-40B4-BE49-F238E27FC236}">
                  <a16:creationId xmlns:a16="http://schemas.microsoft.com/office/drawing/2014/main" id="{11C0AB6C-2D27-4CBD-96D4-17AFF48F33C3}"/>
                </a:ext>
              </a:extLst>
            </p:cNvPr>
            <p:cNvSpPr txBox="1"/>
            <p:nvPr userDrawn="1"/>
          </p:nvSpPr>
          <p:spPr>
            <a:xfrm rot="10800000" flipH="1" flipV="1">
              <a:off x="538163" y="5436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800" b="0" baseline="0">
                  <a:solidFill>
                    <a:schemeClr val="accent2"/>
                  </a:solidFill>
                  <a:latin typeface="+mn-lt"/>
                </a:rPr>
                <a:t>Adjust footer/date via menu: </a:t>
              </a:r>
              <a:r>
                <a:rPr lang="en-GB" sz="800" b="1" baseline="0">
                  <a:solidFill>
                    <a:schemeClr val="accent2"/>
                  </a:solidFill>
                  <a:latin typeface="+mn-lt"/>
                </a:rPr>
                <a:t>Insert &gt; Header &amp; Footer</a:t>
              </a:r>
            </a:p>
          </p:txBody>
        </p:sp>
        <p:grpSp>
          <p:nvGrpSpPr>
            <p:cNvPr id="36" name="Listenebenen">
              <a:extLst>
                <a:ext uri="{FF2B5EF4-FFF2-40B4-BE49-F238E27FC236}">
                  <a16:creationId xmlns:a16="http://schemas.microsoft.com/office/drawing/2014/main" id="{FAA0360A-CF32-49FA-9CF8-203A8209EBAB}"/>
                </a:ext>
              </a:extLst>
            </p:cNvPr>
            <p:cNvGrpSpPr/>
            <p:nvPr userDrawn="1"/>
          </p:nvGrpSpPr>
          <p:grpSpPr>
            <a:xfrm>
              <a:off x="-1404000" y="479268"/>
              <a:ext cx="1300321" cy="2107912"/>
              <a:chOff x="-1404000" y="479268"/>
              <a:chExt cx="1300321" cy="2107912"/>
            </a:xfrm>
          </p:grpSpPr>
          <p:sp>
            <p:nvSpPr>
              <p:cNvPr id="38" name="Text // Listenebene erhöhen">
                <a:extLst>
                  <a:ext uri="{FF2B5EF4-FFF2-40B4-BE49-F238E27FC236}">
                    <a16:creationId xmlns:a16="http://schemas.microsoft.com/office/drawing/2014/main" id="{64A4FDC6-E70F-4342-814F-D96B8E8D8AA3}"/>
                  </a:ext>
                </a:extLst>
              </p:cNvPr>
              <p:cNvSpPr txBox="1"/>
              <p:nvPr userDrawn="1"/>
            </p:nvSpPr>
            <p:spPr>
              <a:xfrm>
                <a:off x="-1404000" y="1186275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0" i="0" baseline="0">
                    <a:solidFill>
                      <a:schemeClr val="accent2"/>
                    </a:solidFill>
                    <a:latin typeface="+mn-lt"/>
                  </a:rPr>
                  <a:t>Increase </a:t>
                </a:r>
                <a:br>
                  <a:rPr lang="en-GB" sz="800" b="0" i="0" baseline="0">
                    <a:solidFill>
                      <a:schemeClr val="accent2"/>
                    </a:solidFill>
                    <a:latin typeface="+mn-lt"/>
                  </a:rPr>
                </a:br>
                <a:r>
                  <a:rPr lang="en-GB" sz="800" b="0" i="0" baseline="0">
                    <a:solidFill>
                      <a:schemeClr val="accent2"/>
                    </a:solidFill>
                    <a:latin typeface="+mn-lt"/>
                  </a:rPr>
                  <a:t>List Level</a:t>
                </a:r>
              </a:p>
            </p:txBody>
          </p:sp>
          <p:sp>
            <p:nvSpPr>
              <p:cNvPr id="39" name="Text // Listenebene verringern">
                <a:extLst>
                  <a:ext uri="{FF2B5EF4-FFF2-40B4-BE49-F238E27FC236}">
                    <a16:creationId xmlns:a16="http://schemas.microsoft.com/office/drawing/2014/main" id="{14E0BD84-B01A-4AC5-BA5C-6E2B68AB78BE}"/>
                  </a:ext>
                </a:extLst>
              </p:cNvPr>
              <p:cNvSpPr txBox="1"/>
              <p:nvPr userDrawn="1"/>
            </p:nvSpPr>
            <p:spPr>
              <a:xfrm>
                <a:off x="-1404000" y="15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0" i="0" baseline="0">
                    <a:solidFill>
                      <a:schemeClr val="accent2"/>
                    </a:solidFill>
                    <a:latin typeface="+mn-lt"/>
                  </a:rPr>
                  <a:t>Decrease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0" i="0" baseline="0">
                    <a:solidFill>
                      <a:schemeClr val="accent2"/>
                    </a:solidFill>
                    <a:latin typeface="+mn-lt"/>
                  </a:rPr>
                  <a:t>List Level</a:t>
                </a:r>
              </a:p>
            </p:txBody>
          </p:sp>
          <p:sp>
            <p:nvSpPr>
              <p:cNvPr id="40" name="Listenebenen">
                <a:extLst>
                  <a:ext uri="{FF2B5EF4-FFF2-40B4-BE49-F238E27FC236}">
                    <a16:creationId xmlns:a16="http://schemas.microsoft.com/office/drawing/2014/main" id="{32902280-8A68-4493-85DF-16D858831C60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479268"/>
                <a:ext cx="1080000" cy="64627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0" baseline="0">
                    <a:solidFill>
                      <a:schemeClr val="accent2"/>
                    </a:solidFill>
                    <a:latin typeface="+mn-lt"/>
                  </a:rPr>
                  <a:t>To change the</a:t>
                </a:r>
                <a:br>
                  <a:rPr lang="en-GB" sz="800" b="0" baseline="0">
                    <a:solidFill>
                      <a:schemeClr val="accent2"/>
                    </a:solidFill>
                    <a:latin typeface="+mn-lt"/>
                  </a:rPr>
                </a:br>
                <a:r>
                  <a:rPr lang="en-GB" sz="800" b="0" baseline="0">
                    <a:solidFill>
                      <a:schemeClr val="accent2"/>
                    </a:solidFill>
                    <a:latin typeface="+mn-lt"/>
                  </a:rPr>
                  <a:t>text level, select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1" baseline="0">
                    <a:solidFill>
                      <a:schemeClr val="accent2"/>
                    </a:solidFill>
                    <a:latin typeface="+mn-lt"/>
                  </a:rPr>
                  <a:t>Home &gt; Paragraph </a:t>
                </a:r>
                <a:br>
                  <a:rPr lang="en-GB" sz="800" b="1" baseline="0">
                    <a:solidFill>
                      <a:schemeClr val="accent2"/>
                    </a:solidFill>
                    <a:latin typeface="+mn-lt"/>
                  </a:rPr>
                </a:br>
                <a:r>
                  <a:rPr lang="en-GB" sz="800" b="1" baseline="0">
                    <a:solidFill>
                      <a:schemeClr val="accent2"/>
                    </a:solidFill>
                    <a:latin typeface="+mn-lt"/>
                  </a:rPr>
                  <a:t>&gt; Increase/Decrease List Level</a:t>
                </a:r>
              </a:p>
            </p:txBody>
          </p:sp>
          <p:pic>
            <p:nvPicPr>
              <p:cNvPr id="41" name="Bild // Listenebene erhöhen">
                <a:extLst>
                  <a:ext uri="{FF2B5EF4-FFF2-40B4-BE49-F238E27FC236}">
                    <a16:creationId xmlns:a16="http://schemas.microsoft.com/office/drawing/2014/main" id="{4BE405A0-0E46-42DD-9424-C2D8EF1A5D8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4"/>
              <a:stretch>
                <a:fillRect/>
              </a:stretch>
            </p:blipFill>
            <p:spPr>
              <a:xfrm>
                <a:off x="-648001" y="1186275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42" name="Bild // Listenebene verringern">
                <a:extLst>
                  <a:ext uri="{FF2B5EF4-FFF2-40B4-BE49-F238E27FC236}">
                    <a16:creationId xmlns:a16="http://schemas.microsoft.com/office/drawing/2014/main" id="{4D45DF8C-60DD-4251-86C1-2A46870D2B7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5"/>
              <a:stretch>
                <a:fillRect/>
              </a:stretch>
            </p:blipFill>
            <p:spPr>
              <a:xfrm>
                <a:off x="-647999" y="151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43" name="Bild // Aufzählungszeichen etc.">
                <a:extLst>
                  <a:ext uri="{FF2B5EF4-FFF2-40B4-BE49-F238E27FC236}">
                    <a16:creationId xmlns:a16="http://schemas.microsoft.com/office/drawing/2014/main" id="{D137885E-DEBE-43C4-8AF5-1AE90E26EBF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6"/>
              <a:stretch>
                <a:fillRect/>
              </a:stretch>
            </p:blipFill>
            <p:spPr>
              <a:xfrm>
                <a:off x="-867672" y="2341725"/>
                <a:ext cx="756000" cy="245455"/>
              </a:xfrm>
              <a:prstGeom prst="rect">
                <a:avLst/>
              </a:prstGeom>
            </p:spPr>
          </p:pic>
          <p:sp>
            <p:nvSpPr>
              <p:cNvPr id="44" name="Aufzählungszeichen etc.">
                <a:extLst>
                  <a:ext uri="{FF2B5EF4-FFF2-40B4-BE49-F238E27FC236}">
                    <a16:creationId xmlns:a16="http://schemas.microsoft.com/office/drawing/2014/main" id="{A6DF23DC-7109-4AC2-8E1A-3DEFD656E998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404000" y="1944000"/>
                <a:ext cx="1296000" cy="39772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0" baseline="0">
                    <a:solidFill>
                      <a:schemeClr val="accent2"/>
                    </a:solidFill>
                    <a:latin typeface="+mn-lt"/>
                  </a:rPr>
                  <a:t>Do not use the standard bullets and numbering function &gt; </a:t>
                </a:r>
                <a:r>
                  <a:rPr lang="en-GB" sz="800" b="1" baseline="0">
                    <a:solidFill>
                      <a:schemeClr val="accent2"/>
                    </a:solidFill>
                    <a:latin typeface="+mn-lt"/>
                  </a:rPr>
                  <a:t>List levels only</a:t>
                </a:r>
              </a:p>
            </p:txBody>
          </p:sp>
          <p:cxnSp>
            <p:nvCxnSpPr>
              <p:cNvPr id="45" name="Linie">
                <a:extLst>
                  <a:ext uri="{FF2B5EF4-FFF2-40B4-BE49-F238E27FC236}">
                    <a16:creationId xmlns:a16="http://schemas.microsoft.com/office/drawing/2014/main" id="{F89ACAAA-003C-442D-8A34-FD775CBC70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-867672" y="2341725"/>
                <a:ext cx="752324" cy="245455"/>
              </a:xfrm>
              <a:prstGeom prst="line">
                <a:avLst/>
              </a:prstGeom>
              <a:ln w="6350">
                <a:solidFill>
                  <a:srgbClr val="E5233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Foliennummer">
            <a:extLst>
              <a:ext uri="{FF2B5EF4-FFF2-40B4-BE49-F238E27FC236}">
                <a16:creationId xmlns:a16="http://schemas.microsoft.com/office/drawing/2014/main" id="{EAF54237-A359-4E5D-9E70-119B5FA9B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98164" y="4864142"/>
            <a:ext cx="504000" cy="1080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00" b="0" spc="0" baseline="0">
                <a:solidFill>
                  <a:schemeClr val="accent2"/>
                </a:solidFill>
                <a:latin typeface="+mn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defRPr sz="800" b="0" spc="0" baseline="0">
                <a:latin typeface="+mn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defRPr sz="800" b="0" spc="0" baseline="0">
                <a:latin typeface="+mn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defRPr sz="800" b="0" spc="0" baseline="0">
                <a:latin typeface="+mn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defRPr sz="800" b="0" spc="0" baseline="0">
                <a:latin typeface="+mn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defRPr sz="800" b="0" spc="0" baseline="0">
                <a:latin typeface="+mn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defRPr sz="800" b="0" spc="0" baseline="0">
                <a:latin typeface="+mn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defRPr sz="800" b="0" spc="0" baseline="0">
                <a:latin typeface="+mn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defRPr sz="800" b="0" spc="0" baseline="0">
                <a:latin typeface="+mn-lt"/>
              </a:defRPr>
            </a:lvl9pPr>
          </a:lstStyle>
          <a:p>
            <a:r>
              <a:rPr lang="en-GB"/>
              <a:t>Page </a:t>
            </a:r>
            <a:fld id="{677F1DB9-6BD1-4662-AD32-A5C07CCC53B6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4" name="Datum">
            <a:extLst>
              <a:ext uri="{FF2B5EF4-FFF2-40B4-BE49-F238E27FC236}">
                <a16:creationId xmlns:a16="http://schemas.microsoft.com/office/drawing/2014/main" id="{108CD2B0-6E72-4E86-A63B-AAADB44D7E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3999" y="4864142"/>
            <a:ext cx="504000" cy="1080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00" b="0" spc="0" baseline="0">
                <a:solidFill>
                  <a:schemeClr val="accent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750" b="0" spc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750" b="0" spc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750" b="0" spc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750" b="0" spc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750" b="0" spc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750" b="0" spc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750" b="0" spc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750" b="0" spc="0" baseline="0">
                <a:latin typeface="+mn-lt"/>
              </a:defRPr>
            </a:lvl9pPr>
          </a:lstStyle>
          <a:p>
            <a:fld id="{69CAD0E7-6A1B-40FE-8D78-1E6DD0B92CED}" type="datetime1">
              <a:rPr lang="de-DE" smtClean="0"/>
              <a:t>08.12.2025</a:t>
            </a:fld>
            <a:endParaRPr lang="en-GB" dirty="0"/>
          </a:p>
        </p:txBody>
      </p:sp>
      <p:pic>
        <p:nvPicPr>
          <p:cNvPr id="37" name="RWE Logo">
            <a:extLst>
              <a:ext uri="{FF2B5EF4-FFF2-40B4-BE49-F238E27FC236}">
                <a16:creationId xmlns:a16="http://schemas.microsoft.com/office/drawing/2014/main" id="{9A6D5E80-44A9-4C8B-97F5-FB5DF37EC914}"/>
              </a:ext>
            </a:extLst>
          </p:cNvPr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 bwMode="black">
          <a:xfrm>
            <a:off x="538164" y="4896000"/>
            <a:ext cx="216000" cy="62177"/>
          </a:xfrm>
          <a:prstGeom prst="rect">
            <a:avLst/>
          </a:prstGeom>
        </p:spPr>
      </p:pic>
      <p:sp>
        <p:nvSpPr>
          <p:cNvPr id="5" name="Fußzeile">
            <a:extLst>
              <a:ext uri="{FF2B5EF4-FFF2-40B4-BE49-F238E27FC236}">
                <a16:creationId xmlns:a16="http://schemas.microsoft.com/office/drawing/2014/main" id="{F21EC125-AEE3-4B36-B8B0-D39D69B00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0" y="4864142"/>
            <a:ext cx="6588000" cy="1080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00" b="0" spc="0" baseline="0">
                <a:solidFill>
                  <a:schemeClr val="accent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800" b="0" spc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800" b="0" spc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800" b="0" spc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800" b="0" spc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800" b="0" spc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800" b="0" spc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800" b="0" spc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800" b="0" spc="0" baseline="0">
                <a:latin typeface="+mn-lt"/>
              </a:defRPr>
            </a:lvl9pPr>
          </a:lstStyle>
          <a:p>
            <a:r>
              <a:rPr lang="en-GB"/>
              <a:t>Offline Cache – Progressive Web App – RWE Power App Plattform</a:t>
            </a:r>
            <a:endParaRPr lang="en-GB" dirty="0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95CB520-98E5-41FF-8821-1765C2D72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8164" y="1438275"/>
            <a:ext cx="8064000" cy="32385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GB" noProof="0"/>
              <a:t>Text for first level // for further text formats (headline, bullets and numbering) &gt;&gt; Menu &gt; Home &gt; Paragraph &gt; Increase List Level 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Sixth level</a:t>
            </a:r>
          </a:p>
          <a:p>
            <a:pPr lvl="6"/>
            <a:r>
              <a:rPr lang="en-GB" noProof="0"/>
              <a:t>Seventh level</a:t>
            </a:r>
          </a:p>
          <a:p>
            <a:pPr lvl="7"/>
            <a:r>
              <a:rPr lang="en-GB" noProof="0"/>
              <a:t>Eighth level</a:t>
            </a:r>
          </a:p>
          <a:p>
            <a:pPr lvl="8"/>
            <a:r>
              <a:rPr lang="en-GB" noProof="0"/>
              <a:t>Ninth level</a:t>
            </a: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052F5CAC-C4F7-B92C-8B45-4C0E5D2C718B}"/>
              </a:ext>
            </a:extLst>
          </p:cNvPr>
          <p:cNvSpPr>
            <a:spLocks noEditPoints="1"/>
          </p:cNvSpPr>
          <p:nvPr userDrawn="1">
            <p:custDataLst>
              <p:tags r:id="rId23"/>
            </p:custDataLst>
          </p:nvPr>
        </p:nvSpPr>
        <p:spPr bwMode="gray">
          <a:xfrm rot="13932320" flipH="1">
            <a:off x="7055313" y="-1203451"/>
            <a:ext cx="3527836" cy="2940815"/>
          </a:xfrm>
          <a:custGeom>
            <a:avLst/>
            <a:gdLst>
              <a:gd name="T0" fmla="*/ 1091 w 1487"/>
              <a:gd name="T1" fmla="*/ 273 h 1238"/>
              <a:gd name="T2" fmla="*/ 714 w 1487"/>
              <a:gd name="T3" fmla="*/ 237 h 1238"/>
              <a:gd name="T4" fmla="*/ 342 w 1487"/>
              <a:gd name="T5" fmla="*/ 22 h 1238"/>
              <a:gd name="T6" fmla="*/ 9 w 1487"/>
              <a:gd name="T7" fmla="*/ 204 h 1238"/>
              <a:gd name="T8" fmla="*/ 177 w 1487"/>
              <a:gd name="T9" fmla="*/ 607 h 1238"/>
              <a:gd name="T10" fmla="*/ 700 w 1487"/>
              <a:gd name="T11" fmla="*/ 739 h 1238"/>
              <a:gd name="T12" fmla="*/ 563 w 1487"/>
              <a:gd name="T13" fmla="*/ 846 h 1238"/>
              <a:gd name="T14" fmla="*/ 922 w 1487"/>
              <a:gd name="T15" fmla="*/ 1235 h 1238"/>
              <a:gd name="T16" fmla="*/ 1091 w 1487"/>
              <a:gd name="T17" fmla="*/ 969 h 1238"/>
              <a:gd name="T18" fmla="*/ 1272 w 1487"/>
              <a:gd name="T19" fmla="*/ 791 h 1238"/>
              <a:gd name="T20" fmla="*/ 1300 w 1487"/>
              <a:gd name="T21" fmla="*/ 453 h 1238"/>
              <a:gd name="T22" fmla="*/ 1283 w 1487"/>
              <a:gd name="T23" fmla="*/ 437 h 1238"/>
              <a:gd name="T24" fmla="*/ 1288 w 1487"/>
              <a:gd name="T25" fmla="*/ 455 h 1238"/>
              <a:gd name="T26" fmla="*/ 1134 w 1487"/>
              <a:gd name="T27" fmla="*/ 807 h 1238"/>
              <a:gd name="T28" fmla="*/ 1130 w 1487"/>
              <a:gd name="T29" fmla="*/ 789 h 1238"/>
              <a:gd name="T30" fmla="*/ 1280 w 1487"/>
              <a:gd name="T31" fmla="*/ 445 h 1238"/>
              <a:gd name="T32" fmla="*/ 1103 w 1487"/>
              <a:gd name="T33" fmla="*/ 539 h 1238"/>
              <a:gd name="T34" fmla="*/ 1097 w 1487"/>
              <a:gd name="T35" fmla="*/ 481 h 1238"/>
              <a:gd name="T36" fmla="*/ 965 w 1487"/>
              <a:gd name="T37" fmla="*/ 598 h 1238"/>
              <a:gd name="T38" fmla="*/ 770 w 1487"/>
              <a:gd name="T39" fmla="*/ 609 h 1238"/>
              <a:gd name="T40" fmla="*/ 953 w 1487"/>
              <a:gd name="T41" fmla="*/ 754 h 1238"/>
              <a:gd name="T42" fmla="*/ 770 w 1487"/>
              <a:gd name="T43" fmla="*/ 610 h 1238"/>
              <a:gd name="T44" fmla="*/ 959 w 1487"/>
              <a:gd name="T45" fmla="*/ 615 h 1238"/>
              <a:gd name="T46" fmla="*/ 955 w 1487"/>
              <a:gd name="T47" fmla="*/ 755 h 1238"/>
              <a:gd name="T48" fmla="*/ 979 w 1487"/>
              <a:gd name="T49" fmla="*/ 614 h 1238"/>
              <a:gd name="T50" fmla="*/ 1087 w 1487"/>
              <a:gd name="T51" fmla="*/ 404 h 1238"/>
              <a:gd name="T52" fmla="*/ 887 w 1487"/>
              <a:gd name="T53" fmla="*/ 370 h 1238"/>
              <a:gd name="T54" fmla="*/ 940 w 1487"/>
              <a:gd name="T55" fmla="*/ 534 h 1238"/>
              <a:gd name="T56" fmla="*/ 871 w 1487"/>
              <a:gd name="T57" fmla="*/ 374 h 1238"/>
              <a:gd name="T58" fmla="*/ 757 w 1487"/>
              <a:gd name="T59" fmla="*/ 598 h 1238"/>
              <a:gd name="T60" fmla="*/ 717 w 1487"/>
              <a:gd name="T61" fmla="*/ 247 h 1238"/>
              <a:gd name="T62" fmla="*/ 716 w 1487"/>
              <a:gd name="T63" fmla="*/ 246 h 1238"/>
              <a:gd name="T64" fmla="*/ 517 w 1487"/>
              <a:gd name="T65" fmla="*/ 432 h 1238"/>
              <a:gd name="T66" fmla="*/ 418 w 1487"/>
              <a:gd name="T67" fmla="*/ 297 h 1238"/>
              <a:gd name="T68" fmla="*/ 494 w 1487"/>
              <a:gd name="T69" fmla="*/ 318 h 1238"/>
              <a:gd name="T70" fmla="*/ 495 w 1487"/>
              <a:gd name="T71" fmla="*/ 316 h 1238"/>
              <a:gd name="T72" fmla="*/ 427 w 1487"/>
              <a:gd name="T73" fmla="*/ 284 h 1238"/>
              <a:gd name="T74" fmla="*/ 370 w 1487"/>
              <a:gd name="T75" fmla="*/ 206 h 1238"/>
              <a:gd name="T76" fmla="*/ 219 w 1487"/>
              <a:gd name="T77" fmla="*/ 177 h 1238"/>
              <a:gd name="T78" fmla="*/ 220 w 1487"/>
              <a:gd name="T79" fmla="*/ 193 h 1238"/>
              <a:gd name="T80" fmla="*/ 219 w 1487"/>
              <a:gd name="T81" fmla="*/ 194 h 1238"/>
              <a:gd name="T82" fmla="*/ 73 w 1487"/>
              <a:gd name="T83" fmla="*/ 342 h 1238"/>
              <a:gd name="T84" fmla="*/ 73 w 1487"/>
              <a:gd name="T85" fmla="*/ 342 h 1238"/>
              <a:gd name="T86" fmla="*/ 190 w 1487"/>
              <a:gd name="T87" fmla="*/ 587 h 1238"/>
              <a:gd name="T88" fmla="*/ 382 w 1487"/>
              <a:gd name="T89" fmla="*/ 366 h 1238"/>
              <a:gd name="T90" fmla="*/ 193 w 1487"/>
              <a:gd name="T91" fmla="*/ 592 h 1238"/>
              <a:gd name="T92" fmla="*/ 517 w 1487"/>
              <a:gd name="T93" fmla="*/ 434 h 1238"/>
              <a:gd name="T94" fmla="*/ 518 w 1487"/>
              <a:gd name="T95" fmla="*/ 435 h 1238"/>
              <a:gd name="T96" fmla="*/ 570 w 1487"/>
              <a:gd name="T97" fmla="*/ 462 h 1238"/>
              <a:gd name="T98" fmla="*/ 716 w 1487"/>
              <a:gd name="T99" fmla="*/ 734 h 1238"/>
              <a:gd name="T100" fmla="*/ 821 w 1487"/>
              <a:gd name="T101" fmla="*/ 688 h 1238"/>
              <a:gd name="T102" fmla="*/ 848 w 1487"/>
              <a:gd name="T103" fmla="*/ 736 h 1238"/>
              <a:gd name="T104" fmla="*/ 857 w 1487"/>
              <a:gd name="T105" fmla="*/ 742 h 1238"/>
              <a:gd name="T106" fmla="*/ 935 w 1487"/>
              <a:gd name="T107" fmla="*/ 1216 h 1238"/>
              <a:gd name="T108" fmla="*/ 945 w 1487"/>
              <a:gd name="T109" fmla="*/ 890 h 1238"/>
              <a:gd name="T110" fmla="*/ 1115 w 1487"/>
              <a:gd name="T111" fmla="*/ 805 h 1238"/>
              <a:gd name="T112" fmla="*/ 1042 w 1487"/>
              <a:gd name="T113" fmla="*/ 1107 h 1238"/>
              <a:gd name="T114" fmla="*/ 1124 w 1487"/>
              <a:gd name="T115" fmla="*/ 811 h 1238"/>
              <a:gd name="T116" fmla="*/ 1189 w 1487"/>
              <a:gd name="T117" fmla="*/ 863 h 1238"/>
              <a:gd name="T118" fmla="*/ 1266 w 1487"/>
              <a:gd name="T119" fmla="*/ 790 h 1238"/>
              <a:gd name="T120" fmla="*/ 1271 w 1487"/>
              <a:gd name="T121" fmla="*/ 768 h 1238"/>
              <a:gd name="T122" fmla="*/ 1466 w 1487"/>
              <a:gd name="T123" fmla="*/ 684 h 1238"/>
              <a:gd name="T124" fmla="*/ 1304 w 1487"/>
              <a:gd name="T125" fmla="*/ 446 h 1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487" h="1238">
                <a:moveTo>
                  <a:pt x="1470" y="361"/>
                </a:moveTo>
                <a:cubicBezTo>
                  <a:pt x="1464" y="358"/>
                  <a:pt x="1457" y="360"/>
                  <a:pt x="1454" y="366"/>
                </a:cubicBezTo>
                <a:cubicBezTo>
                  <a:pt x="1454" y="367"/>
                  <a:pt x="1454" y="367"/>
                  <a:pt x="1454" y="368"/>
                </a:cubicBezTo>
                <a:cubicBezTo>
                  <a:pt x="1093" y="273"/>
                  <a:pt x="1093" y="273"/>
                  <a:pt x="1093" y="273"/>
                </a:cubicBezTo>
                <a:cubicBezTo>
                  <a:pt x="1093" y="272"/>
                  <a:pt x="1093" y="272"/>
                  <a:pt x="1093" y="272"/>
                </a:cubicBezTo>
                <a:cubicBezTo>
                  <a:pt x="1092" y="272"/>
                  <a:pt x="1092" y="272"/>
                  <a:pt x="1092" y="272"/>
                </a:cubicBezTo>
                <a:cubicBezTo>
                  <a:pt x="1089" y="272"/>
                  <a:pt x="1089" y="272"/>
                  <a:pt x="1089" y="272"/>
                </a:cubicBezTo>
                <a:cubicBezTo>
                  <a:pt x="1091" y="273"/>
                  <a:pt x="1091" y="273"/>
                  <a:pt x="1091" y="273"/>
                </a:cubicBezTo>
                <a:cubicBezTo>
                  <a:pt x="888" y="359"/>
                  <a:pt x="888" y="359"/>
                  <a:pt x="888" y="359"/>
                </a:cubicBezTo>
                <a:cubicBezTo>
                  <a:pt x="886" y="356"/>
                  <a:pt x="885" y="355"/>
                  <a:pt x="882" y="353"/>
                </a:cubicBezTo>
                <a:cubicBezTo>
                  <a:pt x="877" y="351"/>
                  <a:pt x="872" y="352"/>
                  <a:pt x="869" y="356"/>
                </a:cubicBezTo>
                <a:cubicBezTo>
                  <a:pt x="735" y="245"/>
                  <a:pt x="735" y="245"/>
                  <a:pt x="735" y="245"/>
                </a:cubicBezTo>
                <a:cubicBezTo>
                  <a:pt x="735" y="245"/>
                  <a:pt x="735" y="244"/>
                  <a:pt x="736" y="243"/>
                </a:cubicBezTo>
                <a:cubicBezTo>
                  <a:pt x="738" y="238"/>
                  <a:pt x="736" y="231"/>
                  <a:pt x="730" y="228"/>
                </a:cubicBezTo>
                <a:cubicBezTo>
                  <a:pt x="724" y="225"/>
                  <a:pt x="717" y="227"/>
                  <a:pt x="715" y="233"/>
                </a:cubicBezTo>
                <a:cubicBezTo>
                  <a:pt x="714" y="234"/>
                  <a:pt x="714" y="235"/>
                  <a:pt x="714" y="237"/>
                </a:cubicBezTo>
                <a:cubicBezTo>
                  <a:pt x="478" y="220"/>
                  <a:pt x="478" y="220"/>
                  <a:pt x="478" y="220"/>
                </a:cubicBezTo>
                <a:cubicBezTo>
                  <a:pt x="478" y="215"/>
                  <a:pt x="475" y="211"/>
                  <a:pt x="471" y="209"/>
                </a:cubicBezTo>
                <a:cubicBezTo>
                  <a:pt x="468" y="207"/>
                  <a:pt x="464" y="207"/>
                  <a:pt x="461" y="209"/>
                </a:cubicBezTo>
                <a:cubicBezTo>
                  <a:pt x="356" y="23"/>
                  <a:pt x="356" y="23"/>
                  <a:pt x="356" y="23"/>
                </a:cubicBezTo>
                <a:cubicBezTo>
                  <a:pt x="358" y="22"/>
                  <a:pt x="360" y="21"/>
                  <a:pt x="361" y="19"/>
                </a:cubicBezTo>
                <a:cubicBezTo>
                  <a:pt x="363" y="13"/>
                  <a:pt x="361" y="6"/>
                  <a:pt x="355" y="3"/>
                </a:cubicBezTo>
                <a:cubicBezTo>
                  <a:pt x="349" y="0"/>
                  <a:pt x="342" y="2"/>
                  <a:pt x="339" y="8"/>
                </a:cubicBezTo>
                <a:cubicBezTo>
                  <a:pt x="337" y="13"/>
                  <a:pt x="338" y="19"/>
                  <a:pt x="342" y="22"/>
                </a:cubicBezTo>
                <a:cubicBezTo>
                  <a:pt x="218" y="176"/>
                  <a:pt x="218" y="176"/>
                  <a:pt x="218" y="176"/>
                </a:cubicBezTo>
                <a:cubicBezTo>
                  <a:pt x="217" y="176"/>
                  <a:pt x="217" y="175"/>
                  <a:pt x="216" y="175"/>
                </a:cubicBezTo>
                <a:cubicBezTo>
                  <a:pt x="211" y="172"/>
                  <a:pt x="204" y="175"/>
                  <a:pt x="201" y="181"/>
                </a:cubicBezTo>
                <a:cubicBezTo>
                  <a:pt x="200" y="182"/>
                  <a:pt x="200" y="184"/>
                  <a:pt x="200" y="185"/>
                </a:cubicBezTo>
                <a:cubicBezTo>
                  <a:pt x="25" y="192"/>
                  <a:pt x="25" y="192"/>
                  <a:pt x="25" y="192"/>
                </a:cubicBezTo>
                <a:cubicBezTo>
                  <a:pt x="25" y="188"/>
                  <a:pt x="22" y="184"/>
                  <a:pt x="19" y="183"/>
                </a:cubicBezTo>
                <a:cubicBezTo>
                  <a:pt x="13" y="180"/>
                  <a:pt x="6" y="182"/>
                  <a:pt x="3" y="188"/>
                </a:cubicBezTo>
                <a:cubicBezTo>
                  <a:pt x="0" y="194"/>
                  <a:pt x="3" y="201"/>
                  <a:pt x="9" y="204"/>
                </a:cubicBezTo>
                <a:cubicBezTo>
                  <a:pt x="11" y="205"/>
                  <a:pt x="14" y="205"/>
                  <a:pt x="17" y="204"/>
                </a:cubicBezTo>
                <a:cubicBezTo>
                  <a:pt x="71" y="342"/>
                  <a:pt x="71" y="342"/>
                  <a:pt x="71" y="342"/>
                </a:cubicBezTo>
                <a:cubicBezTo>
                  <a:pt x="69" y="343"/>
                  <a:pt x="67" y="345"/>
                  <a:pt x="66" y="348"/>
                </a:cubicBezTo>
                <a:cubicBezTo>
                  <a:pt x="63" y="354"/>
                  <a:pt x="65" y="361"/>
                  <a:pt x="71" y="364"/>
                </a:cubicBezTo>
                <a:cubicBezTo>
                  <a:pt x="74" y="365"/>
                  <a:pt x="77" y="365"/>
                  <a:pt x="80" y="364"/>
                </a:cubicBezTo>
                <a:cubicBezTo>
                  <a:pt x="177" y="586"/>
                  <a:pt x="177" y="586"/>
                  <a:pt x="177" y="586"/>
                </a:cubicBezTo>
                <a:cubicBezTo>
                  <a:pt x="175" y="587"/>
                  <a:pt x="173" y="589"/>
                  <a:pt x="172" y="591"/>
                </a:cubicBezTo>
                <a:cubicBezTo>
                  <a:pt x="169" y="597"/>
                  <a:pt x="172" y="604"/>
                  <a:pt x="177" y="607"/>
                </a:cubicBezTo>
                <a:cubicBezTo>
                  <a:pt x="183" y="610"/>
                  <a:pt x="190" y="607"/>
                  <a:pt x="193" y="601"/>
                </a:cubicBezTo>
                <a:cubicBezTo>
                  <a:pt x="194" y="599"/>
                  <a:pt x="195" y="596"/>
                  <a:pt x="194" y="593"/>
                </a:cubicBezTo>
                <a:cubicBezTo>
                  <a:pt x="347" y="546"/>
                  <a:pt x="347" y="546"/>
                  <a:pt x="347" y="546"/>
                </a:cubicBezTo>
                <a:cubicBezTo>
                  <a:pt x="348" y="549"/>
                  <a:pt x="350" y="551"/>
                  <a:pt x="353" y="552"/>
                </a:cubicBezTo>
                <a:cubicBezTo>
                  <a:pt x="358" y="555"/>
                  <a:pt x="365" y="553"/>
                  <a:pt x="368" y="548"/>
                </a:cubicBezTo>
                <a:cubicBezTo>
                  <a:pt x="700" y="739"/>
                  <a:pt x="700" y="739"/>
                  <a:pt x="700" y="739"/>
                </a:cubicBezTo>
                <a:cubicBezTo>
                  <a:pt x="700" y="739"/>
                  <a:pt x="700" y="739"/>
                  <a:pt x="700" y="739"/>
                </a:cubicBezTo>
                <a:cubicBezTo>
                  <a:pt x="700" y="739"/>
                  <a:pt x="700" y="739"/>
                  <a:pt x="700" y="739"/>
                </a:cubicBezTo>
                <a:cubicBezTo>
                  <a:pt x="698" y="745"/>
                  <a:pt x="700" y="752"/>
                  <a:pt x="706" y="754"/>
                </a:cubicBezTo>
                <a:cubicBezTo>
                  <a:pt x="712" y="757"/>
                  <a:pt x="719" y="755"/>
                  <a:pt x="722" y="749"/>
                </a:cubicBezTo>
                <a:cubicBezTo>
                  <a:pt x="722" y="747"/>
                  <a:pt x="723" y="746"/>
                  <a:pt x="723" y="744"/>
                </a:cubicBezTo>
                <a:cubicBezTo>
                  <a:pt x="847" y="733"/>
                  <a:pt x="847" y="733"/>
                  <a:pt x="847" y="733"/>
                </a:cubicBezTo>
                <a:cubicBezTo>
                  <a:pt x="847" y="733"/>
                  <a:pt x="847" y="734"/>
                  <a:pt x="847" y="734"/>
                </a:cubicBezTo>
                <a:cubicBezTo>
                  <a:pt x="584" y="846"/>
                  <a:pt x="584" y="846"/>
                  <a:pt x="584" y="846"/>
                </a:cubicBezTo>
                <a:cubicBezTo>
                  <a:pt x="583" y="843"/>
                  <a:pt x="581" y="841"/>
                  <a:pt x="579" y="840"/>
                </a:cubicBezTo>
                <a:cubicBezTo>
                  <a:pt x="573" y="837"/>
                  <a:pt x="566" y="840"/>
                  <a:pt x="563" y="846"/>
                </a:cubicBezTo>
                <a:cubicBezTo>
                  <a:pt x="560" y="852"/>
                  <a:pt x="563" y="859"/>
                  <a:pt x="568" y="861"/>
                </a:cubicBezTo>
                <a:cubicBezTo>
                  <a:pt x="572" y="863"/>
                  <a:pt x="576" y="863"/>
                  <a:pt x="580" y="861"/>
                </a:cubicBezTo>
                <a:cubicBezTo>
                  <a:pt x="764" y="1130"/>
                  <a:pt x="764" y="1130"/>
                  <a:pt x="764" y="1130"/>
                </a:cubicBezTo>
                <a:cubicBezTo>
                  <a:pt x="763" y="1131"/>
                  <a:pt x="762" y="1132"/>
                  <a:pt x="761" y="1134"/>
                </a:cubicBezTo>
                <a:cubicBezTo>
                  <a:pt x="758" y="1139"/>
                  <a:pt x="761" y="1146"/>
                  <a:pt x="766" y="1149"/>
                </a:cubicBezTo>
                <a:cubicBezTo>
                  <a:pt x="772" y="1152"/>
                  <a:pt x="778" y="1150"/>
                  <a:pt x="781" y="1145"/>
                </a:cubicBezTo>
                <a:cubicBezTo>
                  <a:pt x="916" y="1219"/>
                  <a:pt x="916" y="1219"/>
                  <a:pt x="916" y="1219"/>
                </a:cubicBezTo>
                <a:cubicBezTo>
                  <a:pt x="914" y="1225"/>
                  <a:pt x="916" y="1232"/>
                  <a:pt x="922" y="1235"/>
                </a:cubicBezTo>
                <a:cubicBezTo>
                  <a:pt x="928" y="1238"/>
                  <a:pt x="935" y="1235"/>
                  <a:pt x="938" y="1229"/>
                </a:cubicBezTo>
                <a:cubicBezTo>
                  <a:pt x="940" y="1225"/>
                  <a:pt x="939" y="1221"/>
                  <a:pt x="936" y="1217"/>
                </a:cubicBezTo>
                <a:cubicBezTo>
                  <a:pt x="1026" y="1138"/>
                  <a:pt x="1026" y="1138"/>
                  <a:pt x="1026" y="1138"/>
                </a:cubicBezTo>
                <a:cubicBezTo>
                  <a:pt x="1027" y="1139"/>
                  <a:pt x="1028" y="1140"/>
                  <a:pt x="1029" y="1140"/>
                </a:cubicBezTo>
                <a:cubicBezTo>
                  <a:pt x="1035" y="1143"/>
                  <a:pt x="1042" y="1141"/>
                  <a:pt x="1045" y="1135"/>
                </a:cubicBezTo>
                <a:cubicBezTo>
                  <a:pt x="1047" y="1129"/>
                  <a:pt x="1045" y="1122"/>
                  <a:pt x="1039" y="1119"/>
                </a:cubicBezTo>
                <a:cubicBezTo>
                  <a:pt x="1039" y="1119"/>
                  <a:pt x="1039" y="1119"/>
                  <a:pt x="1039" y="1119"/>
                </a:cubicBezTo>
                <a:cubicBezTo>
                  <a:pt x="1091" y="969"/>
                  <a:pt x="1091" y="969"/>
                  <a:pt x="1091" y="969"/>
                </a:cubicBezTo>
                <a:cubicBezTo>
                  <a:pt x="1096" y="970"/>
                  <a:pt x="1102" y="968"/>
                  <a:pt x="1105" y="963"/>
                </a:cubicBezTo>
                <a:cubicBezTo>
                  <a:pt x="1106" y="961"/>
                  <a:pt x="1106" y="959"/>
                  <a:pt x="1106" y="957"/>
                </a:cubicBezTo>
                <a:cubicBezTo>
                  <a:pt x="1261" y="945"/>
                  <a:pt x="1261" y="945"/>
                  <a:pt x="1261" y="945"/>
                </a:cubicBezTo>
                <a:cubicBezTo>
                  <a:pt x="1262" y="949"/>
                  <a:pt x="1264" y="952"/>
                  <a:pt x="1268" y="954"/>
                </a:cubicBezTo>
                <a:cubicBezTo>
                  <a:pt x="1274" y="957"/>
                  <a:pt x="1281" y="954"/>
                  <a:pt x="1283" y="948"/>
                </a:cubicBezTo>
                <a:cubicBezTo>
                  <a:pt x="1286" y="943"/>
                  <a:pt x="1284" y="936"/>
                  <a:pt x="1278" y="933"/>
                </a:cubicBezTo>
                <a:cubicBezTo>
                  <a:pt x="1277" y="932"/>
                  <a:pt x="1275" y="932"/>
                  <a:pt x="1274" y="932"/>
                </a:cubicBezTo>
                <a:cubicBezTo>
                  <a:pt x="1272" y="791"/>
                  <a:pt x="1272" y="791"/>
                  <a:pt x="1272" y="791"/>
                </a:cubicBezTo>
                <a:cubicBezTo>
                  <a:pt x="1276" y="791"/>
                  <a:pt x="1279" y="789"/>
                  <a:pt x="1281" y="785"/>
                </a:cubicBezTo>
                <a:cubicBezTo>
                  <a:pt x="1283" y="782"/>
                  <a:pt x="1283" y="779"/>
                  <a:pt x="1282" y="776"/>
                </a:cubicBezTo>
                <a:cubicBezTo>
                  <a:pt x="1463" y="698"/>
                  <a:pt x="1463" y="698"/>
                  <a:pt x="1463" y="698"/>
                </a:cubicBezTo>
                <a:cubicBezTo>
                  <a:pt x="1464" y="700"/>
                  <a:pt x="1466" y="702"/>
                  <a:pt x="1468" y="704"/>
                </a:cubicBezTo>
                <a:cubicBezTo>
                  <a:pt x="1474" y="706"/>
                  <a:pt x="1481" y="704"/>
                  <a:pt x="1484" y="698"/>
                </a:cubicBezTo>
                <a:cubicBezTo>
                  <a:pt x="1487" y="692"/>
                  <a:pt x="1484" y="685"/>
                  <a:pt x="1478" y="682"/>
                </a:cubicBezTo>
                <a:cubicBezTo>
                  <a:pt x="1475" y="681"/>
                  <a:pt x="1470" y="681"/>
                  <a:pt x="1467" y="683"/>
                </a:cubicBezTo>
                <a:cubicBezTo>
                  <a:pt x="1300" y="453"/>
                  <a:pt x="1300" y="453"/>
                  <a:pt x="1300" y="453"/>
                </a:cubicBezTo>
                <a:cubicBezTo>
                  <a:pt x="1301" y="452"/>
                  <a:pt x="1302" y="451"/>
                  <a:pt x="1303" y="449"/>
                </a:cubicBezTo>
                <a:cubicBezTo>
                  <a:pt x="1303" y="449"/>
                  <a:pt x="1303" y="449"/>
                  <a:pt x="1303" y="448"/>
                </a:cubicBezTo>
                <a:cubicBezTo>
                  <a:pt x="1454" y="377"/>
                  <a:pt x="1454" y="377"/>
                  <a:pt x="1454" y="377"/>
                </a:cubicBezTo>
                <a:cubicBezTo>
                  <a:pt x="1456" y="379"/>
                  <a:pt x="1457" y="381"/>
                  <a:pt x="1460" y="382"/>
                </a:cubicBezTo>
                <a:cubicBezTo>
                  <a:pt x="1465" y="385"/>
                  <a:pt x="1472" y="382"/>
                  <a:pt x="1475" y="376"/>
                </a:cubicBezTo>
                <a:cubicBezTo>
                  <a:pt x="1478" y="371"/>
                  <a:pt x="1476" y="364"/>
                  <a:pt x="1470" y="361"/>
                </a:cubicBezTo>
                <a:close/>
                <a:moveTo>
                  <a:pt x="1093" y="275"/>
                </a:moveTo>
                <a:cubicBezTo>
                  <a:pt x="1283" y="437"/>
                  <a:pt x="1283" y="437"/>
                  <a:pt x="1283" y="437"/>
                </a:cubicBezTo>
                <a:cubicBezTo>
                  <a:pt x="1282" y="438"/>
                  <a:pt x="1282" y="439"/>
                  <a:pt x="1282" y="439"/>
                </a:cubicBezTo>
                <a:cubicBezTo>
                  <a:pt x="1281" y="440"/>
                  <a:pt x="1281" y="441"/>
                  <a:pt x="1281" y="441"/>
                </a:cubicBezTo>
                <a:cubicBezTo>
                  <a:pt x="1089" y="404"/>
                  <a:pt x="1089" y="404"/>
                  <a:pt x="1089" y="404"/>
                </a:cubicBezTo>
                <a:lnTo>
                  <a:pt x="1093" y="275"/>
                </a:lnTo>
                <a:close/>
                <a:moveTo>
                  <a:pt x="1137" y="795"/>
                </a:moveTo>
                <a:cubicBezTo>
                  <a:pt x="1136" y="793"/>
                  <a:pt x="1134" y="791"/>
                  <a:pt x="1131" y="789"/>
                </a:cubicBezTo>
                <a:cubicBezTo>
                  <a:pt x="1287" y="456"/>
                  <a:pt x="1287" y="456"/>
                  <a:pt x="1287" y="456"/>
                </a:cubicBezTo>
                <a:cubicBezTo>
                  <a:pt x="1288" y="455"/>
                  <a:pt x="1288" y="455"/>
                  <a:pt x="1288" y="455"/>
                </a:cubicBezTo>
                <a:cubicBezTo>
                  <a:pt x="1289" y="456"/>
                  <a:pt x="1290" y="456"/>
                  <a:pt x="1291" y="456"/>
                </a:cubicBezTo>
                <a:cubicBezTo>
                  <a:pt x="1271" y="754"/>
                  <a:pt x="1271" y="754"/>
                  <a:pt x="1271" y="754"/>
                </a:cubicBezTo>
                <a:lnTo>
                  <a:pt x="1137" y="795"/>
                </a:lnTo>
                <a:close/>
                <a:moveTo>
                  <a:pt x="1137" y="799"/>
                </a:moveTo>
                <a:cubicBezTo>
                  <a:pt x="1259" y="782"/>
                  <a:pt x="1259" y="782"/>
                  <a:pt x="1259" y="782"/>
                </a:cubicBezTo>
                <a:cubicBezTo>
                  <a:pt x="1260" y="784"/>
                  <a:pt x="1260" y="786"/>
                  <a:pt x="1262" y="787"/>
                </a:cubicBezTo>
                <a:cubicBezTo>
                  <a:pt x="1189" y="861"/>
                  <a:pt x="1189" y="861"/>
                  <a:pt x="1189" y="861"/>
                </a:cubicBezTo>
                <a:cubicBezTo>
                  <a:pt x="1134" y="807"/>
                  <a:pt x="1134" y="807"/>
                  <a:pt x="1134" y="807"/>
                </a:cubicBezTo>
                <a:cubicBezTo>
                  <a:pt x="1135" y="806"/>
                  <a:pt x="1136" y="806"/>
                  <a:pt x="1136" y="805"/>
                </a:cubicBezTo>
                <a:cubicBezTo>
                  <a:pt x="1137" y="803"/>
                  <a:pt x="1137" y="801"/>
                  <a:pt x="1137" y="799"/>
                </a:cubicBezTo>
                <a:close/>
                <a:moveTo>
                  <a:pt x="1130" y="789"/>
                </a:moveTo>
                <a:cubicBezTo>
                  <a:pt x="1128" y="788"/>
                  <a:pt x="1127" y="788"/>
                  <a:pt x="1125" y="788"/>
                </a:cubicBezTo>
                <a:cubicBezTo>
                  <a:pt x="1103" y="541"/>
                  <a:pt x="1103" y="541"/>
                  <a:pt x="1103" y="541"/>
                </a:cubicBezTo>
                <a:cubicBezTo>
                  <a:pt x="1282" y="450"/>
                  <a:pt x="1282" y="450"/>
                  <a:pt x="1282" y="450"/>
                </a:cubicBezTo>
                <a:cubicBezTo>
                  <a:pt x="1283" y="452"/>
                  <a:pt x="1284" y="453"/>
                  <a:pt x="1286" y="455"/>
                </a:cubicBezTo>
                <a:lnTo>
                  <a:pt x="1130" y="789"/>
                </a:lnTo>
                <a:close/>
                <a:moveTo>
                  <a:pt x="1115" y="804"/>
                </a:moveTo>
                <a:cubicBezTo>
                  <a:pt x="952" y="873"/>
                  <a:pt x="952" y="873"/>
                  <a:pt x="952" y="873"/>
                </a:cubicBezTo>
                <a:cubicBezTo>
                  <a:pt x="951" y="871"/>
                  <a:pt x="949" y="869"/>
                  <a:pt x="946" y="868"/>
                </a:cubicBezTo>
                <a:cubicBezTo>
                  <a:pt x="945" y="868"/>
                  <a:pt x="944" y="867"/>
                  <a:pt x="943" y="867"/>
                </a:cubicBezTo>
                <a:cubicBezTo>
                  <a:pt x="955" y="756"/>
                  <a:pt x="955" y="756"/>
                  <a:pt x="955" y="756"/>
                </a:cubicBezTo>
                <a:cubicBezTo>
                  <a:pt x="1114" y="797"/>
                  <a:pt x="1114" y="797"/>
                  <a:pt x="1114" y="797"/>
                </a:cubicBezTo>
                <a:cubicBezTo>
                  <a:pt x="1114" y="799"/>
                  <a:pt x="1114" y="802"/>
                  <a:pt x="1115" y="804"/>
                </a:cubicBezTo>
                <a:close/>
                <a:moveTo>
                  <a:pt x="1280" y="445"/>
                </a:moveTo>
                <a:cubicBezTo>
                  <a:pt x="1108" y="467"/>
                  <a:pt x="1108" y="467"/>
                  <a:pt x="1108" y="467"/>
                </a:cubicBezTo>
                <a:cubicBezTo>
                  <a:pt x="1107" y="464"/>
                  <a:pt x="1105" y="461"/>
                  <a:pt x="1101" y="459"/>
                </a:cubicBezTo>
                <a:cubicBezTo>
                  <a:pt x="1096" y="456"/>
                  <a:pt x="1090" y="458"/>
                  <a:pt x="1087" y="463"/>
                </a:cubicBezTo>
                <a:cubicBezTo>
                  <a:pt x="1088" y="406"/>
                  <a:pt x="1088" y="406"/>
                  <a:pt x="1088" y="406"/>
                </a:cubicBezTo>
                <a:cubicBezTo>
                  <a:pt x="1280" y="443"/>
                  <a:pt x="1280" y="443"/>
                  <a:pt x="1280" y="443"/>
                </a:cubicBezTo>
                <a:cubicBezTo>
                  <a:pt x="1280" y="444"/>
                  <a:pt x="1280" y="444"/>
                  <a:pt x="1280" y="445"/>
                </a:cubicBezTo>
                <a:close/>
                <a:moveTo>
                  <a:pt x="1281" y="449"/>
                </a:moveTo>
                <a:cubicBezTo>
                  <a:pt x="1103" y="539"/>
                  <a:pt x="1103" y="539"/>
                  <a:pt x="1103" y="539"/>
                </a:cubicBezTo>
                <a:cubicBezTo>
                  <a:pt x="1098" y="481"/>
                  <a:pt x="1098" y="481"/>
                  <a:pt x="1098" y="481"/>
                </a:cubicBezTo>
                <a:cubicBezTo>
                  <a:pt x="1102" y="481"/>
                  <a:pt x="1105" y="478"/>
                  <a:pt x="1107" y="475"/>
                </a:cubicBezTo>
                <a:cubicBezTo>
                  <a:pt x="1108" y="473"/>
                  <a:pt x="1108" y="471"/>
                  <a:pt x="1108" y="469"/>
                </a:cubicBezTo>
                <a:cubicBezTo>
                  <a:pt x="1280" y="447"/>
                  <a:pt x="1280" y="447"/>
                  <a:pt x="1280" y="447"/>
                </a:cubicBezTo>
                <a:cubicBezTo>
                  <a:pt x="1281" y="447"/>
                  <a:pt x="1281" y="447"/>
                  <a:pt x="1281" y="447"/>
                </a:cubicBezTo>
                <a:cubicBezTo>
                  <a:pt x="1281" y="447"/>
                  <a:pt x="1281" y="448"/>
                  <a:pt x="1281" y="449"/>
                </a:cubicBezTo>
                <a:close/>
                <a:moveTo>
                  <a:pt x="1091" y="480"/>
                </a:moveTo>
                <a:cubicBezTo>
                  <a:pt x="1093" y="481"/>
                  <a:pt x="1095" y="481"/>
                  <a:pt x="1097" y="481"/>
                </a:cubicBezTo>
                <a:cubicBezTo>
                  <a:pt x="1102" y="540"/>
                  <a:pt x="1102" y="540"/>
                  <a:pt x="1102" y="540"/>
                </a:cubicBezTo>
                <a:cubicBezTo>
                  <a:pt x="979" y="603"/>
                  <a:pt x="979" y="603"/>
                  <a:pt x="979" y="603"/>
                </a:cubicBezTo>
                <a:cubicBezTo>
                  <a:pt x="979" y="602"/>
                  <a:pt x="978" y="601"/>
                  <a:pt x="977" y="601"/>
                </a:cubicBezTo>
                <a:cubicBezTo>
                  <a:pt x="1089" y="479"/>
                  <a:pt x="1089" y="479"/>
                  <a:pt x="1089" y="479"/>
                </a:cubicBezTo>
                <a:cubicBezTo>
                  <a:pt x="1090" y="479"/>
                  <a:pt x="1090" y="480"/>
                  <a:pt x="1091" y="480"/>
                </a:cubicBezTo>
                <a:close/>
                <a:moveTo>
                  <a:pt x="976" y="599"/>
                </a:moveTo>
                <a:cubicBezTo>
                  <a:pt x="976" y="599"/>
                  <a:pt x="975" y="598"/>
                  <a:pt x="974" y="598"/>
                </a:cubicBezTo>
                <a:cubicBezTo>
                  <a:pt x="971" y="597"/>
                  <a:pt x="968" y="597"/>
                  <a:pt x="965" y="598"/>
                </a:cubicBezTo>
                <a:cubicBezTo>
                  <a:pt x="941" y="535"/>
                  <a:pt x="941" y="535"/>
                  <a:pt x="941" y="535"/>
                </a:cubicBezTo>
                <a:cubicBezTo>
                  <a:pt x="1086" y="475"/>
                  <a:pt x="1086" y="475"/>
                  <a:pt x="1086" y="475"/>
                </a:cubicBezTo>
                <a:cubicBezTo>
                  <a:pt x="1086" y="476"/>
                  <a:pt x="1087" y="477"/>
                  <a:pt x="1088" y="478"/>
                </a:cubicBezTo>
                <a:lnTo>
                  <a:pt x="976" y="599"/>
                </a:lnTo>
                <a:close/>
                <a:moveTo>
                  <a:pt x="963" y="598"/>
                </a:moveTo>
                <a:cubicBezTo>
                  <a:pt x="961" y="599"/>
                  <a:pt x="959" y="601"/>
                  <a:pt x="958" y="604"/>
                </a:cubicBezTo>
                <a:cubicBezTo>
                  <a:pt x="958" y="605"/>
                  <a:pt x="957" y="606"/>
                  <a:pt x="957" y="608"/>
                </a:cubicBezTo>
                <a:cubicBezTo>
                  <a:pt x="770" y="609"/>
                  <a:pt x="770" y="609"/>
                  <a:pt x="770" y="609"/>
                </a:cubicBezTo>
                <a:cubicBezTo>
                  <a:pt x="770" y="608"/>
                  <a:pt x="770" y="607"/>
                  <a:pt x="770" y="606"/>
                </a:cubicBezTo>
                <a:cubicBezTo>
                  <a:pt x="940" y="535"/>
                  <a:pt x="940" y="535"/>
                  <a:pt x="940" y="535"/>
                </a:cubicBezTo>
                <a:lnTo>
                  <a:pt x="963" y="598"/>
                </a:lnTo>
                <a:close/>
                <a:moveTo>
                  <a:pt x="867" y="722"/>
                </a:moveTo>
                <a:cubicBezTo>
                  <a:pt x="963" y="619"/>
                  <a:pt x="963" y="619"/>
                  <a:pt x="963" y="619"/>
                </a:cubicBezTo>
                <a:cubicBezTo>
                  <a:pt x="963" y="619"/>
                  <a:pt x="963" y="619"/>
                  <a:pt x="964" y="619"/>
                </a:cubicBezTo>
                <a:cubicBezTo>
                  <a:pt x="965" y="620"/>
                  <a:pt x="966" y="620"/>
                  <a:pt x="967" y="620"/>
                </a:cubicBezTo>
                <a:cubicBezTo>
                  <a:pt x="953" y="754"/>
                  <a:pt x="953" y="754"/>
                  <a:pt x="953" y="754"/>
                </a:cubicBezTo>
                <a:cubicBezTo>
                  <a:pt x="870" y="733"/>
                  <a:pt x="870" y="733"/>
                  <a:pt x="870" y="733"/>
                </a:cubicBezTo>
                <a:cubicBezTo>
                  <a:pt x="871" y="729"/>
                  <a:pt x="869" y="725"/>
                  <a:pt x="867" y="722"/>
                </a:cubicBezTo>
                <a:close/>
                <a:moveTo>
                  <a:pt x="957" y="610"/>
                </a:moveTo>
                <a:cubicBezTo>
                  <a:pt x="957" y="611"/>
                  <a:pt x="958" y="612"/>
                  <a:pt x="958" y="613"/>
                </a:cubicBezTo>
                <a:cubicBezTo>
                  <a:pt x="821" y="686"/>
                  <a:pt x="821" y="686"/>
                  <a:pt x="821" y="686"/>
                </a:cubicBezTo>
                <a:cubicBezTo>
                  <a:pt x="767" y="618"/>
                  <a:pt x="767" y="618"/>
                  <a:pt x="767" y="618"/>
                </a:cubicBezTo>
                <a:cubicBezTo>
                  <a:pt x="768" y="617"/>
                  <a:pt x="769" y="616"/>
                  <a:pt x="769" y="615"/>
                </a:cubicBezTo>
                <a:cubicBezTo>
                  <a:pt x="770" y="613"/>
                  <a:pt x="770" y="612"/>
                  <a:pt x="770" y="610"/>
                </a:cubicBezTo>
                <a:lnTo>
                  <a:pt x="957" y="610"/>
                </a:lnTo>
                <a:close/>
                <a:moveTo>
                  <a:pt x="959" y="615"/>
                </a:moveTo>
                <a:cubicBezTo>
                  <a:pt x="960" y="616"/>
                  <a:pt x="960" y="617"/>
                  <a:pt x="961" y="618"/>
                </a:cubicBezTo>
                <a:cubicBezTo>
                  <a:pt x="865" y="721"/>
                  <a:pt x="865" y="721"/>
                  <a:pt x="865" y="721"/>
                </a:cubicBezTo>
                <a:cubicBezTo>
                  <a:pt x="865" y="721"/>
                  <a:pt x="864" y="720"/>
                  <a:pt x="864" y="720"/>
                </a:cubicBezTo>
                <a:cubicBezTo>
                  <a:pt x="859" y="718"/>
                  <a:pt x="854" y="719"/>
                  <a:pt x="851" y="722"/>
                </a:cubicBezTo>
                <a:cubicBezTo>
                  <a:pt x="822" y="687"/>
                  <a:pt x="822" y="687"/>
                  <a:pt x="822" y="687"/>
                </a:cubicBezTo>
                <a:lnTo>
                  <a:pt x="959" y="615"/>
                </a:lnTo>
                <a:close/>
                <a:moveTo>
                  <a:pt x="869" y="735"/>
                </a:moveTo>
                <a:cubicBezTo>
                  <a:pt x="869" y="735"/>
                  <a:pt x="869" y="735"/>
                  <a:pt x="870" y="734"/>
                </a:cubicBezTo>
                <a:cubicBezTo>
                  <a:pt x="953" y="756"/>
                  <a:pt x="953" y="756"/>
                  <a:pt x="953" y="756"/>
                </a:cubicBezTo>
                <a:cubicBezTo>
                  <a:pt x="942" y="867"/>
                  <a:pt x="942" y="867"/>
                  <a:pt x="942" y="867"/>
                </a:cubicBezTo>
                <a:cubicBezTo>
                  <a:pt x="940" y="867"/>
                  <a:pt x="938" y="867"/>
                  <a:pt x="936" y="868"/>
                </a:cubicBezTo>
                <a:cubicBezTo>
                  <a:pt x="865" y="740"/>
                  <a:pt x="865" y="740"/>
                  <a:pt x="865" y="740"/>
                </a:cubicBezTo>
                <a:cubicBezTo>
                  <a:pt x="867" y="739"/>
                  <a:pt x="868" y="738"/>
                  <a:pt x="869" y="735"/>
                </a:cubicBezTo>
                <a:close/>
                <a:moveTo>
                  <a:pt x="955" y="755"/>
                </a:moveTo>
                <a:cubicBezTo>
                  <a:pt x="968" y="620"/>
                  <a:pt x="968" y="620"/>
                  <a:pt x="968" y="620"/>
                </a:cubicBezTo>
                <a:cubicBezTo>
                  <a:pt x="971" y="620"/>
                  <a:pt x="974" y="620"/>
                  <a:pt x="976" y="618"/>
                </a:cubicBezTo>
                <a:cubicBezTo>
                  <a:pt x="1118" y="791"/>
                  <a:pt x="1118" y="791"/>
                  <a:pt x="1118" y="791"/>
                </a:cubicBezTo>
                <a:cubicBezTo>
                  <a:pt x="1117" y="792"/>
                  <a:pt x="1116" y="793"/>
                  <a:pt x="1115" y="795"/>
                </a:cubicBezTo>
                <a:cubicBezTo>
                  <a:pt x="1115" y="795"/>
                  <a:pt x="1115" y="795"/>
                  <a:pt x="1114" y="796"/>
                </a:cubicBezTo>
                <a:lnTo>
                  <a:pt x="955" y="755"/>
                </a:lnTo>
                <a:close/>
                <a:moveTo>
                  <a:pt x="977" y="617"/>
                </a:moveTo>
                <a:cubicBezTo>
                  <a:pt x="978" y="616"/>
                  <a:pt x="979" y="615"/>
                  <a:pt x="979" y="614"/>
                </a:cubicBezTo>
                <a:cubicBezTo>
                  <a:pt x="981" y="611"/>
                  <a:pt x="981" y="607"/>
                  <a:pt x="980" y="604"/>
                </a:cubicBezTo>
                <a:cubicBezTo>
                  <a:pt x="1102" y="542"/>
                  <a:pt x="1102" y="542"/>
                  <a:pt x="1102" y="542"/>
                </a:cubicBezTo>
                <a:cubicBezTo>
                  <a:pt x="1124" y="788"/>
                  <a:pt x="1124" y="788"/>
                  <a:pt x="1124" y="788"/>
                </a:cubicBezTo>
                <a:cubicBezTo>
                  <a:pt x="1122" y="788"/>
                  <a:pt x="1120" y="789"/>
                  <a:pt x="1119" y="790"/>
                </a:cubicBezTo>
                <a:lnTo>
                  <a:pt x="977" y="617"/>
                </a:lnTo>
                <a:close/>
                <a:moveTo>
                  <a:pt x="888" y="360"/>
                </a:moveTo>
                <a:cubicBezTo>
                  <a:pt x="1091" y="274"/>
                  <a:pt x="1091" y="274"/>
                  <a:pt x="1091" y="274"/>
                </a:cubicBezTo>
                <a:cubicBezTo>
                  <a:pt x="1087" y="404"/>
                  <a:pt x="1087" y="404"/>
                  <a:pt x="1087" y="404"/>
                </a:cubicBezTo>
                <a:cubicBezTo>
                  <a:pt x="889" y="365"/>
                  <a:pt x="889" y="365"/>
                  <a:pt x="889" y="365"/>
                </a:cubicBezTo>
                <a:cubicBezTo>
                  <a:pt x="889" y="364"/>
                  <a:pt x="889" y="362"/>
                  <a:pt x="888" y="360"/>
                </a:cubicBezTo>
                <a:close/>
                <a:moveTo>
                  <a:pt x="888" y="367"/>
                </a:moveTo>
                <a:cubicBezTo>
                  <a:pt x="1087" y="405"/>
                  <a:pt x="1087" y="405"/>
                  <a:pt x="1087" y="405"/>
                </a:cubicBezTo>
                <a:cubicBezTo>
                  <a:pt x="1085" y="463"/>
                  <a:pt x="1085" y="463"/>
                  <a:pt x="1085" y="463"/>
                </a:cubicBezTo>
                <a:cubicBezTo>
                  <a:pt x="888" y="368"/>
                  <a:pt x="888" y="368"/>
                  <a:pt x="888" y="368"/>
                </a:cubicBezTo>
                <a:cubicBezTo>
                  <a:pt x="888" y="368"/>
                  <a:pt x="888" y="367"/>
                  <a:pt x="888" y="367"/>
                </a:cubicBezTo>
                <a:close/>
                <a:moveTo>
                  <a:pt x="887" y="370"/>
                </a:moveTo>
                <a:cubicBezTo>
                  <a:pt x="1085" y="465"/>
                  <a:pt x="1085" y="465"/>
                  <a:pt x="1085" y="465"/>
                </a:cubicBezTo>
                <a:cubicBezTo>
                  <a:pt x="1084" y="468"/>
                  <a:pt x="1084" y="471"/>
                  <a:pt x="1085" y="473"/>
                </a:cubicBezTo>
                <a:cubicBezTo>
                  <a:pt x="941" y="533"/>
                  <a:pt x="941" y="533"/>
                  <a:pt x="941" y="533"/>
                </a:cubicBezTo>
                <a:cubicBezTo>
                  <a:pt x="882" y="375"/>
                  <a:pt x="882" y="375"/>
                  <a:pt x="882" y="375"/>
                </a:cubicBezTo>
                <a:cubicBezTo>
                  <a:pt x="884" y="374"/>
                  <a:pt x="886" y="372"/>
                  <a:pt x="887" y="370"/>
                </a:cubicBezTo>
                <a:close/>
                <a:moveTo>
                  <a:pt x="873" y="375"/>
                </a:moveTo>
                <a:cubicBezTo>
                  <a:pt x="875" y="376"/>
                  <a:pt x="878" y="376"/>
                  <a:pt x="880" y="375"/>
                </a:cubicBezTo>
                <a:cubicBezTo>
                  <a:pt x="940" y="534"/>
                  <a:pt x="940" y="534"/>
                  <a:pt x="940" y="534"/>
                </a:cubicBezTo>
                <a:cubicBezTo>
                  <a:pt x="769" y="604"/>
                  <a:pt x="769" y="604"/>
                  <a:pt x="769" y="604"/>
                </a:cubicBezTo>
                <a:cubicBezTo>
                  <a:pt x="768" y="602"/>
                  <a:pt x="766" y="601"/>
                  <a:pt x="764" y="599"/>
                </a:cubicBezTo>
                <a:lnTo>
                  <a:pt x="873" y="375"/>
                </a:lnTo>
                <a:close/>
                <a:moveTo>
                  <a:pt x="763" y="599"/>
                </a:moveTo>
                <a:cubicBezTo>
                  <a:pt x="761" y="598"/>
                  <a:pt x="760" y="598"/>
                  <a:pt x="758" y="598"/>
                </a:cubicBezTo>
                <a:cubicBezTo>
                  <a:pt x="740" y="389"/>
                  <a:pt x="740" y="389"/>
                  <a:pt x="740" y="389"/>
                </a:cubicBezTo>
                <a:cubicBezTo>
                  <a:pt x="866" y="367"/>
                  <a:pt x="866" y="367"/>
                  <a:pt x="866" y="367"/>
                </a:cubicBezTo>
                <a:cubicBezTo>
                  <a:pt x="867" y="370"/>
                  <a:pt x="868" y="372"/>
                  <a:pt x="871" y="374"/>
                </a:cubicBezTo>
                <a:lnTo>
                  <a:pt x="763" y="599"/>
                </a:lnTo>
                <a:close/>
                <a:moveTo>
                  <a:pt x="757" y="598"/>
                </a:moveTo>
                <a:cubicBezTo>
                  <a:pt x="754" y="598"/>
                  <a:pt x="752" y="600"/>
                  <a:pt x="750" y="602"/>
                </a:cubicBezTo>
                <a:cubicBezTo>
                  <a:pt x="538" y="434"/>
                  <a:pt x="538" y="434"/>
                  <a:pt x="538" y="434"/>
                </a:cubicBezTo>
                <a:cubicBezTo>
                  <a:pt x="538" y="433"/>
                  <a:pt x="538" y="433"/>
                  <a:pt x="538" y="433"/>
                </a:cubicBezTo>
                <a:cubicBezTo>
                  <a:pt x="539" y="431"/>
                  <a:pt x="539" y="428"/>
                  <a:pt x="539" y="426"/>
                </a:cubicBezTo>
                <a:cubicBezTo>
                  <a:pt x="738" y="390"/>
                  <a:pt x="738" y="390"/>
                  <a:pt x="738" y="390"/>
                </a:cubicBezTo>
                <a:lnTo>
                  <a:pt x="757" y="598"/>
                </a:lnTo>
                <a:close/>
                <a:moveTo>
                  <a:pt x="734" y="246"/>
                </a:moveTo>
                <a:cubicBezTo>
                  <a:pt x="868" y="357"/>
                  <a:pt x="868" y="357"/>
                  <a:pt x="868" y="357"/>
                </a:cubicBezTo>
                <a:cubicBezTo>
                  <a:pt x="867" y="358"/>
                  <a:pt x="867" y="358"/>
                  <a:pt x="867" y="359"/>
                </a:cubicBezTo>
                <a:cubicBezTo>
                  <a:pt x="866" y="361"/>
                  <a:pt x="865" y="363"/>
                  <a:pt x="865" y="365"/>
                </a:cubicBezTo>
                <a:cubicBezTo>
                  <a:pt x="739" y="388"/>
                  <a:pt x="739" y="388"/>
                  <a:pt x="739" y="388"/>
                </a:cubicBezTo>
                <a:cubicBezTo>
                  <a:pt x="727" y="250"/>
                  <a:pt x="727" y="250"/>
                  <a:pt x="727" y="250"/>
                </a:cubicBezTo>
                <a:cubicBezTo>
                  <a:pt x="729" y="249"/>
                  <a:pt x="732" y="248"/>
                  <a:pt x="734" y="246"/>
                </a:cubicBezTo>
                <a:close/>
                <a:moveTo>
                  <a:pt x="717" y="247"/>
                </a:moveTo>
                <a:cubicBezTo>
                  <a:pt x="718" y="248"/>
                  <a:pt x="719" y="248"/>
                  <a:pt x="720" y="249"/>
                </a:cubicBezTo>
                <a:cubicBezTo>
                  <a:pt x="722" y="250"/>
                  <a:pt x="724" y="250"/>
                  <a:pt x="725" y="250"/>
                </a:cubicBezTo>
                <a:cubicBezTo>
                  <a:pt x="738" y="388"/>
                  <a:pt x="738" y="388"/>
                  <a:pt x="738" y="388"/>
                </a:cubicBezTo>
                <a:cubicBezTo>
                  <a:pt x="539" y="424"/>
                  <a:pt x="539" y="424"/>
                  <a:pt x="539" y="424"/>
                </a:cubicBezTo>
                <a:cubicBezTo>
                  <a:pt x="538" y="423"/>
                  <a:pt x="537" y="421"/>
                  <a:pt x="536" y="420"/>
                </a:cubicBezTo>
                <a:cubicBezTo>
                  <a:pt x="592" y="367"/>
                  <a:pt x="592" y="367"/>
                  <a:pt x="592" y="367"/>
                </a:cubicBezTo>
                <a:lnTo>
                  <a:pt x="717" y="247"/>
                </a:lnTo>
                <a:close/>
                <a:moveTo>
                  <a:pt x="716" y="246"/>
                </a:moveTo>
                <a:cubicBezTo>
                  <a:pt x="706" y="255"/>
                  <a:pt x="706" y="255"/>
                  <a:pt x="706" y="255"/>
                </a:cubicBezTo>
                <a:cubicBezTo>
                  <a:pt x="535" y="419"/>
                  <a:pt x="535" y="419"/>
                  <a:pt x="535" y="419"/>
                </a:cubicBezTo>
                <a:cubicBezTo>
                  <a:pt x="534" y="418"/>
                  <a:pt x="533" y="418"/>
                  <a:pt x="532" y="417"/>
                </a:cubicBezTo>
                <a:cubicBezTo>
                  <a:pt x="530" y="416"/>
                  <a:pt x="528" y="416"/>
                  <a:pt x="525" y="416"/>
                </a:cubicBezTo>
                <a:cubicBezTo>
                  <a:pt x="496" y="317"/>
                  <a:pt x="496" y="317"/>
                  <a:pt x="496" y="317"/>
                </a:cubicBezTo>
                <a:cubicBezTo>
                  <a:pt x="714" y="243"/>
                  <a:pt x="714" y="243"/>
                  <a:pt x="714" y="243"/>
                </a:cubicBezTo>
                <a:cubicBezTo>
                  <a:pt x="715" y="244"/>
                  <a:pt x="715" y="245"/>
                  <a:pt x="716" y="246"/>
                </a:cubicBezTo>
                <a:close/>
                <a:moveTo>
                  <a:pt x="517" y="432"/>
                </a:moveTo>
                <a:cubicBezTo>
                  <a:pt x="365" y="506"/>
                  <a:pt x="365" y="506"/>
                  <a:pt x="365" y="506"/>
                </a:cubicBezTo>
                <a:cubicBezTo>
                  <a:pt x="387" y="368"/>
                  <a:pt x="387" y="368"/>
                  <a:pt x="387" y="368"/>
                </a:cubicBezTo>
                <a:cubicBezTo>
                  <a:pt x="392" y="368"/>
                  <a:pt x="396" y="366"/>
                  <a:pt x="399" y="363"/>
                </a:cubicBezTo>
                <a:cubicBezTo>
                  <a:pt x="517" y="422"/>
                  <a:pt x="517" y="422"/>
                  <a:pt x="517" y="422"/>
                </a:cubicBezTo>
                <a:cubicBezTo>
                  <a:pt x="517" y="422"/>
                  <a:pt x="517" y="423"/>
                  <a:pt x="517" y="423"/>
                </a:cubicBezTo>
                <a:cubicBezTo>
                  <a:pt x="515" y="426"/>
                  <a:pt x="515" y="429"/>
                  <a:pt x="517" y="432"/>
                </a:cubicBezTo>
                <a:close/>
                <a:moveTo>
                  <a:pt x="459" y="229"/>
                </a:moveTo>
                <a:cubicBezTo>
                  <a:pt x="418" y="297"/>
                  <a:pt x="418" y="297"/>
                  <a:pt x="418" y="297"/>
                </a:cubicBezTo>
                <a:cubicBezTo>
                  <a:pt x="389" y="345"/>
                  <a:pt x="389" y="345"/>
                  <a:pt x="389" y="345"/>
                </a:cubicBezTo>
                <a:cubicBezTo>
                  <a:pt x="387" y="345"/>
                  <a:pt x="385" y="345"/>
                  <a:pt x="384" y="346"/>
                </a:cubicBezTo>
                <a:cubicBezTo>
                  <a:pt x="370" y="208"/>
                  <a:pt x="370" y="208"/>
                  <a:pt x="370" y="208"/>
                </a:cubicBezTo>
                <a:cubicBezTo>
                  <a:pt x="454" y="219"/>
                  <a:pt x="454" y="219"/>
                  <a:pt x="454" y="219"/>
                </a:cubicBezTo>
                <a:cubicBezTo>
                  <a:pt x="454" y="223"/>
                  <a:pt x="456" y="227"/>
                  <a:pt x="459" y="229"/>
                </a:cubicBezTo>
                <a:close/>
                <a:moveTo>
                  <a:pt x="399" y="361"/>
                </a:moveTo>
                <a:cubicBezTo>
                  <a:pt x="401" y="358"/>
                  <a:pt x="401" y="353"/>
                  <a:pt x="399" y="350"/>
                </a:cubicBezTo>
                <a:cubicBezTo>
                  <a:pt x="494" y="318"/>
                  <a:pt x="494" y="318"/>
                  <a:pt x="494" y="318"/>
                </a:cubicBezTo>
                <a:cubicBezTo>
                  <a:pt x="524" y="417"/>
                  <a:pt x="524" y="417"/>
                  <a:pt x="524" y="417"/>
                </a:cubicBezTo>
                <a:cubicBezTo>
                  <a:pt x="522" y="417"/>
                  <a:pt x="519" y="419"/>
                  <a:pt x="518" y="421"/>
                </a:cubicBezTo>
                <a:lnTo>
                  <a:pt x="399" y="361"/>
                </a:lnTo>
                <a:close/>
                <a:moveTo>
                  <a:pt x="477" y="224"/>
                </a:moveTo>
                <a:cubicBezTo>
                  <a:pt x="477" y="223"/>
                  <a:pt x="477" y="222"/>
                  <a:pt x="478" y="221"/>
                </a:cubicBezTo>
                <a:cubicBezTo>
                  <a:pt x="713" y="238"/>
                  <a:pt x="713" y="238"/>
                  <a:pt x="713" y="238"/>
                </a:cubicBezTo>
                <a:cubicBezTo>
                  <a:pt x="713" y="239"/>
                  <a:pt x="714" y="240"/>
                  <a:pt x="714" y="241"/>
                </a:cubicBezTo>
                <a:cubicBezTo>
                  <a:pt x="495" y="316"/>
                  <a:pt x="495" y="316"/>
                  <a:pt x="495" y="316"/>
                </a:cubicBezTo>
                <a:cubicBezTo>
                  <a:pt x="470" y="230"/>
                  <a:pt x="470" y="230"/>
                  <a:pt x="470" y="230"/>
                </a:cubicBezTo>
                <a:cubicBezTo>
                  <a:pt x="473" y="229"/>
                  <a:pt x="475" y="227"/>
                  <a:pt x="477" y="224"/>
                </a:cubicBezTo>
                <a:close/>
                <a:moveTo>
                  <a:pt x="468" y="231"/>
                </a:moveTo>
                <a:cubicBezTo>
                  <a:pt x="494" y="316"/>
                  <a:pt x="494" y="316"/>
                  <a:pt x="494" y="316"/>
                </a:cubicBezTo>
                <a:cubicBezTo>
                  <a:pt x="398" y="349"/>
                  <a:pt x="398" y="349"/>
                  <a:pt x="398" y="349"/>
                </a:cubicBezTo>
                <a:cubicBezTo>
                  <a:pt x="397" y="348"/>
                  <a:pt x="395" y="347"/>
                  <a:pt x="394" y="346"/>
                </a:cubicBezTo>
                <a:cubicBezTo>
                  <a:pt x="393" y="345"/>
                  <a:pt x="392" y="345"/>
                  <a:pt x="391" y="345"/>
                </a:cubicBezTo>
                <a:cubicBezTo>
                  <a:pt x="427" y="284"/>
                  <a:pt x="427" y="284"/>
                  <a:pt x="427" y="284"/>
                </a:cubicBezTo>
                <a:cubicBezTo>
                  <a:pt x="461" y="230"/>
                  <a:pt x="461" y="230"/>
                  <a:pt x="461" y="230"/>
                </a:cubicBezTo>
                <a:cubicBezTo>
                  <a:pt x="461" y="230"/>
                  <a:pt x="461" y="230"/>
                  <a:pt x="461" y="230"/>
                </a:cubicBezTo>
                <a:cubicBezTo>
                  <a:pt x="463" y="231"/>
                  <a:pt x="466" y="231"/>
                  <a:pt x="468" y="231"/>
                </a:cubicBezTo>
                <a:close/>
                <a:moveTo>
                  <a:pt x="355" y="24"/>
                </a:moveTo>
                <a:cubicBezTo>
                  <a:pt x="459" y="210"/>
                  <a:pt x="459" y="210"/>
                  <a:pt x="459" y="210"/>
                </a:cubicBezTo>
                <a:cubicBezTo>
                  <a:pt x="458" y="211"/>
                  <a:pt x="456" y="212"/>
                  <a:pt x="455" y="214"/>
                </a:cubicBezTo>
                <a:cubicBezTo>
                  <a:pt x="455" y="215"/>
                  <a:pt x="455" y="216"/>
                  <a:pt x="454" y="217"/>
                </a:cubicBezTo>
                <a:cubicBezTo>
                  <a:pt x="370" y="206"/>
                  <a:pt x="370" y="206"/>
                  <a:pt x="370" y="206"/>
                </a:cubicBezTo>
                <a:cubicBezTo>
                  <a:pt x="352" y="25"/>
                  <a:pt x="352" y="25"/>
                  <a:pt x="352" y="25"/>
                </a:cubicBezTo>
                <a:cubicBezTo>
                  <a:pt x="353" y="25"/>
                  <a:pt x="354" y="24"/>
                  <a:pt x="355" y="24"/>
                </a:cubicBezTo>
                <a:close/>
                <a:moveTo>
                  <a:pt x="343" y="23"/>
                </a:moveTo>
                <a:cubicBezTo>
                  <a:pt x="344" y="23"/>
                  <a:pt x="344" y="24"/>
                  <a:pt x="345" y="24"/>
                </a:cubicBezTo>
                <a:cubicBezTo>
                  <a:pt x="347" y="25"/>
                  <a:pt x="349" y="25"/>
                  <a:pt x="350" y="25"/>
                </a:cubicBezTo>
                <a:cubicBezTo>
                  <a:pt x="368" y="206"/>
                  <a:pt x="368" y="206"/>
                  <a:pt x="368" y="206"/>
                </a:cubicBezTo>
                <a:cubicBezTo>
                  <a:pt x="223" y="186"/>
                  <a:pt x="223" y="186"/>
                  <a:pt x="223" y="186"/>
                </a:cubicBezTo>
                <a:cubicBezTo>
                  <a:pt x="223" y="183"/>
                  <a:pt x="222" y="179"/>
                  <a:pt x="219" y="177"/>
                </a:cubicBezTo>
                <a:lnTo>
                  <a:pt x="343" y="23"/>
                </a:lnTo>
                <a:close/>
                <a:moveTo>
                  <a:pt x="222" y="191"/>
                </a:moveTo>
                <a:cubicBezTo>
                  <a:pt x="222" y="190"/>
                  <a:pt x="223" y="189"/>
                  <a:pt x="223" y="188"/>
                </a:cubicBezTo>
                <a:cubicBezTo>
                  <a:pt x="369" y="207"/>
                  <a:pt x="369" y="207"/>
                  <a:pt x="369" y="207"/>
                </a:cubicBezTo>
                <a:cubicBezTo>
                  <a:pt x="382" y="346"/>
                  <a:pt x="382" y="346"/>
                  <a:pt x="382" y="346"/>
                </a:cubicBezTo>
                <a:cubicBezTo>
                  <a:pt x="381" y="347"/>
                  <a:pt x="380" y="348"/>
                  <a:pt x="380" y="349"/>
                </a:cubicBezTo>
                <a:cubicBezTo>
                  <a:pt x="318" y="289"/>
                  <a:pt x="318" y="289"/>
                  <a:pt x="318" y="289"/>
                </a:cubicBezTo>
                <a:cubicBezTo>
                  <a:pt x="220" y="193"/>
                  <a:pt x="220" y="193"/>
                  <a:pt x="220" y="193"/>
                </a:cubicBezTo>
                <a:cubicBezTo>
                  <a:pt x="221" y="192"/>
                  <a:pt x="221" y="192"/>
                  <a:pt x="222" y="191"/>
                </a:cubicBezTo>
                <a:close/>
                <a:moveTo>
                  <a:pt x="219" y="194"/>
                </a:moveTo>
                <a:cubicBezTo>
                  <a:pt x="379" y="350"/>
                  <a:pt x="379" y="350"/>
                  <a:pt x="379" y="350"/>
                </a:cubicBezTo>
                <a:cubicBezTo>
                  <a:pt x="378" y="351"/>
                  <a:pt x="378" y="351"/>
                  <a:pt x="378" y="351"/>
                </a:cubicBezTo>
                <a:cubicBezTo>
                  <a:pt x="377" y="353"/>
                  <a:pt x="377" y="354"/>
                  <a:pt x="377" y="355"/>
                </a:cubicBezTo>
                <a:cubicBezTo>
                  <a:pt x="200" y="354"/>
                  <a:pt x="200" y="354"/>
                  <a:pt x="200" y="354"/>
                </a:cubicBezTo>
                <a:cubicBezTo>
                  <a:pt x="211" y="197"/>
                  <a:pt x="211" y="197"/>
                  <a:pt x="211" y="197"/>
                </a:cubicBezTo>
                <a:cubicBezTo>
                  <a:pt x="214" y="197"/>
                  <a:pt x="217" y="196"/>
                  <a:pt x="219" y="194"/>
                </a:cubicBezTo>
                <a:close/>
                <a:moveTo>
                  <a:pt x="206" y="196"/>
                </a:moveTo>
                <a:cubicBezTo>
                  <a:pt x="207" y="197"/>
                  <a:pt x="209" y="197"/>
                  <a:pt x="210" y="197"/>
                </a:cubicBezTo>
                <a:cubicBezTo>
                  <a:pt x="199" y="354"/>
                  <a:pt x="199" y="354"/>
                  <a:pt x="199" y="354"/>
                </a:cubicBezTo>
                <a:cubicBezTo>
                  <a:pt x="88" y="352"/>
                  <a:pt x="88" y="352"/>
                  <a:pt x="88" y="352"/>
                </a:cubicBezTo>
                <a:cubicBezTo>
                  <a:pt x="88" y="349"/>
                  <a:pt x="86" y="346"/>
                  <a:pt x="84" y="344"/>
                </a:cubicBezTo>
                <a:cubicBezTo>
                  <a:pt x="205" y="195"/>
                  <a:pt x="205" y="195"/>
                  <a:pt x="205" y="195"/>
                </a:cubicBezTo>
                <a:cubicBezTo>
                  <a:pt x="205" y="196"/>
                  <a:pt x="206" y="196"/>
                  <a:pt x="206" y="196"/>
                </a:cubicBezTo>
                <a:close/>
                <a:moveTo>
                  <a:pt x="73" y="342"/>
                </a:moveTo>
                <a:cubicBezTo>
                  <a:pt x="19" y="204"/>
                  <a:pt x="19" y="204"/>
                  <a:pt x="19" y="204"/>
                </a:cubicBezTo>
                <a:cubicBezTo>
                  <a:pt x="21" y="203"/>
                  <a:pt x="23" y="201"/>
                  <a:pt x="24" y="198"/>
                </a:cubicBezTo>
                <a:cubicBezTo>
                  <a:pt x="25" y="197"/>
                  <a:pt x="25" y="195"/>
                  <a:pt x="25" y="193"/>
                </a:cubicBezTo>
                <a:cubicBezTo>
                  <a:pt x="200" y="187"/>
                  <a:pt x="200" y="187"/>
                  <a:pt x="200" y="187"/>
                </a:cubicBezTo>
                <a:cubicBezTo>
                  <a:pt x="200" y="190"/>
                  <a:pt x="201" y="192"/>
                  <a:pt x="203" y="194"/>
                </a:cubicBezTo>
                <a:cubicBezTo>
                  <a:pt x="83" y="343"/>
                  <a:pt x="83" y="343"/>
                  <a:pt x="83" y="343"/>
                </a:cubicBezTo>
                <a:cubicBezTo>
                  <a:pt x="82" y="343"/>
                  <a:pt x="82" y="343"/>
                  <a:pt x="81" y="342"/>
                </a:cubicBezTo>
                <a:cubicBezTo>
                  <a:pt x="78" y="341"/>
                  <a:pt x="75" y="341"/>
                  <a:pt x="73" y="342"/>
                </a:cubicBezTo>
                <a:close/>
                <a:moveTo>
                  <a:pt x="179" y="585"/>
                </a:moveTo>
                <a:cubicBezTo>
                  <a:pt x="81" y="363"/>
                  <a:pt x="81" y="363"/>
                  <a:pt x="81" y="363"/>
                </a:cubicBezTo>
                <a:cubicBezTo>
                  <a:pt x="84" y="362"/>
                  <a:pt x="85" y="360"/>
                  <a:pt x="87" y="358"/>
                </a:cubicBezTo>
                <a:cubicBezTo>
                  <a:pt x="87" y="357"/>
                  <a:pt x="88" y="355"/>
                  <a:pt x="88" y="354"/>
                </a:cubicBezTo>
                <a:cubicBezTo>
                  <a:pt x="199" y="355"/>
                  <a:pt x="199" y="355"/>
                  <a:pt x="199" y="355"/>
                </a:cubicBezTo>
                <a:cubicBezTo>
                  <a:pt x="183" y="584"/>
                  <a:pt x="183" y="584"/>
                  <a:pt x="183" y="584"/>
                </a:cubicBezTo>
                <a:cubicBezTo>
                  <a:pt x="181" y="584"/>
                  <a:pt x="180" y="585"/>
                  <a:pt x="179" y="585"/>
                </a:cubicBezTo>
                <a:close/>
                <a:moveTo>
                  <a:pt x="190" y="587"/>
                </a:moveTo>
                <a:cubicBezTo>
                  <a:pt x="189" y="586"/>
                  <a:pt x="188" y="586"/>
                  <a:pt x="188" y="586"/>
                </a:cubicBezTo>
                <a:cubicBezTo>
                  <a:pt x="186" y="585"/>
                  <a:pt x="185" y="585"/>
                  <a:pt x="184" y="585"/>
                </a:cubicBezTo>
                <a:cubicBezTo>
                  <a:pt x="200" y="355"/>
                  <a:pt x="200" y="355"/>
                  <a:pt x="200" y="355"/>
                </a:cubicBezTo>
                <a:cubicBezTo>
                  <a:pt x="377" y="357"/>
                  <a:pt x="377" y="357"/>
                  <a:pt x="377" y="357"/>
                </a:cubicBezTo>
                <a:cubicBezTo>
                  <a:pt x="377" y="360"/>
                  <a:pt x="378" y="363"/>
                  <a:pt x="380" y="365"/>
                </a:cubicBezTo>
                <a:lnTo>
                  <a:pt x="190" y="587"/>
                </a:lnTo>
                <a:close/>
                <a:moveTo>
                  <a:pt x="191" y="588"/>
                </a:moveTo>
                <a:cubicBezTo>
                  <a:pt x="382" y="366"/>
                  <a:pt x="382" y="366"/>
                  <a:pt x="382" y="366"/>
                </a:cubicBezTo>
                <a:cubicBezTo>
                  <a:pt x="382" y="366"/>
                  <a:pt x="383" y="367"/>
                  <a:pt x="384" y="367"/>
                </a:cubicBezTo>
                <a:cubicBezTo>
                  <a:pt x="384" y="367"/>
                  <a:pt x="385" y="368"/>
                  <a:pt x="386" y="368"/>
                </a:cubicBezTo>
                <a:cubicBezTo>
                  <a:pt x="363" y="507"/>
                  <a:pt x="363" y="507"/>
                  <a:pt x="363" y="507"/>
                </a:cubicBezTo>
                <a:cubicBezTo>
                  <a:pt x="193" y="590"/>
                  <a:pt x="193" y="590"/>
                  <a:pt x="193" y="590"/>
                </a:cubicBezTo>
                <a:cubicBezTo>
                  <a:pt x="192" y="589"/>
                  <a:pt x="192" y="589"/>
                  <a:pt x="191" y="588"/>
                </a:cubicBezTo>
                <a:close/>
                <a:moveTo>
                  <a:pt x="347" y="537"/>
                </a:moveTo>
                <a:cubicBezTo>
                  <a:pt x="346" y="539"/>
                  <a:pt x="346" y="542"/>
                  <a:pt x="347" y="545"/>
                </a:cubicBezTo>
                <a:cubicBezTo>
                  <a:pt x="193" y="592"/>
                  <a:pt x="193" y="592"/>
                  <a:pt x="193" y="592"/>
                </a:cubicBezTo>
                <a:cubicBezTo>
                  <a:pt x="193" y="592"/>
                  <a:pt x="193" y="592"/>
                  <a:pt x="193" y="592"/>
                </a:cubicBezTo>
                <a:cubicBezTo>
                  <a:pt x="363" y="509"/>
                  <a:pt x="363" y="509"/>
                  <a:pt x="363" y="509"/>
                </a:cubicBezTo>
                <a:cubicBezTo>
                  <a:pt x="359" y="530"/>
                  <a:pt x="359" y="530"/>
                  <a:pt x="359" y="530"/>
                </a:cubicBezTo>
                <a:cubicBezTo>
                  <a:pt x="354" y="530"/>
                  <a:pt x="350" y="532"/>
                  <a:pt x="347" y="537"/>
                </a:cubicBezTo>
                <a:close/>
                <a:moveTo>
                  <a:pt x="363" y="531"/>
                </a:moveTo>
                <a:cubicBezTo>
                  <a:pt x="362" y="531"/>
                  <a:pt x="361" y="531"/>
                  <a:pt x="361" y="530"/>
                </a:cubicBezTo>
                <a:cubicBezTo>
                  <a:pt x="364" y="508"/>
                  <a:pt x="364" y="508"/>
                  <a:pt x="364" y="508"/>
                </a:cubicBezTo>
                <a:cubicBezTo>
                  <a:pt x="517" y="434"/>
                  <a:pt x="517" y="434"/>
                  <a:pt x="517" y="434"/>
                </a:cubicBezTo>
                <a:cubicBezTo>
                  <a:pt x="517" y="434"/>
                  <a:pt x="517" y="434"/>
                  <a:pt x="517" y="434"/>
                </a:cubicBezTo>
                <a:cubicBezTo>
                  <a:pt x="367" y="535"/>
                  <a:pt x="367" y="535"/>
                  <a:pt x="367" y="535"/>
                </a:cubicBezTo>
                <a:cubicBezTo>
                  <a:pt x="366" y="533"/>
                  <a:pt x="365" y="532"/>
                  <a:pt x="363" y="531"/>
                </a:cubicBezTo>
                <a:close/>
                <a:moveTo>
                  <a:pt x="701" y="738"/>
                </a:moveTo>
                <a:cubicBezTo>
                  <a:pt x="368" y="547"/>
                  <a:pt x="368" y="547"/>
                  <a:pt x="368" y="547"/>
                </a:cubicBezTo>
                <a:cubicBezTo>
                  <a:pt x="368" y="547"/>
                  <a:pt x="369" y="547"/>
                  <a:pt x="369" y="547"/>
                </a:cubicBezTo>
                <a:cubicBezTo>
                  <a:pt x="370" y="543"/>
                  <a:pt x="370" y="539"/>
                  <a:pt x="368" y="536"/>
                </a:cubicBezTo>
                <a:cubicBezTo>
                  <a:pt x="518" y="435"/>
                  <a:pt x="518" y="435"/>
                  <a:pt x="518" y="435"/>
                </a:cubicBezTo>
                <a:cubicBezTo>
                  <a:pt x="519" y="436"/>
                  <a:pt x="521" y="438"/>
                  <a:pt x="522" y="438"/>
                </a:cubicBezTo>
                <a:cubicBezTo>
                  <a:pt x="526" y="440"/>
                  <a:pt x="530" y="440"/>
                  <a:pt x="533" y="438"/>
                </a:cubicBezTo>
                <a:cubicBezTo>
                  <a:pt x="705" y="734"/>
                  <a:pt x="705" y="734"/>
                  <a:pt x="705" y="734"/>
                </a:cubicBezTo>
                <a:cubicBezTo>
                  <a:pt x="703" y="735"/>
                  <a:pt x="702" y="736"/>
                  <a:pt x="701" y="738"/>
                </a:cubicBezTo>
                <a:close/>
                <a:moveTo>
                  <a:pt x="706" y="733"/>
                </a:moveTo>
                <a:cubicBezTo>
                  <a:pt x="535" y="437"/>
                  <a:pt x="535" y="437"/>
                  <a:pt x="535" y="437"/>
                </a:cubicBezTo>
                <a:cubicBezTo>
                  <a:pt x="535" y="436"/>
                  <a:pt x="536" y="436"/>
                  <a:pt x="537" y="435"/>
                </a:cubicBezTo>
                <a:cubicBezTo>
                  <a:pt x="570" y="462"/>
                  <a:pt x="570" y="462"/>
                  <a:pt x="570" y="462"/>
                </a:cubicBezTo>
                <a:cubicBezTo>
                  <a:pt x="749" y="603"/>
                  <a:pt x="749" y="603"/>
                  <a:pt x="749" y="603"/>
                </a:cubicBezTo>
                <a:cubicBezTo>
                  <a:pt x="749" y="603"/>
                  <a:pt x="748" y="604"/>
                  <a:pt x="748" y="604"/>
                </a:cubicBezTo>
                <a:cubicBezTo>
                  <a:pt x="745" y="610"/>
                  <a:pt x="748" y="617"/>
                  <a:pt x="754" y="620"/>
                </a:cubicBezTo>
                <a:cubicBezTo>
                  <a:pt x="754" y="620"/>
                  <a:pt x="754" y="620"/>
                  <a:pt x="754" y="620"/>
                </a:cubicBezTo>
                <a:cubicBezTo>
                  <a:pt x="715" y="733"/>
                  <a:pt x="715" y="733"/>
                  <a:pt x="715" y="733"/>
                </a:cubicBezTo>
                <a:cubicBezTo>
                  <a:pt x="712" y="732"/>
                  <a:pt x="709" y="732"/>
                  <a:pt x="706" y="733"/>
                </a:cubicBezTo>
                <a:close/>
                <a:moveTo>
                  <a:pt x="721" y="738"/>
                </a:moveTo>
                <a:cubicBezTo>
                  <a:pt x="720" y="736"/>
                  <a:pt x="719" y="735"/>
                  <a:pt x="716" y="734"/>
                </a:cubicBezTo>
                <a:cubicBezTo>
                  <a:pt x="756" y="621"/>
                  <a:pt x="756" y="621"/>
                  <a:pt x="756" y="621"/>
                </a:cubicBezTo>
                <a:cubicBezTo>
                  <a:pt x="759" y="622"/>
                  <a:pt x="763" y="621"/>
                  <a:pt x="765" y="619"/>
                </a:cubicBezTo>
                <a:cubicBezTo>
                  <a:pt x="820" y="686"/>
                  <a:pt x="820" y="686"/>
                  <a:pt x="820" y="686"/>
                </a:cubicBezTo>
                <a:lnTo>
                  <a:pt x="721" y="738"/>
                </a:lnTo>
                <a:close/>
                <a:moveTo>
                  <a:pt x="847" y="731"/>
                </a:moveTo>
                <a:cubicBezTo>
                  <a:pt x="723" y="743"/>
                  <a:pt x="723" y="743"/>
                  <a:pt x="723" y="743"/>
                </a:cubicBezTo>
                <a:cubicBezTo>
                  <a:pt x="723" y="742"/>
                  <a:pt x="722" y="741"/>
                  <a:pt x="722" y="740"/>
                </a:cubicBezTo>
                <a:cubicBezTo>
                  <a:pt x="821" y="688"/>
                  <a:pt x="821" y="688"/>
                  <a:pt x="821" y="688"/>
                </a:cubicBezTo>
                <a:cubicBezTo>
                  <a:pt x="850" y="723"/>
                  <a:pt x="850" y="723"/>
                  <a:pt x="850" y="723"/>
                </a:cubicBezTo>
                <a:cubicBezTo>
                  <a:pt x="849" y="724"/>
                  <a:pt x="848" y="724"/>
                  <a:pt x="848" y="725"/>
                </a:cubicBezTo>
                <a:cubicBezTo>
                  <a:pt x="847" y="727"/>
                  <a:pt x="847" y="729"/>
                  <a:pt x="847" y="731"/>
                </a:cubicBezTo>
                <a:close/>
                <a:moveTo>
                  <a:pt x="765" y="1129"/>
                </a:moveTo>
                <a:cubicBezTo>
                  <a:pt x="581" y="860"/>
                  <a:pt x="581" y="860"/>
                  <a:pt x="581" y="860"/>
                </a:cubicBezTo>
                <a:cubicBezTo>
                  <a:pt x="582" y="859"/>
                  <a:pt x="583" y="858"/>
                  <a:pt x="584" y="856"/>
                </a:cubicBezTo>
                <a:cubicBezTo>
                  <a:pt x="586" y="853"/>
                  <a:pt x="586" y="850"/>
                  <a:pt x="585" y="847"/>
                </a:cubicBezTo>
                <a:cubicBezTo>
                  <a:pt x="848" y="736"/>
                  <a:pt x="848" y="736"/>
                  <a:pt x="848" y="736"/>
                </a:cubicBezTo>
                <a:cubicBezTo>
                  <a:pt x="849" y="738"/>
                  <a:pt x="851" y="740"/>
                  <a:pt x="853" y="741"/>
                </a:cubicBezTo>
                <a:cubicBezTo>
                  <a:pt x="854" y="741"/>
                  <a:pt x="855" y="741"/>
                  <a:pt x="855" y="742"/>
                </a:cubicBezTo>
                <a:cubicBezTo>
                  <a:pt x="773" y="1127"/>
                  <a:pt x="773" y="1127"/>
                  <a:pt x="773" y="1127"/>
                </a:cubicBezTo>
                <a:cubicBezTo>
                  <a:pt x="770" y="1127"/>
                  <a:pt x="768" y="1127"/>
                  <a:pt x="765" y="1129"/>
                </a:cubicBezTo>
                <a:close/>
                <a:moveTo>
                  <a:pt x="777" y="1129"/>
                </a:moveTo>
                <a:cubicBezTo>
                  <a:pt x="777" y="1128"/>
                  <a:pt x="777" y="1128"/>
                  <a:pt x="777" y="1128"/>
                </a:cubicBezTo>
                <a:cubicBezTo>
                  <a:pt x="776" y="1128"/>
                  <a:pt x="775" y="1128"/>
                  <a:pt x="775" y="1127"/>
                </a:cubicBezTo>
                <a:cubicBezTo>
                  <a:pt x="857" y="742"/>
                  <a:pt x="857" y="742"/>
                  <a:pt x="857" y="742"/>
                </a:cubicBezTo>
                <a:cubicBezTo>
                  <a:pt x="859" y="742"/>
                  <a:pt x="861" y="742"/>
                  <a:pt x="864" y="741"/>
                </a:cubicBezTo>
                <a:cubicBezTo>
                  <a:pt x="935" y="869"/>
                  <a:pt x="935" y="869"/>
                  <a:pt x="935" y="869"/>
                </a:cubicBezTo>
                <a:cubicBezTo>
                  <a:pt x="933" y="870"/>
                  <a:pt x="932" y="872"/>
                  <a:pt x="931" y="874"/>
                </a:cubicBezTo>
                <a:cubicBezTo>
                  <a:pt x="928" y="879"/>
                  <a:pt x="930" y="885"/>
                  <a:pt x="934" y="888"/>
                </a:cubicBezTo>
                <a:lnTo>
                  <a:pt x="777" y="1129"/>
                </a:lnTo>
                <a:close/>
                <a:moveTo>
                  <a:pt x="1024" y="1125"/>
                </a:moveTo>
                <a:cubicBezTo>
                  <a:pt x="1021" y="1129"/>
                  <a:pt x="1022" y="1134"/>
                  <a:pt x="1025" y="1137"/>
                </a:cubicBezTo>
                <a:cubicBezTo>
                  <a:pt x="935" y="1216"/>
                  <a:pt x="935" y="1216"/>
                  <a:pt x="935" y="1216"/>
                </a:cubicBezTo>
                <a:cubicBezTo>
                  <a:pt x="934" y="1215"/>
                  <a:pt x="933" y="1214"/>
                  <a:pt x="932" y="1214"/>
                </a:cubicBezTo>
                <a:cubicBezTo>
                  <a:pt x="927" y="1211"/>
                  <a:pt x="920" y="1213"/>
                  <a:pt x="917" y="1218"/>
                </a:cubicBezTo>
                <a:cubicBezTo>
                  <a:pt x="782" y="1144"/>
                  <a:pt x="782" y="1144"/>
                  <a:pt x="782" y="1144"/>
                </a:cubicBezTo>
                <a:cubicBezTo>
                  <a:pt x="782" y="1144"/>
                  <a:pt x="782" y="1144"/>
                  <a:pt x="782" y="1144"/>
                </a:cubicBezTo>
                <a:cubicBezTo>
                  <a:pt x="785" y="1139"/>
                  <a:pt x="783" y="1133"/>
                  <a:pt x="779" y="1129"/>
                </a:cubicBezTo>
                <a:cubicBezTo>
                  <a:pt x="936" y="889"/>
                  <a:pt x="936" y="889"/>
                  <a:pt x="936" y="889"/>
                </a:cubicBezTo>
                <a:cubicBezTo>
                  <a:pt x="936" y="889"/>
                  <a:pt x="936" y="889"/>
                  <a:pt x="936" y="889"/>
                </a:cubicBezTo>
                <a:cubicBezTo>
                  <a:pt x="939" y="891"/>
                  <a:pt x="942" y="891"/>
                  <a:pt x="945" y="890"/>
                </a:cubicBezTo>
                <a:cubicBezTo>
                  <a:pt x="1030" y="1119"/>
                  <a:pt x="1030" y="1119"/>
                  <a:pt x="1030" y="1119"/>
                </a:cubicBezTo>
                <a:cubicBezTo>
                  <a:pt x="1027" y="1120"/>
                  <a:pt x="1025" y="1122"/>
                  <a:pt x="1024" y="1125"/>
                </a:cubicBezTo>
                <a:close/>
                <a:moveTo>
                  <a:pt x="1037" y="1118"/>
                </a:moveTo>
                <a:cubicBezTo>
                  <a:pt x="1035" y="1118"/>
                  <a:pt x="1033" y="1118"/>
                  <a:pt x="1031" y="1119"/>
                </a:cubicBezTo>
                <a:cubicBezTo>
                  <a:pt x="946" y="889"/>
                  <a:pt x="946" y="889"/>
                  <a:pt x="946" y="889"/>
                </a:cubicBezTo>
                <a:cubicBezTo>
                  <a:pt x="949" y="888"/>
                  <a:pt x="951" y="886"/>
                  <a:pt x="952" y="884"/>
                </a:cubicBezTo>
                <a:cubicBezTo>
                  <a:pt x="953" y="881"/>
                  <a:pt x="953" y="878"/>
                  <a:pt x="952" y="875"/>
                </a:cubicBezTo>
                <a:cubicBezTo>
                  <a:pt x="1115" y="805"/>
                  <a:pt x="1115" y="805"/>
                  <a:pt x="1115" y="805"/>
                </a:cubicBezTo>
                <a:cubicBezTo>
                  <a:pt x="1116" y="807"/>
                  <a:pt x="1118" y="809"/>
                  <a:pt x="1120" y="810"/>
                </a:cubicBezTo>
                <a:cubicBezTo>
                  <a:pt x="1121" y="810"/>
                  <a:pt x="1121" y="811"/>
                  <a:pt x="1122" y="811"/>
                </a:cubicBezTo>
                <a:lnTo>
                  <a:pt x="1037" y="1118"/>
                </a:lnTo>
                <a:close/>
                <a:moveTo>
                  <a:pt x="1042" y="1107"/>
                </a:moveTo>
                <a:cubicBezTo>
                  <a:pt x="1083" y="958"/>
                  <a:pt x="1083" y="958"/>
                  <a:pt x="1083" y="958"/>
                </a:cubicBezTo>
                <a:cubicBezTo>
                  <a:pt x="1083" y="962"/>
                  <a:pt x="1085" y="966"/>
                  <a:pt x="1089" y="968"/>
                </a:cubicBezTo>
                <a:cubicBezTo>
                  <a:pt x="1089" y="968"/>
                  <a:pt x="1089" y="968"/>
                  <a:pt x="1090" y="968"/>
                </a:cubicBezTo>
                <a:lnTo>
                  <a:pt x="1042" y="1107"/>
                </a:lnTo>
                <a:close/>
                <a:moveTo>
                  <a:pt x="1085" y="951"/>
                </a:moveTo>
                <a:cubicBezTo>
                  <a:pt x="1121" y="820"/>
                  <a:pt x="1121" y="820"/>
                  <a:pt x="1121" y="820"/>
                </a:cubicBezTo>
                <a:cubicBezTo>
                  <a:pt x="1096" y="946"/>
                  <a:pt x="1096" y="946"/>
                  <a:pt x="1096" y="946"/>
                </a:cubicBezTo>
                <a:cubicBezTo>
                  <a:pt x="1091" y="945"/>
                  <a:pt x="1087" y="947"/>
                  <a:pt x="1085" y="951"/>
                </a:cubicBezTo>
                <a:close/>
                <a:moveTo>
                  <a:pt x="1102" y="948"/>
                </a:moveTo>
                <a:cubicBezTo>
                  <a:pt x="1101" y="948"/>
                  <a:pt x="1100" y="947"/>
                  <a:pt x="1100" y="947"/>
                </a:cubicBezTo>
                <a:cubicBezTo>
                  <a:pt x="1099" y="947"/>
                  <a:pt x="1098" y="946"/>
                  <a:pt x="1097" y="946"/>
                </a:cubicBezTo>
                <a:cubicBezTo>
                  <a:pt x="1124" y="811"/>
                  <a:pt x="1124" y="811"/>
                  <a:pt x="1124" y="811"/>
                </a:cubicBezTo>
                <a:cubicBezTo>
                  <a:pt x="1127" y="812"/>
                  <a:pt x="1131" y="811"/>
                  <a:pt x="1133" y="808"/>
                </a:cubicBezTo>
                <a:cubicBezTo>
                  <a:pt x="1188" y="862"/>
                  <a:pt x="1188" y="862"/>
                  <a:pt x="1188" y="862"/>
                </a:cubicBezTo>
                <a:lnTo>
                  <a:pt x="1102" y="948"/>
                </a:lnTo>
                <a:close/>
                <a:moveTo>
                  <a:pt x="1262" y="938"/>
                </a:moveTo>
                <a:cubicBezTo>
                  <a:pt x="1262" y="940"/>
                  <a:pt x="1261" y="942"/>
                  <a:pt x="1261" y="943"/>
                </a:cubicBezTo>
                <a:cubicBezTo>
                  <a:pt x="1106" y="956"/>
                  <a:pt x="1106" y="956"/>
                  <a:pt x="1106" y="956"/>
                </a:cubicBezTo>
                <a:cubicBezTo>
                  <a:pt x="1106" y="953"/>
                  <a:pt x="1105" y="951"/>
                  <a:pt x="1103" y="949"/>
                </a:cubicBezTo>
                <a:cubicBezTo>
                  <a:pt x="1189" y="863"/>
                  <a:pt x="1189" y="863"/>
                  <a:pt x="1189" y="863"/>
                </a:cubicBezTo>
                <a:cubicBezTo>
                  <a:pt x="1264" y="936"/>
                  <a:pt x="1264" y="936"/>
                  <a:pt x="1264" y="936"/>
                </a:cubicBezTo>
                <a:cubicBezTo>
                  <a:pt x="1263" y="936"/>
                  <a:pt x="1263" y="937"/>
                  <a:pt x="1262" y="938"/>
                </a:cubicBezTo>
                <a:close/>
                <a:moveTo>
                  <a:pt x="1272" y="915"/>
                </a:moveTo>
                <a:cubicBezTo>
                  <a:pt x="1272" y="932"/>
                  <a:pt x="1272" y="932"/>
                  <a:pt x="1272" y="932"/>
                </a:cubicBezTo>
                <a:cubicBezTo>
                  <a:pt x="1269" y="932"/>
                  <a:pt x="1267" y="933"/>
                  <a:pt x="1265" y="935"/>
                </a:cubicBezTo>
                <a:cubicBezTo>
                  <a:pt x="1190" y="862"/>
                  <a:pt x="1190" y="862"/>
                  <a:pt x="1190" y="862"/>
                </a:cubicBezTo>
                <a:cubicBezTo>
                  <a:pt x="1263" y="788"/>
                  <a:pt x="1263" y="788"/>
                  <a:pt x="1263" y="788"/>
                </a:cubicBezTo>
                <a:cubicBezTo>
                  <a:pt x="1264" y="789"/>
                  <a:pt x="1265" y="790"/>
                  <a:pt x="1266" y="790"/>
                </a:cubicBezTo>
                <a:cubicBezTo>
                  <a:pt x="1267" y="791"/>
                  <a:pt x="1269" y="791"/>
                  <a:pt x="1270" y="791"/>
                </a:cubicBezTo>
                <a:lnTo>
                  <a:pt x="1272" y="915"/>
                </a:lnTo>
                <a:close/>
                <a:moveTo>
                  <a:pt x="1260" y="775"/>
                </a:moveTo>
                <a:cubicBezTo>
                  <a:pt x="1259" y="776"/>
                  <a:pt x="1259" y="778"/>
                  <a:pt x="1259" y="780"/>
                </a:cubicBezTo>
                <a:cubicBezTo>
                  <a:pt x="1137" y="797"/>
                  <a:pt x="1137" y="797"/>
                  <a:pt x="1137" y="797"/>
                </a:cubicBezTo>
                <a:cubicBezTo>
                  <a:pt x="1137" y="797"/>
                  <a:pt x="1137" y="797"/>
                  <a:pt x="1137" y="797"/>
                </a:cubicBezTo>
                <a:cubicBezTo>
                  <a:pt x="1271" y="756"/>
                  <a:pt x="1271" y="756"/>
                  <a:pt x="1271" y="756"/>
                </a:cubicBezTo>
                <a:cubicBezTo>
                  <a:pt x="1271" y="768"/>
                  <a:pt x="1271" y="768"/>
                  <a:pt x="1271" y="768"/>
                </a:cubicBezTo>
                <a:cubicBezTo>
                  <a:pt x="1266" y="768"/>
                  <a:pt x="1262" y="770"/>
                  <a:pt x="1260" y="775"/>
                </a:cubicBezTo>
                <a:close/>
                <a:moveTo>
                  <a:pt x="1281" y="774"/>
                </a:moveTo>
                <a:cubicBezTo>
                  <a:pt x="1280" y="772"/>
                  <a:pt x="1278" y="770"/>
                  <a:pt x="1276" y="769"/>
                </a:cubicBezTo>
                <a:cubicBezTo>
                  <a:pt x="1275" y="768"/>
                  <a:pt x="1273" y="768"/>
                  <a:pt x="1272" y="768"/>
                </a:cubicBezTo>
                <a:cubicBezTo>
                  <a:pt x="1273" y="755"/>
                  <a:pt x="1273" y="755"/>
                  <a:pt x="1273" y="755"/>
                </a:cubicBezTo>
                <a:cubicBezTo>
                  <a:pt x="1460" y="698"/>
                  <a:pt x="1460" y="698"/>
                  <a:pt x="1460" y="698"/>
                </a:cubicBezTo>
                <a:lnTo>
                  <a:pt x="1281" y="774"/>
                </a:lnTo>
                <a:close/>
                <a:moveTo>
                  <a:pt x="1466" y="684"/>
                </a:moveTo>
                <a:cubicBezTo>
                  <a:pt x="1465" y="685"/>
                  <a:pt x="1464" y="686"/>
                  <a:pt x="1463" y="688"/>
                </a:cubicBezTo>
                <a:cubicBezTo>
                  <a:pt x="1462" y="690"/>
                  <a:pt x="1461" y="693"/>
                  <a:pt x="1462" y="696"/>
                </a:cubicBezTo>
                <a:cubicBezTo>
                  <a:pt x="1273" y="754"/>
                  <a:pt x="1273" y="754"/>
                  <a:pt x="1273" y="754"/>
                </a:cubicBezTo>
                <a:cubicBezTo>
                  <a:pt x="1292" y="456"/>
                  <a:pt x="1292" y="456"/>
                  <a:pt x="1292" y="456"/>
                </a:cubicBezTo>
                <a:cubicBezTo>
                  <a:pt x="1294" y="456"/>
                  <a:pt x="1296" y="455"/>
                  <a:pt x="1298" y="454"/>
                </a:cubicBezTo>
                <a:lnTo>
                  <a:pt x="1466" y="684"/>
                </a:lnTo>
                <a:close/>
                <a:moveTo>
                  <a:pt x="1454" y="376"/>
                </a:moveTo>
                <a:cubicBezTo>
                  <a:pt x="1304" y="446"/>
                  <a:pt x="1304" y="446"/>
                  <a:pt x="1304" y="446"/>
                </a:cubicBezTo>
                <a:cubicBezTo>
                  <a:pt x="1304" y="441"/>
                  <a:pt x="1302" y="436"/>
                  <a:pt x="1297" y="434"/>
                </a:cubicBezTo>
                <a:cubicBezTo>
                  <a:pt x="1293" y="432"/>
                  <a:pt x="1287" y="433"/>
                  <a:pt x="1284" y="436"/>
                </a:cubicBezTo>
                <a:cubicBezTo>
                  <a:pt x="1095" y="275"/>
                  <a:pt x="1095" y="275"/>
                  <a:pt x="1095" y="275"/>
                </a:cubicBezTo>
                <a:cubicBezTo>
                  <a:pt x="1453" y="369"/>
                  <a:pt x="1453" y="369"/>
                  <a:pt x="1453" y="369"/>
                </a:cubicBezTo>
                <a:cubicBezTo>
                  <a:pt x="1453" y="371"/>
                  <a:pt x="1453" y="374"/>
                  <a:pt x="1454" y="376"/>
                </a:cubicBezTo>
                <a:close/>
              </a:path>
            </a:pathLst>
          </a:custGeom>
          <a:gradFill flip="none" rotWithShape="1">
            <a:gsLst>
              <a:gs pos="0">
                <a:schemeClr val="tx2">
                  <a:alpha val="0"/>
                </a:schemeClr>
              </a:gs>
              <a:gs pos="100000">
                <a:schemeClr val="accent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365" tIns="138548" rIns="0" bIns="103910" rtlCol="0" anchor="t" anchorCtr="0"/>
          <a:lstStyle/>
          <a:p>
            <a:pPr defTabSz="1172979"/>
            <a:endParaRPr lang="de-DE" sz="770">
              <a:solidFill>
                <a:srgbClr val="1D4477"/>
              </a:solidFill>
              <a:latin typeface="RWE Sans"/>
            </a:endParaRPr>
          </a:p>
        </p:txBody>
      </p:sp>
    </p:spTree>
    <p:extLst>
      <p:ext uri="{BB962C8B-B14F-4D97-AF65-F5344CB8AC3E}">
        <p14:creationId xmlns:p14="http://schemas.microsoft.com/office/powerpoint/2010/main" val="139200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80" r:id="rId3"/>
    <p:sldLayoutId id="2147483673" r:id="rId4"/>
    <p:sldLayoutId id="2147483675" r:id="rId5"/>
    <p:sldLayoutId id="2147483681" r:id="rId6"/>
    <p:sldLayoutId id="2147483669" r:id="rId7"/>
    <p:sldLayoutId id="2147483670" r:id="rId8"/>
    <p:sldLayoutId id="2147483668" r:id="rId9"/>
    <p:sldLayoutId id="2147483650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77" r:id="rId16"/>
    <p:sldLayoutId id="2147483665" r:id="rId17"/>
    <p:sldLayoutId id="2147483667" r:id="rId18"/>
    <p:sldLayoutId id="2147483679" r:id="rId19"/>
    <p:sldLayoutId id="2147483666" r:id="rId20"/>
    <p:sldLayoutId id="2147483676" r:id="rId21"/>
  </p:sldLayoutIdLst>
  <p:hf hdr="0"/>
  <p:txStyles>
    <p:title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21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600" b="0" kern="1200" spc="0" baseline="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b="1" kern="1200" spc="0" baseline="0">
          <a:solidFill>
            <a:schemeClr val="accent5"/>
          </a:solidFill>
          <a:latin typeface="+mn-lt"/>
          <a:ea typeface="+mn-ea"/>
          <a:cs typeface="+mn-cs"/>
        </a:defRPr>
      </a:lvl2pPr>
      <a:lvl3pPr marL="288000" indent="-288000" algn="l" defTabSz="685800" rtl="0" eaLnBrk="1" latinLnBrk="0" hangingPunct="1">
        <a:lnSpc>
          <a:spcPct val="100000"/>
        </a:lnSpc>
        <a:spcBef>
          <a:spcPts val="600"/>
        </a:spcBef>
        <a:buClr>
          <a:schemeClr val="accent5"/>
        </a:buClr>
        <a:buFont typeface="RWE Sans" panose="00000500000000000000" pitchFamily="2" charset="0"/>
        <a:buChar char="•"/>
        <a:defRPr sz="1600" b="0" kern="1200" spc="0" baseline="0">
          <a:solidFill>
            <a:schemeClr val="accent2"/>
          </a:solidFill>
          <a:latin typeface="+mn-lt"/>
          <a:ea typeface="+mn-ea"/>
          <a:cs typeface="+mn-cs"/>
        </a:defRPr>
      </a:lvl3pPr>
      <a:lvl4pPr marL="576000" indent="-288000" algn="l" defTabSz="685800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RWE Sans" panose="00000500000000000000" pitchFamily="2" charset="0"/>
        <a:buChar char="-"/>
        <a:defRPr sz="1600" b="0" kern="1200" spc="0" baseline="0">
          <a:solidFill>
            <a:schemeClr val="accent2"/>
          </a:solidFill>
          <a:latin typeface="+mn-lt"/>
          <a:ea typeface="+mn-ea"/>
          <a:cs typeface="+mn-cs"/>
        </a:defRPr>
      </a:lvl4pPr>
      <a:lvl5pPr marL="288000" indent="-288000" algn="l" defTabSz="685800" rtl="0" eaLnBrk="1" latinLnBrk="0" hangingPunct="1">
        <a:lnSpc>
          <a:spcPct val="100000"/>
        </a:lnSpc>
        <a:spcBef>
          <a:spcPts val="600"/>
        </a:spcBef>
        <a:buClr>
          <a:schemeClr val="accent5"/>
        </a:buClr>
        <a:buFont typeface="+mj-lt"/>
        <a:buAutoNum type="arabicPeriod"/>
        <a:defRPr sz="1600" b="0" kern="1200" spc="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576000" indent="-288000" algn="l" defTabSz="685800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+mj-lt"/>
        <a:buAutoNum type="alphaLcPeriod"/>
        <a:defRPr sz="1600" b="0" kern="1200" spc="0" baseline="0">
          <a:solidFill>
            <a:schemeClr val="accent2"/>
          </a:solidFill>
          <a:latin typeface="+mn-lt"/>
          <a:ea typeface="+mn-ea"/>
          <a:cs typeface="+mn-cs"/>
        </a:defRPr>
      </a:lvl6pPr>
      <a:lvl7pPr marL="576000" indent="-288000" algn="l" defTabSz="685800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+mj-lt"/>
        <a:buAutoNum type="alphaLcPeriod"/>
        <a:defRPr sz="1600" b="0" kern="1200" spc="0" baseline="0">
          <a:solidFill>
            <a:schemeClr val="accent2"/>
          </a:solidFill>
          <a:latin typeface="+mn-lt"/>
          <a:ea typeface="+mn-ea"/>
          <a:cs typeface="+mn-cs"/>
        </a:defRPr>
      </a:lvl7pPr>
      <a:lvl8pPr marL="576000" indent="-288000" algn="l" defTabSz="685800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+mj-lt"/>
        <a:buAutoNum type="alphaLcPeriod"/>
        <a:defRPr sz="1600" b="0" kern="1200" spc="0" baseline="0">
          <a:solidFill>
            <a:schemeClr val="accent2"/>
          </a:solidFill>
          <a:latin typeface="+mn-lt"/>
          <a:ea typeface="+mn-ea"/>
          <a:cs typeface="+mn-cs"/>
        </a:defRPr>
      </a:lvl8pPr>
      <a:lvl9pPr marL="576000" indent="-288000" algn="l" defTabSz="685800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+mj-lt"/>
        <a:buAutoNum type="alphaLcPeriod"/>
        <a:defRPr sz="1600" b="0" kern="1200" spc="0" baseline="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pmjs.com/" TargetMode="External"/><Relationship Id="rId7" Type="http://schemas.openxmlformats.org/officeDocument/2006/relationships/hyperlink" Target="https://ducanh-next-pwa.vercel.app/" TargetMode="External"/><Relationship Id="rId2" Type="http://schemas.openxmlformats.org/officeDocument/2006/relationships/hyperlink" Target="https://developer.mozilla.org/de/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serwist.pages.dev/" TargetMode="External"/><Relationship Id="rId5" Type="http://schemas.openxmlformats.org/officeDocument/2006/relationships/hyperlink" Target="https://developer.chrome.com/docs/workbox" TargetMode="External"/><Relationship Id="rId4" Type="http://schemas.openxmlformats.org/officeDocument/2006/relationships/hyperlink" Target="https://github.com/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907AF91-9DD7-EFDE-8484-DC4A56F6812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Offline Cache – Progressive Web App – RWE Power App Plattform</a:t>
            </a:r>
            <a:endParaRPr lang="en-GB"/>
          </a:p>
        </p:txBody>
      </p:sp>
      <p:sp>
        <p:nvSpPr>
          <p:cNvPr id="12" name="Textfeld 6">
            <a:extLst>
              <a:ext uri="{FF2B5EF4-FFF2-40B4-BE49-F238E27FC236}">
                <a16:creationId xmlns:a16="http://schemas.microsoft.com/office/drawing/2014/main" id="{6EEF06B0-7C67-9C6B-2F4E-E7C4DDDFA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gray">
          <a:xfrm>
            <a:off x="686371" y="2233134"/>
            <a:ext cx="7153651" cy="1744067"/>
          </a:xfrm>
          <a:prstGeom prst="rect">
            <a:avLst/>
          </a:prstGeom>
        </p:spPr>
        <p:txBody>
          <a:bodyPr vert="horz" wrap="square" lIns="0" tIns="0" rIns="0" bIns="103917" rtlCol="0" anchor="b" anchorCtr="0">
            <a:noAutofit/>
          </a:bodyPr>
          <a:lstStyle/>
          <a:p>
            <a:pPr defTabSz="329821">
              <a:spcBef>
                <a:spcPts val="577"/>
              </a:spcBef>
            </a:pPr>
            <a:r>
              <a:rPr lang="en-US" sz="3000" b="1" dirty="0">
                <a:solidFill>
                  <a:srgbClr val="3ED8C3"/>
                </a:solidFill>
                <a:latin typeface="RWE Sans"/>
              </a:rPr>
              <a:t>RWE Power App Platform</a:t>
            </a:r>
          </a:p>
          <a:p>
            <a:pPr defTabSz="329821">
              <a:spcBef>
                <a:spcPts val="577"/>
              </a:spcBef>
            </a:pPr>
            <a:r>
              <a:rPr lang="en-US" sz="1600" b="1" dirty="0">
                <a:solidFill>
                  <a:srgbClr val="3ED8C3"/>
                </a:solidFill>
                <a:latin typeface="RWE Sans"/>
              </a:rPr>
              <a:t>Progressive Web App</a:t>
            </a:r>
            <a:endParaRPr lang="de-DE" sz="2000" b="1" dirty="0">
              <a:solidFill>
                <a:srgbClr val="3ED8C3"/>
              </a:solidFill>
              <a:latin typeface="RWE Sans"/>
            </a:endParaRPr>
          </a:p>
        </p:txBody>
      </p:sp>
      <p:cxnSp>
        <p:nvCxnSpPr>
          <p:cNvPr id="13" name="Straight Connector 67">
            <a:extLst>
              <a:ext uri="{FF2B5EF4-FFF2-40B4-BE49-F238E27FC236}">
                <a16:creationId xmlns:a16="http://schemas.microsoft.com/office/drawing/2014/main" id="{69D55915-EE8B-D432-9182-2C8F3138E700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gray">
          <a:xfrm>
            <a:off x="554835" y="2695381"/>
            <a:ext cx="3221425" cy="0"/>
          </a:xfrm>
          <a:prstGeom prst="line">
            <a:avLst/>
          </a:prstGeom>
          <a:ln w="6350">
            <a:gradFill flip="none" rotWithShape="1">
              <a:gsLst>
                <a:gs pos="0">
                  <a:schemeClr val="accent5"/>
                </a:gs>
                <a:gs pos="100000">
                  <a:schemeClr val="accent3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 92">
            <a:extLst>
              <a:ext uri="{FF2B5EF4-FFF2-40B4-BE49-F238E27FC236}">
                <a16:creationId xmlns:a16="http://schemas.microsoft.com/office/drawing/2014/main" id="{B3C2182D-54C3-F3C4-E02F-B1343C45EA73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554483" y="2695615"/>
            <a:ext cx="69278" cy="1281642"/>
          </a:xfrm>
          <a:prstGeom prst="rect">
            <a:avLst/>
          </a:prstGeom>
          <a:gradFill flip="none" rotWithShape="1">
            <a:gsLst>
              <a:gs pos="1000">
                <a:schemeClr val="accent2"/>
              </a:gs>
              <a:gs pos="100000">
                <a:schemeClr val="accent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990" tIns="12990" rIns="12990" bIns="12990" rtlCol="0" anchor="ctr"/>
          <a:lstStyle>
            <a:defPPr>
              <a:defRPr lang="de-DE"/>
            </a:defPPr>
            <a:lvl1pPr marL="0" algn="l" defTabSz="91435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78" algn="l" defTabSz="91435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57" algn="l" defTabSz="91435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36" algn="l" defTabSz="91435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14" algn="l" defTabSz="91435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892" algn="l" defTabSz="91435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070" algn="l" defTabSz="91435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49" algn="l" defTabSz="91435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28" algn="l" defTabSz="91435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916"/>
            <a:endParaRPr lang="en-GB" sz="530">
              <a:solidFill>
                <a:prstClr val="white"/>
              </a:solidFill>
              <a:latin typeface="RWE Sans"/>
            </a:endParaRPr>
          </a:p>
        </p:txBody>
      </p:sp>
      <p:cxnSp>
        <p:nvCxnSpPr>
          <p:cNvPr id="15" name="Straight Connector 67">
            <a:extLst>
              <a:ext uri="{FF2B5EF4-FFF2-40B4-BE49-F238E27FC236}">
                <a16:creationId xmlns:a16="http://schemas.microsoft.com/office/drawing/2014/main" id="{DD2AF757-9B70-EFC2-7E34-0B9559C6A145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gray">
          <a:xfrm>
            <a:off x="554834" y="3977165"/>
            <a:ext cx="6849642" cy="0"/>
          </a:xfrm>
          <a:prstGeom prst="line">
            <a:avLst/>
          </a:prstGeom>
          <a:ln w="6350">
            <a:gradFill flip="none" rotWithShape="1">
              <a:gsLst>
                <a:gs pos="0">
                  <a:schemeClr val="accent5"/>
                </a:gs>
                <a:gs pos="100000">
                  <a:schemeClr val="accent3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9EA856E-68D7-7E2B-7DEE-3A63B7A5BDC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88CD9B1-1C9E-4925-9A4A-7DD5170B6F16}" type="datetime1">
              <a:rPr lang="de-DE" smtClean="0"/>
              <a:t>08.12.2025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0E635AE-1D6C-8FAC-8CCE-F2A1A5624D4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599"/>
              <a:pPr/>
              <a:t>1</a:t>
            </a:fld>
            <a:endParaRPr lang="en-GB"/>
          </a:p>
        </p:txBody>
      </p:sp>
      <p:pic>
        <p:nvPicPr>
          <p:cNvPr id="10" name="Picture 2" descr="Visual Studio Code – Microsoft-Apps">
            <a:extLst>
              <a:ext uri="{FF2B5EF4-FFF2-40B4-BE49-F238E27FC236}">
                <a16:creationId xmlns:a16="http://schemas.microsoft.com/office/drawing/2014/main" id="{2190F620-A3EB-C522-242E-0A855F978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667" y="-1552568"/>
            <a:ext cx="45719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7590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4340206-DA96-E508-F146-421100B344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2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1EB85C-A58A-EF12-6EC1-012F4D9658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Offline Cache – Progressive Web App – RWE Power App </a:t>
            </a:r>
            <a:r>
              <a:rPr lang="en-US" dirty="0" err="1"/>
              <a:t>Plattform</a:t>
            </a: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16163B-B312-82AF-27E2-DFBCFD13C87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8426AC6-7C59-4EDE-82D3-276FB83BE45E}" type="datetime1">
              <a:rPr lang="de-DE" smtClean="0"/>
              <a:t>08.12.2025</a:t>
            </a:fld>
            <a:endParaRPr lang="de-DE" dirty="0"/>
          </a:p>
        </p:txBody>
      </p:sp>
      <p:sp>
        <p:nvSpPr>
          <p:cNvPr id="8" name="Vertikaler Textplatzhalter 7">
            <a:extLst>
              <a:ext uri="{FF2B5EF4-FFF2-40B4-BE49-F238E27FC236}">
                <a16:creationId xmlns:a16="http://schemas.microsoft.com/office/drawing/2014/main" id="{AAD1C97C-6457-16FD-6D6F-E529AEB9886F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457200" y="496302"/>
            <a:ext cx="8064001" cy="4018944"/>
          </a:xfrm>
        </p:spPr>
        <p:txBody>
          <a:bodyPr>
            <a:normAutofit fontScale="77500" lnSpcReduction="20000"/>
          </a:bodyPr>
          <a:lstStyle/>
          <a:p>
            <a:pPr rtl="0" fontAlgn="base"/>
            <a:r>
              <a:rPr lang="de-DE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Agenda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Einleitung	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Technische Grundlagen								 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Native Browser APIs </a:t>
            </a: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Strategien	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Framework-APIs </a:t>
            </a:r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			</a:t>
            </a: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b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</a:b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Security	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8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fontAlgn="base"/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Diskussion													</a:t>
            </a:r>
          </a:p>
          <a:p>
            <a:pPr fontAlgn="base"/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																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A7D8F78-491C-FE01-B8E6-869974F81B88}"/>
              </a:ext>
            </a:extLst>
          </p:cNvPr>
          <p:cNvCxnSpPr>
            <a:cxnSpLocks/>
          </p:cNvCxnSpPr>
          <p:nvPr/>
        </p:nvCxnSpPr>
        <p:spPr>
          <a:xfrm>
            <a:off x="338138" y="1305674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09C5C6F-47F4-E0EC-59BB-199689009062}"/>
              </a:ext>
            </a:extLst>
          </p:cNvPr>
          <p:cNvCxnSpPr>
            <a:cxnSpLocks/>
          </p:cNvCxnSpPr>
          <p:nvPr/>
        </p:nvCxnSpPr>
        <p:spPr>
          <a:xfrm>
            <a:off x="338138" y="1762874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0FEACAB-AA84-95F7-C2C9-362F8D0C8CC1}"/>
              </a:ext>
            </a:extLst>
          </p:cNvPr>
          <p:cNvCxnSpPr>
            <a:cxnSpLocks/>
          </p:cNvCxnSpPr>
          <p:nvPr/>
        </p:nvCxnSpPr>
        <p:spPr>
          <a:xfrm>
            <a:off x="338138" y="2178050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54BF4C78-652B-6A80-CC82-0E090C960FE7}"/>
              </a:ext>
            </a:extLst>
          </p:cNvPr>
          <p:cNvCxnSpPr>
            <a:cxnSpLocks/>
          </p:cNvCxnSpPr>
          <p:nvPr/>
        </p:nvCxnSpPr>
        <p:spPr>
          <a:xfrm>
            <a:off x="338138" y="2634411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A7B777AF-4195-36EB-72C9-BC3EF72D7EAD}"/>
              </a:ext>
            </a:extLst>
          </p:cNvPr>
          <p:cNvCxnSpPr>
            <a:cxnSpLocks/>
          </p:cNvCxnSpPr>
          <p:nvPr/>
        </p:nvCxnSpPr>
        <p:spPr>
          <a:xfrm>
            <a:off x="340520" y="3072561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FCB0C613-F66E-E9DB-DD52-AF802F607323}"/>
              </a:ext>
            </a:extLst>
          </p:cNvPr>
          <p:cNvCxnSpPr>
            <a:cxnSpLocks/>
          </p:cNvCxnSpPr>
          <p:nvPr/>
        </p:nvCxnSpPr>
        <p:spPr>
          <a:xfrm>
            <a:off x="347666" y="3534524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64118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9DD3FFA-05AA-5104-4D7E-D0DDA7CEAB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3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19CA612-6339-D45B-092D-DFE399B73B5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Offline Cache – Progressive Web App – RWE Power App Plattform</a:t>
            </a: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4C4E51-F93A-FB60-4304-E190FA070A4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417520-E41B-43C8-895A-2A55B2D526C9}" type="datetime1">
              <a:rPr lang="de-DE" smtClean="0"/>
              <a:t>08.12.2025</a:t>
            </a:fld>
            <a:endParaRPr lang="en-GB" dirty="0"/>
          </a:p>
        </p:txBody>
      </p:sp>
      <p:sp>
        <p:nvSpPr>
          <p:cNvPr id="5" name="Vertikaler Textplatzhalter 4">
            <a:extLst>
              <a:ext uri="{FF2B5EF4-FFF2-40B4-BE49-F238E27FC236}">
                <a16:creationId xmlns:a16="http://schemas.microsoft.com/office/drawing/2014/main" id="{9780972D-00FA-BD52-635F-2A5FA20DC174}"/>
              </a:ext>
            </a:extLst>
          </p:cNvPr>
          <p:cNvSpPr>
            <a:spLocks noGrp="1"/>
          </p:cNvSpPr>
          <p:nvPr>
            <p:ph type="body" orient="vert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C78C5D5-57DC-536E-B52E-4CC4DE6DB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Wir möchten eine Mobile Web App, die zuverlässig auch in Netzfehleder Umgebung Daten erfassen lässt.</a:t>
            </a:r>
          </a:p>
          <a:p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Warum keine native App?</a:t>
            </a:r>
          </a:p>
          <a:p>
            <a:pPr marL="285750" indent="-285750">
              <a:buFontTx/>
              <a:buChar char="-"/>
            </a:pPr>
            <a:r>
              <a:rPr lang="de-DE" dirty="0"/>
              <a:t>Warum keine klassische Webseite?</a:t>
            </a:r>
          </a:p>
        </p:txBody>
      </p:sp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1EB97126-11D5-3024-8F13-CD56E6B0CF58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/>
        <p:txBody>
          <a:bodyPr/>
          <a:lstStyle/>
          <a:p>
            <a:r>
              <a:rPr lang="de-DE"/>
              <a:t>Einleitung: Motivation &amp; Problemstellung</a:t>
            </a:r>
            <a:endParaRPr lang="de-DE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18CC1585-AC00-E88E-0D7E-53E5298362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209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770454C7-3956-7BE5-D120-E60E9B8A2E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33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2" name="AutoShape 8">
            <a:extLst>
              <a:ext uri="{FF2B5EF4-FFF2-40B4-BE49-F238E27FC236}">
                <a16:creationId xmlns:a16="http://schemas.microsoft.com/office/drawing/2014/main" id="{99E18CD4-8D0A-CA69-F23B-1C7A5A18B0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257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4905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4340206-DA96-E508-F146-421100B344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4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1EB85C-A58A-EF12-6EC1-012F4D9658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Offline Cache – Progressive Web App – RWE Power App </a:t>
            </a:r>
            <a:r>
              <a:rPr lang="en-US" dirty="0" err="1"/>
              <a:t>Plattform</a:t>
            </a: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16163B-B312-82AF-27E2-DFBCFD13C87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8426AC6-7C59-4EDE-82D3-276FB83BE45E}" type="datetime1">
              <a:rPr lang="de-DE" smtClean="0"/>
              <a:t>08.12.2025</a:t>
            </a:fld>
            <a:endParaRPr lang="de-DE" dirty="0"/>
          </a:p>
        </p:txBody>
      </p:sp>
      <p:sp>
        <p:nvSpPr>
          <p:cNvPr id="8" name="Vertikaler Textplatzhalter 7">
            <a:extLst>
              <a:ext uri="{FF2B5EF4-FFF2-40B4-BE49-F238E27FC236}">
                <a16:creationId xmlns:a16="http://schemas.microsoft.com/office/drawing/2014/main" id="{AAD1C97C-6457-16FD-6D6F-E529AEB9886F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457200" y="496302"/>
            <a:ext cx="8064001" cy="4018944"/>
          </a:xfrm>
        </p:spPr>
        <p:txBody>
          <a:bodyPr>
            <a:normAutofit fontScale="77500" lnSpcReduction="20000"/>
          </a:bodyPr>
          <a:lstStyle/>
          <a:p>
            <a:pPr rtl="0" fontAlgn="base"/>
            <a:r>
              <a:rPr lang="de-DE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Agenda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Einleitung	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Technische Grundlagen								 </a:t>
            </a:r>
          </a:p>
          <a:p>
            <a:pPr rtl="0" fontAlgn="base"/>
            <a:endParaRPr lang="de-DE" sz="1600" b="0" i="0" dirty="0"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Native Browser APIs </a:t>
            </a: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Strategien	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Framework-APIs </a:t>
            </a:r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			</a:t>
            </a: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b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</a:b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Security	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8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fontAlgn="base"/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Diskussion													</a:t>
            </a:r>
          </a:p>
          <a:p>
            <a:pPr fontAlgn="base"/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																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A7D8F78-491C-FE01-B8E6-869974F81B88}"/>
              </a:ext>
            </a:extLst>
          </p:cNvPr>
          <p:cNvCxnSpPr>
            <a:cxnSpLocks/>
          </p:cNvCxnSpPr>
          <p:nvPr/>
        </p:nvCxnSpPr>
        <p:spPr>
          <a:xfrm>
            <a:off x="338138" y="1305674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09C5C6F-47F4-E0EC-59BB-199689009062}"/>
              </a:ext>
            </a:extLst>
          </p:cNvPr>
          <p:cNvCxnSpPr>
            <a:cxnSpLocks/>
          </p:cNvCxnSpPr>
          <p:nvPr/>
        </p:nvCxnSpPr>
        <p:spPr>
          <a:xfrm>
            <a:off x="338138" y="1762874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0FEACAB-AA84-95F7-C2C9-362F8D0C8CC1}"/>
              </a:ext>
            </a:extLst>
          </p:cNvPr>
          <p:cNvCxnSpPr>
            <a:cxnSpLocks/>
          </p:cNvCxnSpPr>
          <p:nvPr/>
        </p:nvCxnSpPr>
        <p:spPr>
          <a:xfrm>
            <a:off x="338138" y="2178050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54BF4C78-652B-6A80-CC82-0E090C960FE7}"/>
              </a:ext>
            </a:extLst>
          </p:cNvPr>
          <p:cNvCxnSpPr>
            <a:cxnSpLocks/>
          </p:cNvCxnSpPr>
          <p:nvPr/>
        </p:nvCxnSpPr>
        <p:spPr>
          <a:xfrm>
            <a:off x="338138" y="2634411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A7B777AF-4195-36EB-72C9-BC3EF72D7EAD}"/>
              </a:ext>
            </a:extLst>
          </p:cNvPr>
          <p:cNvCxnSpPr>
            <a:cxnSpLocks/>
          </p:cNvCxnSpPr>
          <p:nvPr/>
        </p:nvCxnSpPr>
        <p:spPr>
          <a:xfrm>
            <a:off x="340520" y="3072561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FCB0C613-F66E-E9DB-DD52-AF802F607323}"/>
              </a:ext>
            </a:extLst>
          </p:cNvPr>
          <p:cNvCxnSpPr>
            <a:cxnSpLocks/>
          </p:cNvCxnSpPr>
          <p:nvPr/>
        </p:nvCxnSpPr>
        <p:spPr>
          <a:xfrm>
            <a:off x="347666" y="3534524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21669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0C7493F-109C-BF62-164A-C8BF09B6EFA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7EDCAE2-C335-7887-39E7-0956F6AD2F6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GB"/>
              <a:t>Offline Cache – Progressive Web App – RWE Power App Plattform</a:t>
            </a: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4C2165-0C61-502E-2D2F-84B016F69CC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1D417520-E41B-43C8-895A-2A55B2D526C9}" type="datetime1">
              <a:rPr lang="de-DE" smtClean="0"/>
              <a:t>08.12.2025</a:t>
            </a:fld>
            <a:endParaRPr lang="en-GB" dirty="0"/>
          </a:p>
        </p:txBody>
      </p:sp>
      <p:sp>
        <p:nvSpPr>
          <p:cNvPr id="13" name="Vertikaler Textplatzhalter 12">
            <a:extLst>
              <a:ext uri="{FF2B5EF4-FFF2-40B4-BE49-F238E27FC236}">
                <a16:creationId xmlns:a16="http://schemas.microsoft.com/office/drawing/2014/main" id="{7E316467-1CC4-3C4A-FCE0-BA8CE2571B8B}"/>
              </a:ext>
            </a:extLst>
          </p:cNvPr>
          <p:cNvSpPr>
            <a:spLocks noGrp="1"/>
          </p:cNvSpPr>
          <p:nvPr>
            <p:ph type="body" orient="vert" idx="3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E56A55B-4A1D-A5CB-68E0-8D0FB02808D4}"/>
              </a:ext>
            </a:extLst>
          </p:cNvPr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Lässt sich aus dem Browser heraus installieren</a:t>
            </a:r>
          </a:p>
          <a:p>
            <a:pPr marL="285750" indent="-285750">
              <a:buFontTx/>
              <a:buChar char="-"/>
            </a:pPr>
            <a:r>
              <a:rPr lang="de-DE" dirty="0"/>
              <a:t>Lässt sich wie eine native App öffnen</a:t>
            </a:r>
          </a:p>
          <a:p>
            <a:endParaRPr lang="de-DE" dirty="0"/>
          </a:p>
        </p:txBody>
      </p:sp>
      <p:sp>
        <p:nvSpPr>
          <p:cNvPr id="11" name="Vertikaler Textplatzhalter 10">
            <a:extLst>
              <a:ext uri="{FF2B5EF4-FFF2-40B4-BE49-F238E27FC236}">
                <a16:creationId xmlns:a16="http://schemas.microsoft.com/office/drawing/2014/main" id="{BE7EE159-482F-800C-4332-3455514E995D}"/>
              </a:ext>
            </a:extLst>
          </p:cNvPr>
          <p:cNvSpPr>
            <a:spLocks noGrp="1"/>
          </p:cNvSpPr>
          <p:nvPr>
            <p:ph type="body" orient="vert" idx="20"/>
          </p:nvPr>
        </p:nvSpPr>
        <p:spPr/>
        <p:txBody>
          <a:bodyPr/>
          <a:lstStyle/>
          <a:p>
            <a:r>
              <a:rPr lang="de-DE" dirty="0"/>
              <a:t>Installierbar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A6A9919-3233-AC3F-1D57-11EF8E082B64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Offline nutzbar</a:t>
            </a:r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sp>
        <p:nvSpPr>
          <p:cNvPr id="10" name="Vertikaler Textplatzhalter 9">
            <a:extLst>
              <a:ext uri="{FF2B5EF4-FFF2-40B4-BE49-F238E27FC236}">
                <a16:creationId xmlns:a16="http://schemas.microsoft.com/office/drawing/2014/main" id="{C6227E0D-C89C-2A33-27E5-C3EE895BDC17}"/>
              </a:ext>
            </a:extLst>
          </p:cNvPr>
          <p:cNvSpPr>
            <a:spLocks noGrp="1"/>
          </p:cNvSpPr>
          <p:nvPr>
            <p:ph type="body" orient="vert" idx="19"/>
          </p:nvPr>
        </p:nvSpPr>
        <p:spPr/>
        <p:txBody>
          <a:bodyPr/>
          <a:lstStyle/>
          <a:p>
            <a:r>
              <a:rPr lang="de-DE" dirty="0"/>
              <a:t>Zuverlässig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76E5949-BB69-9D7F-69A1-1696944C2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Push Benachrichtigungen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Sync</a:t>
            </a:r>
            <a:r>
              <a:rPr lang="de-DE" dirty="0"/>
              <a:t> im Hintergrund</a:t>
            </a:r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sp>
        <p:nvSpPr>
          <p:cNvPr id="9" name="Vertikaler Textplatzhalter 8">
            <a:extLst>
              <a:ext uri="{FF2B5EF4-FFF2-40B4-BE49-F238E27FC236}">
                <a16:creationId xmlns:a16="http://schemas.microsoft.com/office/drawing/2014/main" id="{70FBCCD9-7B2F-BC9A-A883-63C06EE1B0FC}"/>
              </a:ext>
            </a:extLst>
          </p:cNvPr>
          <p:cNvSpPr>
            <a:spLocks noGrp="1"/>
          </p:cNvSpPr>
          <p:nvPr>
            <p:ph type="body" orient="vert" idx="18"/>
          </p:nvPr>
        </p:nvSpPr>
        <p:spPr/>
        <p:txBody>
          <a:bodyPr/>
          <a:lstStyle/>
          <a:p>
            <a:r>
              <a:rPr lang="de-DE" dirty="0"/>
              <a:t>Funktional</a:t>
            </a:r>
          </a:p>
        </p:txBody>
      </p:sp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D0ADF3B2-67AE-6C66-D136-9AC263EC8A04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/>
        <p:txBody>
          <a:bodyPr/>
          <a:lstStyle/>
          <a:p>
            <a:r>
              <a:rPr lang="de-DE" dirty="0"/>
              <a:t>Technische Grundlagen: PWA</a:t>
            </a:r>
          </a:p>
        </p:txBody>
      </p:sp>
    </p:spTree>
    <p:extLst>
      <p:ext uri="{BB962C8B-B14F-4D97-AF65-F5344CB8AC3E}">
        <p14:creationId xmlns:p14="http://schemas.microsoft.com/office/powerpoint/2010/main" val="3808805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E7F5569-C18C-C9B1-7195-D00C050C07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098164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Page </a:t>
            </a:r>
            <a:fld id="{677F1DB9-6BD1-4662-AD32-A5C07CCC53B6}" type="slidenum">
              <a:rPr lang="en-GB" smtClean="0"/>
              <a:pPr>
                <a:spcAft>
                  <a:spcPts val="600"/>
                </a:spcAft>
              </a:pPr>
              <a:t>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D87CCA1-A227-7855-2FDF-C96554EDC3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440000" y="4864142"/>
            <a:ext cx="6588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Offline Cache – Progressive Web App – RWE Power App Plattform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8097F2-B43E-366B-71B3-2CBA9D31982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63999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fld id="{1230ECE7-7A78-4021-852E-D60A43FA3157}" type="datetime1">
              <a:rPr lang="de-DE" smtClean="0"/>
              <a:pPr>
                <a:spcAft>
                  <a:spcPts val="600"/>
                </a:spcAft>
              </a:pPr>
              <a:t>08.12.2025</a:t>
            </a:fld>
            <a:endParaRPr lang="en-GB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4BA0EB4-B7C8-1B77-3F70-AF95CD021B82}"/>
              </a:ext>
            </a:extLst>
          </p:cNvPr>
          <p:cNvSpPr>
            <a:spLocks noGrp="1"/>
          </p:cNvSpPr>
          <p:nvPr>
            <p:ph type="body" orient="vert" idx="14"/>
          </p:nvPr>
        </p:nvSpPr>
        <p:spPr>
          <a:xfrm>
            <a:off x="538162" y="1438275"/>
            <a:ext cx="8064000" cy="3240000"/>
          </a:xfrm>
        </p:spPr>
        <p:txBody>
          <a:bodyPr anchor="t">
            <a:normAutofit/>
          </a:bodyPr>
          <a:lstStyle/>
          <a:p>
            <a:r>
              <a:rPr lang="de-DE" dirty="0"/>
              <a:t>Service </a:t>
            </a:r>
            <a:r>
              <a:rPr lang="de-DE" dirty="0" err="1"/>
              <a:t>Worker</a:t>
            </a:r>
            <a:r>
              <a:rPr lang="de-DE" dirty="0"/>
              <a:t>…</a:t>
            </a:r>
          </a:p>
          <a:p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ist ein Zwischenglied der Webanwendung und Server </a:t>
            </a:r>
          </a:p>
          <a:p>
            <a:pPr marL="285750" indent="-285750">
              <a:buFontTx/>
              <a:buChar char="-"/>
            </a:pPr>
            <a:r>
              <a:rPr lang="de-DE" dirty="0"/>
              <a:t>steuert Netzwerkanfragen für Offline-Fähigkeit durch Caching</a:t>
            </a:r>
          </a:p>
          <a:p>
            <a:pPr marL="285750" indent="-285750">
              <a:buFontTx/>
              <a:buChar char="-"/>
            </a:pPr>
            <a:r>
              <a:rPr lang="de-DE" dirty="0"/>
              <a:t>ist Programmierbar</a:t>
            </a:r>
          </a:p>
          <a:p>
            <a:pPr marL="285750" indent="-285750">
              <a:buFontTx/>
              <a:buChar char="-"/>
            </a:pPr>
            <a:r>
              <a:rPr lang="de-DE" dirty="0"/>
              <a:t>legt Fokus auf Performance</a:t>
            </a:r>
          </a:p>
        </p:txBody>
      </p:sp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33850F2E-693A-2A7D-9140-7918D559AB17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538163" y="358776"/>
            <a:ext cx="8062913" cy="684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Technische Grundlagen: Service </a:t>
            </a:r>
            <a:r>
              <a:rPr lang="de-DE" dirty="0" err="1"/>
              <a:t>Worker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142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4340206-DA96-E508-F146-421100B344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7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1EB85C-A58A-EF12-6EC1-012F4D9658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Offline Cache – Progressive Web App – RWE Power App </a:t>
            </a:r>
            <a:r>
              <a:rPr lang="en-US" dirty="0" err="1"/>
              <a:t>Plattform</a:t>
            </a: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16163B-B312-82AF-27E2-DFBCFD13C87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8426AC6-7C59-4EDE-82D3-276FB83BE45E}" type="datetime1">
              <a:rPr lang="de-DE" smtClean="0"/>
              <a:t>08.12.2025</a:t>
            </a:fld>
            <a:endParaRPr lang="de-DE" dirty="0"/>
          </a:p>
        </p:txBody>
      </p:sp>
      <p:sp>
        <p:nvSpPr>
          <p:cNvPr id="8" name="Vertikaler Textplatzhalter 7">
            <a:extLst>
              <a:ext uri="{FF2B5EF4-FFF2-40B4-BE49-F238E27FC236}">
                <a16:creationId xmlns:a16="http://schemas.microsoft.com/office/drawing/2014/main" id="{AAD1C97C-6457-16FD-6D6F-E529AEB9886F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457200" y="496302"/>
            <a:ext cx="8064001" cy="4018944"/>
          </a:xfrm>
        </p:spPr>
        <p:txBody>
          <a:bodyPr>
            <a:normAutofit fontScale="77500" lnSpcReduction="20000"/>
          </a:bodyPr>
          <a:lstStyle/>
          <a:p>
            <a:pPr rtl="0" fontAlgn="base"/>
            <a:r>
              <a:rPr lang="de-DE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Agenda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Einleitung	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Technische Grundlagen								 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dirty="0">
                <a:solidFill>
                  <a:schemeClr val="bg1"/>
                </a:solidFill>
                <a:latin typeface="Calibri" panose="020F0502020204030204" pitchFamily="34" charset="0"/>
              </a:rPr>
              <a:t>Native Browser APIs </a:t>
            </a:r>
            <a:r>
              <a:rPr lang="de-DE" sz="1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Strategien	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Framework-APIs </a:t>
            </a:r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			</a:t>
            </a: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b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</a:b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Security	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8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fontAlgn="base"/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Diskussion													</a:t>
            </a:r>
          </a:p>
          <a:p>
            <a:pPr fontAlgn="base"/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																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A7D8F78-491C-FE01-B8E6-869974F81B88}"/>
              </a:ext>
            </a:extLst>
          </p:cNvPr>
          <p:cNvCxnSpPr>
            <a:cxnSpLocks/>
          </p:cNvCxnSpPr>
          <p:nvPr/>
        </p:nvCxnSpPr>
        <p:spPr>
          <a:xfrm>
            <a:off x="338138" y="1305674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09C5C6F-47F4-E0EC-59BB-199689009062}"/>
              </a:ext>
            </a:extLst>
          </p:cNvPr>
          <p:cNvCxnSpPr>
            <a:cxnSpLocks/>
          </p:cNvCxnSpPr>
          <p:nvPr/>
        </p:nvCxnSpPr>
        <p:spPr>
          <a:xfrm>
            <a:off x="338138" y="1762874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0FEACAB-AA84-95F7-C2C9-362F8D0C8CC1}"/>
              </a:ext>
            </a:extLst>
          </p:cNvPr>
          <p:cNvCxnSpPr>
            <a:cxnSpLocks/>
          </p:cNvCxnSpPr>
          <p:nvPr/>
        </p:nvCxnSpPr>
        <p:spPr>
          <a:xfrm>
            <a:off x="338138" y="2178050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54BF4C78-652B-6A80-CC82-0E090C960FE7}"/>
              </a:ext>
            </a:extLst>
          </p:cNvPr>
          <p:cNvCxnSpPr>
            <a:cxnSpLocks/>
          </p:cNvCxnSpPr>
          <p:nvPr/>
        </p:nvCxnSpPr>
        <p:spPr>
          <a:xfrm>
            <a:off x="338138" y="2634411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A7B777AF-4195-36EB-72C9-BC3EF72D7EAD}"/>
              </a:ext>
            </a:extLst>
          </p:cNvPr>
          <p:cNvCxnSpPr>
            <a:cxnSpLocks/>
          </p:cNvCxnSpPr>
          <p:nvPr/>
        </p:nvCxnSpPr>
        <p:spPr>
          <a:xfrm>
            <a:off x="340520" y="3072561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FCB0C613-F66E-E9DB-DD52-AF802F607323}"/>
              </a:ext>
            </a:extLst>
          </p:cNvPr>
          <p:cNvCxnSpPr>
            <a:cxnSpLocks/>
          </p:cNvCxnSpPr>
          <p:nvPr/>
        </p:nvCxnSpPr>
        <p:spPr>
          <a:xfrm>
            <a:off x="347666" y="3534524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01583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4F7C9E6-A48F-58F0-8283-BB80362DC4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8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C067250-3AA9-608B-413A-8D9269EF02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Offline Cache – Progressive Web App – RWE Power App Plattform</a:t>
            </a: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5BD3431-7EDA-AF76-9355-DAC340E46E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417520-E41B-43C8-895A-2A55B2D526C9}" type="datetime1">
              <a:rPr lang="de-DE" smtClean="0"/>
              <a:t>08.12.2025</a:t>
            </a:fld>
            <a:endParaRPr lang="en-GB" dirty="0"/>
          </a:p>
        </p:txBody>
      </p:sp>
      <p:sp>
        <p:nvSpPr>
          <p:cNvPr id="5" name="Vertikaler Textplatzhalter 4">
            <a:extLst>
              <a:ext uri="{FF2B5EF4-FFF2-40B4-BE49-F238E27FC236}">
                <a16:creationId xmlns:a16="http://schemas.microsoft.com/office/drawing/2014/main" id="{1D191BDF-78F9-FEBF-195C-05CDDA0E398F}"/>
              </a:ext>
            </a:extLst>
          </p:cNvPr>
          <p:cNvSpPr>
            <a:spLocks noGrp="1"/>
          </p:cNvSpPr>
          <p:nvPr>
            <p:ph type="body" orient="vert" idx="17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6" name="Objekt 5">
            <a:extLst>
              <a:ext uri="{FF2B5EF4-FFF2-40B4-BE49-F238E27FC236}">
                <a16:creationId xmlns:a16="http://schemas.microsoft.com/office/drawing/2014/main" id="{6BE04D72-3010-C592-DD05-6F92CAA86A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0317305"/>
              </p:ext>
            </p:extLst>
          </p:nvPr>
        </p:nvGraphicFramePr>
        <p:xfrm>
          <a:off x="1524000" y="838200"/>
          <a:ext cx="6096000" cy="347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9831218" imgH="11286954" progId="Excel.Sheet.12">
                  <p:embed/>
                </p:oleObj>
              </mc:Choice>
              <mc:Fallback>
                <p:oleObj name="Worksheet" r:id="rId2" imgW="19831218" imgH="11286954" progId="Excel.Sheet.12">
                  <p:embed/>
                  <p:pic>
                    <p:nvPicPr>
                      <p:cNvPr id="6" name="Objekt 5">
                        <a:extLst>
                          <a:ext uri="{FF2B5EF4-FFF2-40B4-BE49-F238E27FC236}">
                            <a16:creationId xmlns:a16="http://schemas.microsoft.com/office/drawing/2014/main" id="{6BE04D72-3010-C592-DD05-6F92CAA86A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4000" y="838200"/>
                        <a:ext cx="6096000" cy="3470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E4C58953-1508-39CF-8F9D-943EEC7A79FA}"/>
              </a:ext>
            </a:extLst>
          </p:cNvPr>
          <p:cNvSpPr/>
          <p:nvPr/>
        </p:nvSpPr>
        <p:spPr>
          <a:xfrm>
            <a:off x="1755775" y="1146175"/>
            <a:ext cx="5791200" cy="1165225"/>
          </a:xfrm>
          <a:prstGeom prst="rect">
            <a:avLst/>
          </a:prstGeom>
          <a:noFill/>
          <a:ln w="19050">
            <a:solidFill>
              <a:srgbClr val="E52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de-DE" sz="1600" dirty="0" err="1">
              <a:solidFill>
                <a:schemeClr val="bg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FFFC369-C5B0-375C-129A-7DC16398BC59}"/>
              </a:ext>
            </a:extLst>
          </p:cNvPr>
          <p:cNvSpPr/>
          <p:nvPr/>
        </p:nvSpPr>
        <p:spPr>
          <a:xfrm>
            <a:off x="1755775" y="3082926"/>
            <a:ext cx="5791200" cy="387350"/>
          </a:xfrm>
          <a:prstGeom prst="rect">
            <a:avLst/>
          </a:prstGeom>
          <a:noFill/>
          <a:ln w="19050">
            <a:solidFill>
              <a:srgbClr val="E52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de-DE" sz="1600" dirty="0" err="1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3C13204-4D10-FC8F-7F4C-3BFE6DFB55F1}"/>
              </a:ext>
            </a:extLst>
          </p:cNvPr>
          <p:cNvSpPr/>
          <p:nvPr/>
        </p:nvSpPr>
        <p:spPr>
          <a:xfrm>
            <a:off x="1755775" y="3470276"/>
            <a:ext cx="5791200" cy="387350"/>
          </a:xfrm>
          <a:prstGeom prst="rect">
            <a:avLst/>
          </a:prstGeom>
          <a:noFill/>
          <a:ln w="19050">
            <a:solidFill>
              <a:srgbClr val="E52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de-DE" sz="1600" dirty="0" err="1">
              <a:solidFill>
                <a:schemeClr val="bg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2AD12A8-E642-E4EE-F5BA-56A426EE0021}"/>
              </a:ext>
            </a:extLst>
          </p:cNvPr>
          <p:cNvSpPr/>
          <p:nvPr/>
        </p:nvSpPr>
        <p:spPr>
          <a:xfrm>
            <a:off x="1755775" y="2311400"/>
            <a:ext cx="5791200" cy="387350"/>
          </a:xfrm>
          <a:prstGeom prst="rect">
            <a:avLst/>
          </a:prstGeom>
          <a:noFill/>
          <a:ln w="19050">
            <a:solidFill>
              <a:srgbClr val="E52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de-DE" sz="1600" dirty="0" err="1">
              <a:solidFill>
                <a:schemeClr val="bg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112DD7E-AFE7-1167-DF9D-C21215712575}"/>
              </a:ext>
            </a:extLst>
          </p:cNvPr>
          <p:cNvSpPr/>
          <p:nvPr/>
        </p:nvSpPr>
        <p:spPr>
          <a:xfrm>
            <a:off x="1755775" y="2695576"/>
            <a:ext cx="5791200" cy="387350"/>
          </a:xfrm>
          <a:prstGeom prst="rect">
            <a:avLst/>
          </a:prstGeom>
          <a:noFill/>
          <a:ln w="19050">
            <a:solidFill>
              <a:srgbClr val="E52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de-DE" sz="1600" dirty="0" err="1">
              <a:solidFill>
                <a:schemeClr val="bg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A8BB6D3-CDC7-A79F-82B5-1012D251682E}"/>
              </a:ext>
            </a:extLst>
          </p:cNvPr>
          <p:cNvSpPr/>
          <p:nvPr/>
        </p:nvSpPr>
        <p:spPr>
          <a:xfrm>
            <a:off x="1755775" y="3850738"/>
            <a:ext cx="5791200" cy="387350"/>
          </a:xfrm>
          <a:prstGeom prst="rect">
            <a:avLst/>
          </a:prstGeom>
          <a:noFill/>
          <a:ln w="19050">
            <a:solidFill>
              <a:srgbClr val="E52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de-DE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78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0" grpId="0" animBg="1"/>
      <p:bldP spid="10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4340206-DA96-E508-F146-421100B344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9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1EB85C-A58A-EF12-6EC1-012F4D9658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Offline Cache – Progressive Web App – RWE Power App </a:t>
            </a:r>
            <a:r>
              <a:rPr lang="en-US" dirty="0" err="1"/>
              <a:t>Plattform</a:t>
            </a: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16163B-B312-82AF-27E2-DFBCFD13C87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8426AC6-7C59-4EDE-82D3-276FB83BE45E}" type="datetime1">
              <a:rPr lang="de-DE" smtClean="0"/>
              <a:t>08.12.2025</a:t>
            </a:fld>
            <a:endParaRPr lang="de-DE" dirty="0"/>
          </a:p>
        </p:txBody>
      </p:sp>
      <p:sp>
        <p:nvSpPr>
          <p:cNvPr id="8" name="Vertikaler Textplatzhalter 7">
            <a:extLst>
              <a:ext uri="{FF2B5EF4-FFF2-40B4-BE49-F238E27FC236}">
                <a16:creationId xmlns:a16="http://schemas.microsoft.com/office/drawing/2014/main" id="{AAD1C97C-6457-16FD-6D6F-E529AEB9886F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457200" y="496302"/>
            <a:ext cx="8064001" cy="4018944"/>
          </a:xfrm>
        </p:spPr>
        <p:txBody>
          <a:bodyPr>
            <a:normAutofit fontScale="77500" lnSpcReduction="20000"/>
          </a:bodyPr>
          <a:lstStyle/>
          <a:p>
            <a:pPr rtl="0" fontAlgn="base"/>
            <a:r>
              <a:rPr lang="de-DE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Agenda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Einleitung	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Technische Grundlagen								 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Native Browser APIs </a:t>
            </a: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Strategien	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Framework-APIs </a:t>
            </a:r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			</a:t>
            </a: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b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</a:b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Security	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8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fontAlgn="base"/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Diskussion												</a:t>
            </a:r>
          </a:p>
          <a:p>
            <a:pPr fontAlgn="base"/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																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A7D8F78-491C-FE01-B8E6-869974F81B88}"/>
              </a:ext>
            </a:extLst>
          </p:cNvPr>
          <p:cNvCxnSpPr>
            <a:cxnSpLocks/>
          </p:cNvCxnSpPr>
          <p:nvPr/>
        </p:nvCxnSpPr>
        <p:spPr>
          <a:xfrm>
            <a:off x="338138" y="1305674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09C5C6F-47F4-E0EC-59BB-199689009062}"/>
              </a:ext>
            </a:extLst>
          </p:cNvPr>
          <p:cNvCxnSpPr>
            <a:cxnSpLocks/>
          </p:cNvCxnSpPr>
          <p:nvPr/>
        </p:nvCxnSpPr>
        <p:spPr>
          <a:xfrm>
            <a:off x="338138" y="1762874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0FEACAB-AA84-95F7-C2C9-362F8D0C8CC1}"/>
              </a:ext>
            </a:extLst>
          </p:cNvPr>
          <p:cNvCxnSpPr>
            <a:cxnSpLocks/>
          </p:cNvCxnSpPr>
          <p:nvPr/>
        </p:nvCxnSpPr>
        <p:spPr>
          <a:xfrm>
            <a:off x="338138" y="2178050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54BF4C78-652B-6A80-CC82-0E090C960FE7}"/>
              </a:ext>
            </a:extLst>
          </p:cNvPr>
          <p:cNvCxnSpPr>
            <a:cxnSpLocks/>
          </p:cNvCxnSpPr>
          <p:nvPr/>
        </p:nvCxnSpPr>
        <p:spPr>
          <a:xfrm>
            <a:off x="338138" y="2634411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A7B777AF-4195-36EB-72C9-BC3EF72D7EAD}"/>
              </a:ext>
            </a:extLst>
          </p:cNvPr>
          <p:cNvCxnSpPr>
            <a:cxnSpLocks/>
          </p:cNvCxnSpPr>
          <p:nvPr/>
        </p:nvCxnSpPr>
        <p:spPr>
          <a:xfrm>
            <a:off x="340520" y="3072561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FCB0C613-F66E-E9DB-DD52-AF802F607323}"/>
              </a:ext>
            </a:extLst>
          </p:cNvPr>
          <p:cNvCxnSpPr>
            <a:cxnSpLocks/>
          </p:cNvCxnSpPr>
          <p:nvPr/>
        </p:nvCxnSpPr>
        <p:spPr>
          <a:xfrm>
            <a:off x="347666" y="3534524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63156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E7F5569-C18C-C9B1-7195-D00C050C07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098164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Page </a:t>
            </a:r>
            <a:fld id="{677F1DB9-6BD1-4662-AD32-A5C07CCC53B6}" type="slidenum">
              <a:rPr lang="en-GB" smtClean="0"/>
              <a:pPr>
                <a:spcAft>
                  <a:spcPts val="600"/>
                </a:spcAft>
              </a:pPr>
              <a:t>10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D87CCA1-A227-7855-2FDF-C96554EDC3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440000" y="4864142"/>
            <a:ext cx="6588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Offline Cache – Progressive Web App – RWE Power App Plattform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8097F2-B43E-366B-71B3-2CBA9D31982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63999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fld id="{1230ECE7-7A78-4021-852E-D60A43FA3157}" type="datetime1">
              <a:rPr lang="de-DE" smtClean="0"/>
              <a:pPr>
                <a:spcAft>
                  <a:spcPts val="600"/>
                </a:spcAft>
              </a:pPr>
              <a:t>08.12.2025</a:t>
            </a:fld>
            <a:endParaRPr lang="en-GB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4BA0EB4-B7C8-1B77-3F70-AF95CD021B82}"/>
              </a:ext>
            </a:extLst>
          </p:cNvPr>
          <p:cNvSpPr>
            <a:spLocks noGrp="1"/>
          </p:cNvSpPr>
          <p:nvPr>
            <p:ph type="body" orient="vert" idx="14"/>
          </p:nvPr>
        </p:nvSpPr>
        <p:spPr>
          <a:xfrm>
            <a:off x="538162" y="1438275"/>
            <a:ext cx="8064000" cy="3240000"/>
          </a:xfrm>
        </p:spPr>
        <p:txBody>
          <a:bodyPr anchor="t">
            <a:normAutofit/>
          </a:bodyPr>
          <a:lstStyle/>
          <a:p>
            <a:r>
              <a:rPr lang="de-DE" dirty="0"/>
              <a:t>Caching Strategien...</a:t>
            </a:r>
          </a:p>
          <a:p>
            <a:pPr marL="285750" indent="-285750">
              <a:buFontTx/>
              <a:buChar char="-"/>
            </a:pPr>
            <a:r>
              <a:rPr lang="de-DE" dirty="0"/>
              <a:t>balancieren Geschwindigkeit und Aktualität</a:t>
            </a:r>
          </a:p>
          <a:p>
            <a:pPr marL="285750" indent="-285750">
              <a:buFontTx/>
              <a:buChar char="-"/>
            </a:pPr>
            <a:r>
              <a:rPr lang="de-DE" dirty="0"/>
              <a:t>definieren individuelles Verhalten pro Ressourcentyp</a:t>
            </a:r>
          </a:p>
          <a:p>
            <a:pPr marL="285750" indent="-285750">
              <a:buFontTx/>
              <a:buChar char="-"/>
            </a:pPr>
            <a:r>
              <a:rPr lang="de-DE" dirty="0"/>
              <a:t>bieten Ausfallsicherheit bei instabiler Verbindung</a:t>
            </a:r>
          </a:p>
          <a:p>
            <a:pPr marL="285750" indent="-285750">
              <a:buFontTx/>
              <a:buChar char="-"/>
            </a:pPr>
            <a:r>
              <a:rPr lang="de-DE" dirty="0"/>
              <a:t>ersetzen komplexe Logik durch deklarative Muster</a:t>
            </a:r>
          </a:p>
          <a:p>
            <a:endParaRPr lang="de-DE" dirty="0"/>
          </a:p>
        </p:txBody>
      </p:sp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33850F2E-693A-2A7D-9140-7918D559AB17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538163" y="358776"/>
            <a:ext cx="8062913" cy="684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Strategien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5587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46F9BAD-64C3-CFB5-0F57-D606228F31D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098164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Page </a:t>
            </a:r>
            <a:fld id="{677F1DB9-6BD1-4662-AD32-A5C07CCC53B6}" type="slidenum">
              <a:rPr lang="en-GB" smtClean="0"/>
              <a:pPr>
                <a:spcAft>
                  <a:spcPts val="600"/>
                </a:spcAft>
              </a:pPr>
              <a:t>11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583F1FC-0C37-8D04-A3C1-2C761A2751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40000" y="4864142"/>
            <a:ext cx="6588000" cy="108000"/>
          </a:xfrm>
        </p:spPr>
        <p:txBody>
          <a:bodyPr wrap="none" anchor="b">
            <a:normAutofit/>
          </a:bodyPr>
          <a:lstStyle/>
          <a:p>
            <a:r>
              <a:rPr lang="en-GB"/>
              <a:t>Offline Cache – Progressive Web App – RWE Power App Plattform</a:t>
            </a: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1A82BB-2A4C-0070-F496-B730494E190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3999" y="4864142"/>
            <a:ext cx="504000" cy="108000"/>
          </a:xfrm>
        </p:spPr>
        <p:txBody>
          <a:bodyPr wrap="none" anchor="b">
            <a:normAutofit/>
          </a:bodyPr>
          <a:lstStyle/>
          <a:p>
            <a:fld id="{A26E2FAF-1A4D-436C-8F0A-8AC698DE0CFE}" type="datetime1">
              <a:rPr lang="de-DE" smtClean="0"/>
              <a:t>08.12.2025</a:t>
            </a:fld>
            <a:endParaRPr lang="de-DE" dirty="0"/>
          </a:p>
        </p:txBody>
      </p:sp>
      <p:sp>
        <p:nvSpPr>
          <p:cNvPr id="16" name="Vertical Text Placeholder 4">
            <a:extLst>
              <a:ext uri="{FF2B5EF4-FFF2-40B4-BE49-F238E27FC236}">
                <a16:creationId xmlns:a16="http://schemas.microsoft.com/office/drawing/2014/main" id="{FA0B67FB-3F88-46AE-DF58-957EF4E137E2}"/>
              </a:ext>
            </a:extLst>
          </p:cNvPr>
          <p:cNvSpPr>
            <a:spLocks noGrp="1"/>
          </p:cNvSpPr>
          <p:nvPr>
            <p:ph type="body" orient="vert" idx="17"/>
          </p:nvPr>
        </p:nvSpPr>
        <p:spPr>
          <a:xfrm>
            <a:off x="538163" y="4555050"/>
            <a:ext cx="8062913" cy="216000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Inhaltsplatzhalter 8" descr="Ein Bild, das Text, Diagramm, Kreis, Schrift enthält.&#10;&#10;KI-generierte Inhalte können fehlerhaft sein.">
            <a:extLst>
              <a:ext uri="{FF2B5EF4-FFF2-40B4-BE49-F238E27FC236}">
                <a16:creationId xmlns:a16="http://schemas.microsoft.com/office/drawing/2014/main" id="{5AC0B693-7F39-E779-3992-F653178774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1382" y="1438274"/>
            <a:ext cx="6677560" cy="3240000"/>
          </a:xfrm>
          <a:noFill/>
        </p:spPr>
      </p:pic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893E8E04-9AFE-F42F-1ADE-1682F6133D67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538163" y="358776"/>
            <a:ext cx="8062913" cy="684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 err="1"/>
              <a:t>Stale-While-Revalidate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27517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48BE652-4475-B900-A898-6DE8A8A317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098164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Page </a:t>
            </a:r>
            <a:fld id="{677F1DB9-6BD1-4662-AD32-A5C07CCC53B6}" type="slidenum">
              <a:rPr lang="en-GB" smtClean="0"/>
              <a:pPr>
                <a:spcAft>
                  <a:spcPts val="600"/>
                </a:spcAft>
              </a:pPr>
              <a:t>12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C4CC6E2-7C56-3A8A-2D94-CDB7A3ED30F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40000" y="4864142"/>
            <a:ext cx="6588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Offline Cache – Progressive Web App – RWE Power App Plattform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E5B48C-E94E-DA5C-6ED9-69393A3A23D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3999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fld id="{963B226D-FBDA-44BD-A81A-F97C672A5FD2}" type="datetime1">
              <a:rPr lang="de-DE" smtClean="0"/>
              <a:t>08.12.2025</a:t>
            </a:fld>
            <a:endParaRPr lang="en-GB"/>
          </a:p>
        </p:txBody>
      </p:sp>
      <p:sp>
        <p:nvSpPr>
          <p:cNvPr id="14" name="Vertical Text Placeholder 4">
            <a:extLst>
              <a:ext uri="{FF2B5EF4-FFF2-40B4-BE49-F238E27FC236}">
                <a16:creationId xmlns:a16="http://schemas.microsoft.com/office/drawing/2014/main" id="{15256831-E5AF-553D-9011-766C925B26CD}"/>
              </a:ext>
            </a:extLst>
          </p:cNvPr>
          <p:cNvSpPr>
            <a:spLocks noGrp="1"/>
          </p:cNvSpPr>
          <p:nvPr>
            <p:ph type="body" orient="vert" idx="17"/>
          </p:nvPr>
        </p:nvSpPr>
        <p:spPr>
          <a:xfrm>
            <a:off x="538163" y="4555050"/>
            <a:ext cx="8062913" cy="216000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Inhaltsplatzhalter 8" descr="Ein Bild, das Schrift, Diagramm, Text, Grafiken enthält.">
            <a:extLst>
              <a:ext uri="{FF2B5EF4-FFF2-40B4-BE49-F238E27FC236}">
                <a16:creationId xmlns:a16="http://schemas.microsoft.com/office/drawing/2014/main" id="{F6DCE95E-66E9-4BAA-461C-E5BE1D6FF7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162" y="1689066"/>
            <a:ext cx="8064000" cy="2738416"/>
          </a:xfrm>
          <a:noFill/>
        </p:spPr>
      </p:pic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3CE4F201-227B-6D80-98F0-2EBE3AF8C0AE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538163" y="358776"/>
            <a:ext cx="8062913" cy="684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Cache </a:t>
            </a:r>
            <a:r>
              <a:rPr lang="de-DE" dirty="0" err="1"/>
              <a:t>first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6009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E98E6CE-6B1B-70F7-CB20-D3DE08D199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098164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Page </a:t>
            </a:r>
            <a:fld id="{677F1DB9-6BD1-4662-AD32-A5C07CCC53B6}" type="slidenum">
              <a:rPr lang="en-GB" smtClean="0"/>
              <a:pPr>
                <a:spcAft>
                  <a:spcPts val="600"/>
                </a:spcAft>
              </a:pPr>
              <a:t>13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0950F2-E102-487C-3A8F-B25F45C66E3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40000" y="4864142"/>
            <a:ext cx="6588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Offline Cache – Progressive Web App – RWE Power App Plattform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21BB3A-7A13-161B-4D30-EF74E72FDA6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3999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fld id="{385CCBD3-A896-4C3F-86BA-C13D79A9B626}" type="datetime1">
              <a:rPr lang="de-DE" smtClean="0"/>
              <a:t>08.12.2025</a:t>
            </a:fld>
            <a:endParaRPr lang="de-DE"/>
          </a:p>
        </p:txBody>
      </p:sp>
      <p:sp>
        <p:nvSpPr>
          <p:cNvPr id="14" name="Vertical Text Placeholder 4">
            <a:extLst>
              <a:ext uri="{FF2B5EF4-FFF2-40B4-BE49-F238E27FC236}">
                <a16:creationId xmlns:a16="http://schemas.microsoft.com/office/drawing/2014/main" id="{3A444517-E976-5EE1-05AC-ED7C437DD667}"/>
              </a:ext>
            </a:extLst>
          </p:cNvPr>
          <p:cNvSpPr>
            <a:spLocks noGrp="1"/>
          </p:cNvSpPr>
          <p:nvPr>
            <p:ph type="body" orient="vert" idx="17"/>
          </p:nvPr>
        </p:nvSpPr>
        <p:spPr>
          <a:xfrm>
            <a:off x="538163" y="4555050"/>
            <a:ext cx="8062913" cy="216000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Inhaltsplatzhalter 8" descr="Ein Bild, das Text, Diagramm, Kreis, Schrift enthält.&#10;&#10;KI-generierte Inhalte können fehlerhaft sein.">
            <a:extLst>
              <a:ext uri="{FF2B5EF4-FFF2-40B4-BE49-F238E27FC236}">
                <a16:creationId xmlns:a16="http://schemas.microsoft.com/office/drawing/2014/main" id="{CB1266DF-B18F-B8A6-8D39-19E1189205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1382" y="1438274"/>
            <a:ext cx="6677560" cy="3240000"/>
          </a:xfrm>
          <a:noFill/>
        </p:spPr>
      </p:pic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8ECC0EC5-D258-AC2D-F2A8-98DBC139F3FC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538163" y="358776"/>
            <a:ext cx="8062913" cy="684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Netzwerk </a:t>
            </a:r>
            <a:r>
              <a:rPr lang="de-DE" dirty="0" err="1"/>
              <a:t>first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2565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636FC66-7C00-08A0-0E1E-B0C1E14371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14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B6A0EE8-3700-514C-C27A-977702F12A7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Offline Cache – Progressive Web App – RWE Power App Plattform</a:t>
            </a: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8F89E4-5ED9-1503-6627-4EA77FEC3F8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AB35182-486C-4949-9BC5-7B650AF31145}" type="datetime1">
              <a:rPr lang="de-DE" smtClean="0"/>
              <a:t>08.12.2025</a:t>
            </a:fld>
            <a:endParaRPr lang="en-GB" dirty="0"/>
          </a:p>
        </p:txBody>
      </p:sp>
      <p:sp>
        <p:nvSpPr>
          <p:cNvPr id="5" name="Vertikaler Textplatzhalter 4">
            <a:extLst>
              <a:ext uri="{FF2B5EF4-FFF2-40B4-BE49-F238E27FC236}">
                <a16:creationId xmlns:a16="http://schemas.microsoft.com/office/drawing/2014/main" id="{47E58BC7-8AB2-D336-FE05-A83B2C92D019}"/>
              </a:ext>
            </a:extLst>
          </p:cNvPr>
          <p:cNvSpPr>
            <a:spLocks noGrp="1"/>
          </p:cNvSpPr>
          <p:nvPr>
            <p:ph type="body" orient="vert" idx="17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9" name="Inhaltsplatzhalter 8" descr="Ein Bild, das Schrift, Diagramm, Grafiken, Text enthält.&#10;&#10;KI-generierte Inhalte können fehlerhaft sein.">
            <a:extLst>
              <a:ext uri="{FF2B5EF4-FFF2-40B4-BE49-F238E27FC236}">
                <a16:creationId xmlns:a16="http://schemas.microsoft.com/office/drawing/2014/main" id="{D5E835A0-3D50-0D26-5CD5-D8A61603D5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163" y="1686400"/>
            <a:ext cx="8064500" cy="2743838"/>
          </a:xfrm>
        </p:spPr>
      </p:pic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B4533831-5D0A-373E-4329-67E0F96A4CDB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/>
        <p:txBody>
          <a:bodyPr/>
          <a:lstStyle/>
          <a:p>
            <a:r>
              <a:rPr lang="de-DE" dirty="0"/>
              <a:t>Nur Netzwerk</a:t>
            </a:r>
          </a:p>
        </p:txBody>
      </p:sp>
    </p:spTree>
    <p:extLst>
      <p:ext uri="{BB962C8B-B14F-4D97-AF65-F5344CB8AC3E}">
        <p14:creationId xmlns:p14="http://schemas.microsoft.com/office/powerpoint/2010/main" val="1630933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5254636-5313-65F7-2584-F78B3A5BD9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15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730FFB5-3A9A-7ADE-0F1F-467EE7A6EB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Offline Cache – Progressive Web App – RWE Power App Plattform</a:t>
            </a: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A5DC7F-E441-E01D-549F-0BD742D528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FBAAD91-D5A2-45F3-A313-3550C8BE7E8A}" type="datetime1">
              <a:rPr lang="de-DE" smtClean="0"/>
              <a:t>08.12.2025</a:t>
            </a:fld>
            <a:endParaRPr lang="en-GB" dirty="0"/>
          </a:p>
        </p:txBody>
      </p:sp>
      <p:sp>
        <p:nvSpPr>
          <p:cNvPr id="5" name="Vertikaler Textplatzhalter 4">
            <a:extLst>
              <a:ext uri="{FF2B5EF4-FFF2-40B4-BE49-F238E27FC236}">
                <a16:creationId xmlns:a16="http://schemas.microsoft.com/office/drawing/2014/main" id="{9BB0AFAB-D283-AEFC-5D28-02D2B7F35871}"/>
              </a:ext>
            </a:extLst>
          </p:cNvPr>
          <p:cNvSpPr>
            <a:spLocks noGrp="1"/>
          </p:cNvSpPr>
          <p:nvPr>
            <p:ph type="body" orient="vert" idx="17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9" name="Inhaltsplatzhalter 8" descr="Ein Bild, das Schrift, Diagramm, Text, Grafiken enthält.&#10;&#10;KI-generierte Inhalte können fehlerhaft sein.">
            <a:extLst>
              <a:ext uri="{FF2B5EF4-FFF2-40B4-BE49-F238E27FC236}">
                <a16:creationId xmlns:a16="http://schemas.microsoft.com/office/drawing/2014/main" id="{4EB002F4-C052-399A-CF98-99AC2630B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163" y="1689026"/>
            <a:ext cx="8064500" cy="2738586"/>
          </a:xfrm>
        </p:spPr>
      </p:pic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33A69462-8BA1-BA3E-DD23-D91C4D4E9F3F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/>
        <p:txBody>
          <a:bodyPr/>
          <a:lstStyle/>
          <a:p>
            <a:r>
              <a:rPr lang="de-DE" dirty="0"/>
              <a:t>Nur Cache</a:t>
            </a:r>
          </a:p>
        </p:txBody>
      </p:sp>
    </p:spTree>
    <p:extLst>
      <p:ext uri="{BB962C8B-B14F-4D97-AF65-F5344CB8AC3E}">
        <p14:creationId xmlns:p14="http://schemas.microsoft.com/office/powerpoint/2010/main" val="2190441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4340206-DA96-E508-F146-421100B344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16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1EB85C-A58A-EF12-6EC1-012F4D9658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Offline Cache – Progressive Web App – RWE Power App </a:t>
            </a:r>
            <a:r>
              <a:rPr lang="en-US" dirty="0" err="1"/>
              <a:t>Plattform</a:t>
            </a: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16163B-B312-82AF-27E2-DFBCFD13C87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8426AC6-7C59-4EDE-82D3-276FB83BE45E}" type="datetime1">
              <a:rPr lang="de-DE" smtClean="0"/>
              <a:t>08.12.2025</a:t>
            </a:fld>
            <a:endParaRPr lang="de-DE" dirty="0"/>
          </a:p>
        </p:txBody>
      </p:sp>
      <p:sp>
        <p:nvSpPr>
          <p:cNvPr id="8" name="Vertikaler Textplatzhalter 7">
            <a:extLst>
              <a:ext uri="{FF2B5EF4-FFF2-40B4-BE49-F238E27FC236}">
                <a16:creationId xmlns:a16="http://schemas.microsoft.com/office/drawing/2014/main" id="{AAD1C97C-6457-16FD-6D6F-E529AEB9886F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457200" y="496302"/>
            <a:ext cx="8064001" cy="4018944"/>
          </a:xfrm>
        </p:spPr>
        <p:txBody>
          <a:bodyPr>
            <a:normAutofit fontScale="77500" lnSpcReduction="20000"/>
          </a:bodyPr>
          <a:lstStyle/>
          <a:p>
            <a:pPr rtl="0" fontAlgn="base"/>
            <a:r>
              <a:rPr lang="de-DE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Agenda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Einleitung	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Technische Grundlagen								 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Native Browser APIs </a:t>
            </a: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Strategien	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Framework-APIs </a:t>
            </a:r>
            <a:r>
              <a:rPr lang="de-DE" sz="1600" b="0" dirty="0">
                <a:solidFill>
                  <a:schemeClr val="bg1"/>
                </a:solidFill>
                <a:latin typeface="Calibri" panose="020F0502020204030204" pitchFamily="34" charset="0"/>
              </a:rPr>
              <a:t>			</a:t>
            </a:r>
            <a:r>
              <a:rPr lang="de-DE" sz="1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b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</a:b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Security	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8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fontAlgn="base"/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Diskussion													</a:t>
            </a:r>
          </a:p>
          <a:p>
            <a:pPr fontAlgn="base"/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																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A7D8F78-491C-FE01-B8E6-869974F81B88}"/>
              </a:ext>
            </a:extLst>
          </p:cNvPr>
          <p:cNvCxnSpPr>
            <a:cxnSpLocks/>
          </p:cNvCxnSpPr>
          <p:nvPr/>
        </p:nvCxnSpPr>
        <p:spPr>
          <a:xfrm>
            <a:off x="338138" y="1305674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09C5C6F-47F4-E0EC-59BB-199689009062}"/>
              </a:ext>
            </a:extLst>
          </p:cNvPr>
          <p:cNvCxnSpPr>
            <a:cxnSpLocks/>
          </p:cNvCxnSpPr>
          <p:nvPr/>
        </p:nvCxnSpPr>
        <p:spPr>
          <a:xfrm>
            <a:off x="338138" y="1762874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0FEACAB-AA84-95F7-C2C9-362F8D0C8CC1}"/>
              </a:ext>
            </a:extLst>
          </p:cNvPr>
          <p:cNvCxnSpPr>
            <a:cxnSpLocks/>
          </p:cNvCxnSpPr>
          <p:nvPr/>
        </p:nvCxnSpPr>
        <p:spPr>
          <a:xfrm>
            <a:off x="338138" y="2178050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54BF4C78-652B-6A80-CC82-0E090C960FE7}"/>
              </a:ext>
            </a:extLst>
          </p:cNvPr>
          <p:cNvCxnSpPr>
            <a:cxnSpLocks/>
          </p:cNvCxnSpPr>
          <p:nvPr/>
        </p:nvCxnSpPr>
        <p:spPr>
          <a:xfrm>
            <a:off x="338138" y="2634411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A7B777AF-4195-36EB-72C9-BC3EF72D7EAD}"/>
              </a:ext>
            </a:extLst>
          </p:cNvPr>
          <p:cNvCxnSpPr>
            <a:cxnSpLocks/>
          </p:cNvCxnSpPr>
          <p:nvPr/>
        </p:nvCxnSpPr>
        <p:spPr>
          <a:xfrm>
            <a:off x="340520" y="3072561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FCB0C613-F66E-E9DB-DD52-AF802F607323}"/>
              </a:ext>
            </a:extLst>
          </p:cNvPr>
          <p:cNvCxnSpPr>
            <a:cxnSpLocks/>
          </p:cNvCxnSpPr>
          <p:nvPr/>
        </p:nvCxnSpPr>
        <p:spPr>
          <a:xfrm>
            <a:off x="347666" y="3534524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76657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5254636-5313-65F7-2584-F78B3A5BD9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098164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Page </a:t>
            </a:r>
            <a:fld id="{677F1DB9-6BD1-4662-AD32-A5C07CCC53B6}" type="slidenum">
              <a:rPr lang="en-GB" smtClean="0"/>
              <a:pPr>
                <a:spcAft>
                  <a:spcPts val="600"/>
                </a:spcAft>
              </a:pPr>
              <a:t>17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730FFB5-3A9A-7ADE-0F1F-467EE7A6EB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40000" y="4864142"/>
            <a:ext cx="6588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Offline Cache – Progressive Web App – RWE Power App Plattform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A5DC7F-E441-E01D-549F-0BD742D528C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3999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fld id="{9FBAAD91-D5A2-45F3-A313-3550C8BE7E8A}" type="datetime1">
              <a:rPr lang="de-DE" smtClean="0"/>
              <a:pPr>
                <a:spcAft>
                  <a:spcPts val="600"/>
                </a:spcAft>
              </a:pPr>
              <a:t>08.12.2025</a:t>
            </a:fld>
            <a:endParaRPr lang="en-GB"/>
          </a:p>
        </p:txBody>
      </p:sp>
      <p:sp>
        <p:nvSpPr>
          <p:cNvPr id="16" name="Vertical Text Placeholder 4">
            <a:extLst>
              <a:ext uri="{FF2B5EF4-FFF2-40B4-BE49-F238E27FC236}">
                <a16:creationId xmlns:a16="http://schemas.microsoft.com/office/drawing/2014/main" id="{9762FD64-779A-32E0-0035-6D4CCF309F52}"/>
              </a:ext>
            </a:extLst>
          </p:cNvPr>
          <p:cNvSpPr>
            <a:spLocks noGrp="1"/>
          </p:cNvSpPr>
          <p:nvPr>
            <p:ph type="body" orient="vert" idx="17"/>
          </p:nvPr>
        </p:nvSpPr>
        <p:spPr>
          <a:xfrm>
            <a:off x="538163" y="4555050"/>
            <a:ext cx="8062913" cy="216000"/>
          </a:xfrm>
        </p:spPr>
        <p:txBody>
          <a:bodyPr/>
          <a:lstStyle/>
          <a:p>
            <a:endParaRPr lang="en-US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6C0D3D9-4E7C-342D-6074-AB1305F5D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62" y="2251874"/>
            <a:ext cx="8064000" cy="1612799"/>
          </a:xfrm>
          <a:prstGeom prst="rect">
            <a:avLst/>
          </a:prstGeom>
          <a:noFill/>
        </p:spPr>
      </p:pic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33A69462-8BA1-BA3E-DD23-D91C4D4E9F3F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538163" y="358776"/>
            <a:ext cx="8062913" cy="684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Framework-APIs: </a:t>
            </a:r>
            <a:r>
              <a:rPr lang="de-DE" dirty="0" err="1"/>
              <a:t>Decision</a:t>
            </a:r>
            <a:r>
              <a:rPr lang="de-DE" dirty="0"/>
              <a:t> Matrix</a:t>
            </a:r>
          </a:p>
        </p:txBody>
      </p:sp>
    </p:spTree>
    <p:extLst>
      <p:ext uri="{BB962C8B-B14F-4D97-AF65-F5344CB8AC3E}">
        <p14:creationId xmlns:p14="http://schemas.microsoft.com/office/powerpoint/2010/main" val="681287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5254636-5313-65F7-2584-F78B3A5BD9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098164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Page </a:t>
            </a:r>
            <a:fld id="{677F1DB9-6BD1-4662-AD32-A5C07CCC53B6}" type="slidenum">
              <a:rPr lang="en-GB" smtClean="0"/>
              <a:pPr>
                <a:spcAft>
                  <a:spcPts val="600"/>
                </a:spcAft>
              </a:pPr>
              <a:t>18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730FFB5-3A9A-7ADE-0F1F-467EE7A6EB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40000" y="4864142"/>
            <a:ext cx="6588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Offline Cache – Progressive Web App – RWE Power App Plattform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A5DC7F-E441-E01D-549F-0BD742D528C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3999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fld id="{9FBAAD91-D5A2-45F3-A313-3550C8BE7E8A}" type="datetime1">
              <a:rPr lang="de-DE" smtClean="0"/>
              <a:pPr>
                <a:spcAft>
                  <a:spcPts val="600"/>
                </a:spcAft>
              </a:pPr>
              <a:t>08.12.2025</a:t>
            </a:fld>
            <a:endParaRPr lang="en-GB"/>
          </a:p>
        </p:txBody>
      </p:sp>
      <p:sp>
        <p:nvSpPr>
          <p:cNvPr id="14" name="Vertical Text Placeholder 4">
            <a:extLst>
              <a:ext uri="{FF2B5EF4-FFF2-40B4-BE49-F238E27FC236}">
                <a16:creationId xmlns:a16="http://schemas.microsoft.com/office/drawing/2014/main" id="{BF583758-5D15-DB91-E1EF-96B8D8BD1F22}"/>
              </a:ext>
            </a:extLst>
          </p:cNvPr>
          <p:cNvSpPr>
            <a:spLocks noGrp="1"/>
          </p:cNvSpPr>
          <p:nvPr>
            <p:ph type="body" orient="vert" idx="17"/>
          </p:nvPr>
        </p:nvSpPr>
        <p:spPr>
          <a:xfrm>
            <a:off x="538163" y="4555050"/>
            <a:ext cx="8062913" cy="216000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9AFE8438-3F2C-DC5C-3F83-EAA7CEE05E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162" y="1919234"/>
            <a:ext cx="8064000" cy="2278079"/>
          </a:xfrm>
          <a:noFill/>
        </p:spPr>
      </p:pic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33A69462-8BA1-BA3E-DD23-D91C4D4E9F3F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538163" y="358776"/>
            <a:ext cx="8062913" cy="684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Framework-APIs: </a:t>
            </a:r>
            <a:r>
              <a:rPr lang="de-DE" dirty="0" err="1"/>
              <a:t>Decision</a:t>
            </a:r>
            <a:r>
              <a:rPr lang="de-DE" dirty="0"/>
              <a:t> Matrix</a:t>
            </a:r>
          </a:p>
        </p:txBody>
      </p:sp>
    </p:spTree>
    <p:extLst>
      <p:ext uri="{BB962C8B-B14F-4D97-AF65-F5344CB8AC3E}">
        <p14:creationId xmlns:p14="http://schemas.microsoft.com/office/powerpoint/2010/main" val="1369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5254636-5313-65F7-2584-F78B3A5BD9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098164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Page </a:t>
            </a:r>
            <a:fld id="{677F1DB9-6BD1-4662-AD32-A5C07CCC53B6}" type="slidenum">
              <a:rPr lang="en-GB" smtClean="0"/>
              <a:pPr>
                <a:spcAft>
                  <a:spcPts val="600"/>
                </a:spcAft>
              </a:pPr>
              <a:t>19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730FFB5-3A9A-7ADE-0F1F-467EE7A6EB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40000" y="4864142"/>
            <a:ext cx="6588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Offline Cache – Progressive Web App – RWE Power App Plattform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A5DC7F-E441-E01D-549F-0BD742D528C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3999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fld id="{9FBAAD91-D5A2-45F3-A313-3550C8BE7E8A}" type="datetime1">
              <a:rPr lang="de-DE" smtClean="0"/>
              <a:pPr>
                <a:spcAft>
                  <a:spcPts val="600"/>
                </a:spcAft>
              </a:pPr>
              <a:t>08.12.2025</a:t>
            </a:fld>
            <a:endParaRPr lang="en-GB"/>
          </a:p>
        </p:txBody>
      </p:sp>
      <p:sp>
        <p:nvSpPr>
          <p:cNvPr id="14" name="Vertical Text Placeholder 4">
            <a:extLst>
              <a:ext uri="{FF2B5EF4-FFF2-40B4-BE49-F238E27FC236}">
                <a16:creationId xmlns:a16="http://schemas.microsoft.com/office/drawing/2014/main" id="{C5BC4EFA-B6AC-7C73-1048-2741FF1BA6D2}"/>
              </a:ext>
            </a:extLst>
          </p:cNvPr>
          <p:cNvSpPr>
            <a:spLocks noGrp="1"/>
          </p:cNvSpPr>
          <p:nvPr>
            <p:ph type="body" orient="vert" idx="17"/>
          </p:nvPr>
        </p:nvSpPr>
        <p:spPr>
          <a:xfrm>
            <a:off x="538163" y="4555050"/>
            <a:ext cx="8062913" cy="216000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9DDB94E-B3D1-7109-D715-BF3913CC1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62" y="2443394"/>
            <a:ext cx="8064000" cy="1229759"/>
          </a:xfrm>
          <a:prstGeom prst="rect">
            <a:avLst/>
          </a:prstGeom>
          <a:noFill/>
        </p:spPr>
      </p:pic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33A69462-8BA1-BA3E-DD23-D91C4D4E9F3F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538163" y="358776"/>
            <a:ext cx="8062913" cy="684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Framework-APIs: </a:t>
            </a:r>
            <a:r>
              <a:rPr lang="de-DE" dirty="0" err="1"/>
              <a:t>Decision</a:t>
            </a:r>
            <a:r>
              <a:rPr lang="de-DE" dirty="0"/>
              <a:t> Matrix</a:t>
            </a:r>
          </a:p>
        </p:txBody>
      </p:sp>
    </p:spTree>
    <p:extLst>
      <p:ext uri="{BB962C8B-B14F-4D97-AF65-F5344CB8AC3E}">
        <p14:creationId xmlns:p14="http://schemas.microsoft.com/office/powerpoint/2010/main" val="2021555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5254636-5313-65F7-2584-F78B3A5BD9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20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730FFB5-3A9A-7ADE-0F1F-467EE7A6EB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Offline Cache – Progressive Web App – RWE Power App Plattform</a:t>
            </a: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A5DC7F-E441-E01D-549F-0BD742D528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FBAAD91-D5A2-45F3-A313-3550C8BE7E8A}" type="datetime1">
              <a:rPr lang="de-DE" smtClean="0"/>
              <a:t>08.12.2025</a:t>
            </a:fld>
            <a:endParaRPr lang="en-GB" dirty="0"/>
          </a:p>
        </p:txBody>
      </p:sp>
      <p:sp>
        <p:nvSpPr>
          <p:cNvPr id="5" name="Vertikaler Textplatzhalter 4">
            <a:extLst>
              <a:ext uri="{FF2B5EF4-FFF2-40B4-BE49-F238E27FC236}">
                <a16:creationId xmlns:a16="http://schemas.microsoft.com/office/drawing/2014/main" id="{9BB0AFAB-D283-AEFC-5D28-02D2B7F35871}"/>
              </a:ext>
            </a:extLst>
          </p:cNvPr>
          <p:cNvSpPr>
            <a:spLocks noGrp="1"/>
          </p:cNvSpPr>
          <p:nvPr>
            <p:ph type="body" orient="vert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33A69462-8BA1-BA3E-DD23-D91C4D4E9F3F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/>
        <p:txBody>
          <a:bodyPr/>
          <a:lstStyle/>
          <a:p>
            <a:r>
              <a:rPr lang="de-DE" dirty="0"/>
              <a:t>Framework-APIs: </a:t>
            </a:r>
            <a:r>
              <a:rPr lang="de-DE" dirty="0" err="1"/>
              <a:t>Decision</a:t>
            </a:r>
            <a:r>
              <a:rPr lang="de-DE" dirty="0"/>
              <a:t> Matrix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C1444259-6C05-4B44-79FF-643A43CDF2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163" y="2300288"/>
            <a:ext cx="8064500" cy="1516062"/>
          </a:xfrm>
        </p:spPr>
      </p:pic>
    </p:spTree>
    <p:extLst>
      <p:ext uri="{BB962C8B-B14F-4D97-AF65-F5344CB8AC3E}">
        <p14:creationId xmlns:p14="http://schemas.microsoft.com/office/powerpoint/2010/main" val="1379214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5254636-5313-65F7-2584-F78B3A5BD9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098164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Page </a:t>
            </a:r>
            <a:fld id="{677F1DB9-6BD1-4662-AD32-A5C07CCC53B6}" type="slidenum">
              <a:rPr lang="en-GB" smtClean="0"/>
              <a:pPr>
                <a:spcAft>
                  <a:spcPts val="600"/>
                </a:spcAft>
              </a:pPr>
              <a:t>21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730FFB5-3A9A-7ADE-0F1F-467EE7A6EB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40000" y="4864142"/>
            <a:ext cx="6588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Offline Cache – Progressive Web App – RWE Power App Plattform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A5DC7F-E441-E01D-549F-0BD742D528C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3999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fld id="{9FBAAD91-D5A2-45F3-A313-3550C8BE7E8A}" type="datetime1">
              <a:rPr lang="de-DE" smtClean="0"/>
              <a:pPr>
                <a:spcAft>
                  <a:spcPts val="600"/>
                </a:spcAft>
              </a:pPr>
              <a:t>08.12.2025</a:t>
            </a:fld>
            <a:endParaRPr lang="en-GB"/>
          </a:p>
        </p:txBody>
      </p:sp>
      <p:sp>
        <p:nvSpPr>
          <p:cNvPr id="14" name="Vertical Text Placeholder 4">
            <a:extLst>
              <a:ext uri="{FF2B5EF4-FFF2-40B4-BE49-F238E27FC236}">
                <a16:creationId xmlns:a16="http://schemas.microsoft.com/office/drawing/2014/main" id="{1309E9C5-7F58-498A-85EF-4777C78761F1}"/>
              </a:ext>
            </a:extLst>
          </p:cNvPr>
          <p:cNvSpPr>
            <a:spLocks noGrp="1"/>
          </p:cNvSpPr>
          <p:nvPr>
            <p:ph type="body" orient="vert" idx="17"/>
          </p:nvPr>
        </p:nvSpPr>
        <p:spPr>
          <a:xfrm>
            <a:off x="538163" y="4555050"/>
            <a:ext cx="8062913" cy="216000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D46B80F8-E00F-53A9-CCE4-3355794A12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162" y="2624834"/>
            <a:ext cx="8064000" cy="866879"/>
          </a:xfrm>
          <a:noFill/>
        </p:spPr>
      </p:pic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33A69462-8BA1-BA3E-DD23-D91C4D4E9F3F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538163" y="358776"/>
            <a:ext cx="8062913" cy="684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Framework-APIs: </a:t>
            </a:r>
            <a:r>
              <a:rPr lang="de-DE" dirty="0" err="1"/>
              <a:t>Decision</a:t>
            </a:r>
            <a:r>
              <a:rPr lang="de-DE" dirty="0"/>
              <a:t> Matrix</a:t>
            </a:r>
          </a:p>
        </p:txBody>
      </p:sp>
    </p:spTree>
    <p:extLst>
      <p:ext uri="{BB962C8B-B14F-4D97-AF65-F5344CB8AC3E}">
        <p14:creationId xmlns:p14="http://schemas.microsoft.com/office/powerpoint/2010/main" val="3039838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AFC9888-9456-5AAD-CD7E-585655F0E83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22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9D9727-6029-4DD5-E7E9-650FD4887A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Offline Cache – Progressive Web App – RWE Power App Plattform</a:t>
            </a: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B2B1B1-6D1F-E083-C932-176FB16EB82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417520-E41B-43C8-895A-2A55B2D526C9}" type="datetime1">
              <a:rPr lang="de-DE" smtClean="0"/>
              <a:t>08.12.2025</a:t>
            </a:fld>
            <a:endParaRPr lang="en-GB" dirty="0"/>
          </a:p>
        </p:txBody>
      </p:sp>
      <p:sp>
        <p:nvSpPr>
          <p:cNvPr id="5" name="Vertikaler Textplatzhalter 4">
            <a:extLst>
              <a:ext uri="{FF2B5EF4-FFF2-40B4-BE49-F238E27FC236}">
                <a16:creationId xmlns:a16="http://schemas.microsoft.com/office/drawing/2014/main" id="{95CF1AF4-98D8-FB52-7C5A-387B5582FD4A}"/>
              </a:ext>
            </a:extLst>
          </p:cNvPr>
          <p:cNvSpPr>
            <a:spLocks noGrp="1"/>
          </p:cNvSpPr>
          <p:nvPr>
            <p:ph type="body" orient="vert" idx="17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8" name="Objekt 7">
            <a:extLst>
              <a:ext uri="{FF2B5EF4-FFF2-40B4-BE49-F238E27FC236}">
                <a16:creationId xmlns:a16="http://schemas.microsoft.com/office/drawing/2014/main" id="{147201A9-C23D-B337-F94D-8B35F14CC6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7913321"/>
              </p:ext>
            </p:extLst>
          </p:nvPr>
        </p:nvGraphicFramePr>
        <p:xfrm>
          <a:off x="1844336" y="89904"/>
          <a:ext cx="5102440" cy="473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2745726" imgH="21107446" progId="Excel.Sheet.12">
                  <p:embed/>
                </p:oleObj>
              </mc:Choice>
              <mc:Fallback>
                <p:oleObj name="Worksheet" r:id="rId2" imgW="22745726" imgH="21107446" progId="Excel.Sheet.12">
                  <p:embed/>
                  <p:pic>
                    <p:nvPicPr>
                      <p:cNvPr id="8" name="Objekt 7">
                        <a:extLst>
                          <a:ext uri="{FF2B5EF4-FFF2-40B4-BE49-F238E27FC236}">
                            <a16:creationId xmlns:a16="http://schemas.microsoft.com/office/drawing/2014/main" id="{147201A9-C23D-B337-F94D-8B35F14CC6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44336" y="89904"/>
                        <a:ext cx="5102440" cy="4734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2631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4340206-DA96-E508-F146-421100B344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23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1EB85C-A58A-EF12-6EC1-012F4D9658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Offline Cache – Progressive Web App – RWE Power App </a:t>
            </a:r>
            <a:r>
              <a:rPr lang="en-US" dirty="0" err="1"/>
              <a:t>Plattform</a:t>
            </a: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16163B-B312-82AF-27E2-DFBCFD13C87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8426AC6-7C59-4EDE-82D3-276FB83BE45E}" type="datetime1">
              <a:rPr lang="de-DE" smtClean="0"/>
              <a:t>08.12.2025</a:t>
            </a:fld>
            <a:endParaRPr lang="de-DE" dirty="0"/>
          </a:p>
        </p:txBody>
      </p:sp>
      <p:sp>
        <p:nvSpPr>
          <p:cNvPr id="8" name="Vertikaler Textplatzhalter 7">
            <a:extLst>
              <a:ext uri="{FF2B5EF4-FFF2-40B4-BE49-F238E27FC236}">
                <a16:creationId xmlns:a16="http://schemas.microsoft.com/office/drawing/2014/main" id="{AAD1C97C-6457-16FD-6D6F-E529AEB9886F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457200" y="496302"/>
            <a:ext cx="8064001" cy="4018944"/>
          </a:xfrm>
        </p:spPr>
        <p:txBody>
          <a:bodyPr>
            <a:normAutofit fontScale="77500" lnSpcReduction="20000"/>
          </a:bodyPr>
          <a:lstStyle/>
          <a:p>
            <a:pPr rtl="0" fontAlgn="base"/>
            <a:r>
              <a:rPr lang="de-DE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Agenda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Einleitung	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Technische Grundlagen								 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Native Browser APIs </a:t>
            </a: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Strategien	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Framework-APIs </a:t>
            </a:r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			</a:t>
            </a: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br>
              <a:rPr lang="de-DE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</a:br>
            <a:r>
              <a:rPr lang="de-DE" sz="1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Security										</a:t>
            </a:r>
          </a:p>
          <a:p>
            <a:pPr rtl="0" fontAlgn="base"/>
            <a:endParaRPr lang="de-DE" sz="16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rtl="0" fontAlgn="base"/>
            <a:endParaRPr lang="de-DE" sz="1800" b="0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</a:endParaRPr>
          </a:p>
          <a:p>
            <a:pPr fontAlgn="base"/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Diskussion													</a:t>
            </a:r>
          </a:p>
          <a:p>
            <a:pPr fontAlgn="base"/>
            <a:r>
              <a:rPr lang="de-DE" sz="1600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																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A7D8F78-491C-FE01-B8E6-869974F81B88}"/>
              </a:ext>
            </a:extLst>
          </p:cNvPr>
          <p:cNvCxnSpPr>
            <a:cxnSpLocks/>
          </p:cNvCxnSpPr>
          <p:nvPr/>
        </p:nvCxnSpPr>
        <p:spPr>
          <a:xfrm>
            <a:off x="338138" y="1305674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09C5C6F-47F4-E0EC-59BB-199689009062}"/>
              </a:ext>
            </a:extLst>
          </p:cNvPr>
          <p:cNvCxnSpPr>
            <a:cxnSpLocks/>
          </p:cNvCxnSpPr>
          <p:nvPr/>
        </p:nvCxnSpPr>
        <p:spPr>
          <a:xfrm>
            <a:off x="338138" y="1762874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0FEACAB-AA84-95F7-C2C9-362F8D0C8CC1}"/>
              </a:ext>
            </a:extLst>
          </p:cNvPr>
          <p:cNvCxnSpPr>
            <a:cxnSpLocks/>
          </p:cNvCxnSpPr>
          <p:nvPr/>
        </p:nvCxnSpPr>
        <p:spPr>
          <a:xfrm>
            <a:off x="338138" y="2178050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54BF4C78-652B-6A80-CC82-0E090C960FE7}"/>
              </a:ext>
            </a:extLst>
          </p:cNvPr>
          <p:cNvCxnSpPr>
            <a:cxnSpLocks/>
          </p:cNvCxnSpPr>
          <p:nvPr/>
        </p:nvCxnSpPr>
        <p:spPr>
          <a:xfrm>
            <a:off x="338138" y="2634411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A7B777AF-4195-36EB-72C9-BC3EF72D7EAD}"/>
              </a:ext>
            </a:extLst>
          </p:cNvPr>
          <p:cNvCxnSpPr>
            <a:cxnSpLocks/>
          </p:cNvCxnSpPr>
          <p:nvPr/>
        </p:nvCxnSpPr>
        <p:spPr>
          <a:xfrm>
            <a:off x="340520" y="3072561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FCB0C613-F66E-E9DB-DD52-AF802F607323}"/>
              </a:ext>
            </a:extLst>
          </p:cNvPr>
          <p:cNvCxnSpPr>
            <a:cxnSpLocks/>
          </p:cNvCxnSpPr>
          <p:nvPr/>
        </p:nvCxnSpPr>
        <p:spPr>
          <a:xfrm>
            <a:off x="347666" y="3534524"/>
            <a:ext cx="7453313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828591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77AD29A-3880-80AC-43F5-35EE0EBD86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24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638551B-86CE-7B9C-7384-E9C6E21872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Offline Cache – Progressive Web App – RWE Power App Plattform</a:t>
            </a: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7FE6C8-1F3F-A1BA-1EAB-F208526F57A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024DA8C-D317-4446-A1BD-ACDF318F0FA8}" type="datetime1">
              <a:rPr lang="de-DE" smtClean="0"/>
              <a:t>08.12.2025</a:t>
            </a:fld>
            <a:endParaRPr lang="en-GB" dirty="0"/>
          </a:p>
        </p:txBody>
      </p:sp>
      <p:sp>
        <p:nvSpPr>
          <p:cNvPr id="5" name="Vertikaler Textplatzhalter 4">
            <a:extLst>
              <a:ext uri="{FF2B5EF4-FFF2-40B4-BE49-F238E27FC236}">
                <a16:creationId xmlns:a16="http://schemas.microsoft.com/office/drawing/2014/main" id="{2E3FAD6F-F33D-9225-48EA-A8582C20E305}"/>
              </a:ext>
            </a:extLst>
          </p:cNvPr>
          <p:cNvSpPr>
            <a:spLocks noGrp="1"/>
          </p:cNvSpPr>
          <p:nvPr>
            <p:ph type="body" orient="vert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62D5DA5-A067-9786-2784-E5531F989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Multi-User Fähigkeit</a:t>
            </a:r>
          </a:p>
          <a:p>
            <a:pPr marL="861750" lvl="5" indent="-285750">
              <a:buFontTx/>
              <a:buChar char="-"/>
            </a:pPr>
            <a:r>
              <a:rPr lang="de-DE" dirty="0"/>
              <a:t>Mehrfachnutzung auf einem Gerät</a:t>
            </a:r>
          </a:p>
          <a:p>
            <a:pPr marL="285750" indent="-285750">
              <a:buFontTx/>
              <a:buChar char="-"/>
            </a:pPr>
            <a:r>
              <a:rPr lang="de-DE" dirty="0"/>
              <a:t>Fremdgeräte </a:t>
            </a:r>
          </a:p>
          <a:p>
            <a:pPr marL="861750" lvl="3" indent="-285750">
              <a:buFontTx/>
              <a:buChar char="-"/>
            </a:pPr>
            <a:r>
              <a:rPr lang="de-DE" dirty="0"/>
              <a:t>Lauffähigkeit auf externen Nicht-RWE-Geräten</a:t>
            </a:r>
          </a:p>
          <a:p>
            <a:pPr marL="861750" lvl="3" indent="-285750">
              <a:buFontTx/>
              <a:buChar char="-"/>
            </a:pPr>
            <a:endParaRPr lang="de-DE" dirty="0"/>
          </a:p>
          <a:p>
            <a:pPr marL="861750" lvl="3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rgbClr val="FF0000"/>
                </a:solidFill>
              </a:rPr>
              <a:t>Lokale Daten im Cache, sind unverschlüsselt</a:t>
            </a:r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6A0EDF0E-765E-8C22-291A-D03212063803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/>
        <p:txBody>
          <a:bodyPr/>
          <a:lstStyle/>
          <a:p>
            <a:r>
              <a:rPr lang="de-DE" dirty="0"/>
              <a:t>Security - Anforderungen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73D9FC-7E3C-6022-E09B-1CC6EF6C6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490" y="2957880"/>
            <a:ext cx="374074" cy="374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0055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8AA7AFA-6120-0CAA-096D-A2476F35835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098164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Page </a:t>
            </a:r>
            <a:fld id="{677F1DB9-6BD1-4662-AD32-A5C07CCC53B6}" type="slidenum">
              <a:rPr lang="en-GB" smtClean="0"/>
              <a:pPr>
                <a:spcAft>
                  <a:spcPts val="600"/>
                </a:spcAft>
              </a:pPr>
              <a:t>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C390B66-BA22-9293-1715-75C1C4465C0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440000" y="4864142"/>
            <a:ext cx="6588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Offline Cache – Progressive Web App – RWE Power App Plattform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52F4F2-6D5B-5A44-3D20-A862DB3A711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63999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fld id="{2A56D9A3-2A71-42BC-805B-D65095163760}" type="datetime1">
              <a:rPr lang="de-DE" smtClean="0"/>
              <a:pPr>
                <a:spcAft>
                  <a:spcPts val="600"/>
                </a:spcAft>
              </a:pPr>
              <a:t>08.12.2025</a:t>
            </a:fld>
            <a:endParaRPr lang="en-GB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488417A-B31B-106E-06CE-BBE300917A29}"/>
              </a:ext>
            </a:extLst>
          </p:cNvPr>
          <p:cNvSpPr>
            <a:spLocks noGrp="1"/>
          </p:cNvSpPr>
          <p:nvPr>
            <p:ph type="body" orient="vert" idx="14"/>
          </p:nvPr>
        </p:nvSpPr>
        <p:spPr>
          <a:xfrm>
            <a:off x="538162" y="1438275"/>
            <a:ext cx="8064000" cy="3240000"/>
          </a:xfrm>
        </p:spPr>
        <p:txBody>
          <a:bodyPr anchor="t">
            <a:norm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Geräte sind mit einem Passwort verschlüsselt</a:t>
            </a:r>
          </a:p>
          <a:p>
            <a:pPr marL="285750" indent="-285750">
              <a:buFontTx/>
              <a:buChar char="-"/>
            </a:pPr>
            <a:r>
              <a:rPr lang="de-DE" dirty="0"/>
              <a:t>Clientseitige Verschlüsselung</a:t>
            </a:r>
          </a:p>
          <a:p>
            <a:pPr marL="285750" indent="-285750">
              <a:buFontTx/>
              <a:buChar char="-"/>
            </a:pPr>
            <a:r>
              <a:rPr lang="de-DE" dirty="0"/>
              <a:t>Teil der Entra ID</a:t>
            </a:r>
          </a:p>
          <a:p>
            <a:pPr marL="573750" lvl="2" indent="-285750">
              <a:buFontTx/>
              <a:buChar char="-"/>
            </a:pPr>
            <a:r>
              <a:rPr lang="de-DE" dirty="0">
                <a:solidFill>
                  <a:schemeClr val="accent5"/>
                </a:solidFill>
              </a:rPr>
              <a:t>zufällige Datenfolge, die jedem Nutzer individuell zugewiesen wird</a:t>
            </a:r>
          </a:p>
          <a:p>
            <a:pPr marL="285750" indent="-285750">
              <a:buFontTx/>
              <a:buChar char="-"/>
            </a:pPr>
            <a:r>
              <a:rPr lang="de-DE" dirty="0"/>
              <a:t>Passwort</a:t>
            </a:r>
          </a:p>
          <a:p>
            <a:pPr marL="573750" lvl="2" indent="-285750">
              <a:buFontTx/>
              <a:buChar char="-"/>
            </a:pPr>
            <a:r>
              <a:rPr lang="de-DE" dirty="0">
                <a:solidFill>
                  <a:schemeClr val="accent5"/>
                </a:solidFill>
              </a:rPr>
              <a:t>Nutzerpasswort, das jeder User für sich selbstbestimmt</a:t>
            </a:r>
          </a:p>
        </p:txBody>
      </p:sp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A05022A4-ACD9-75E9-3C2D-FF9FFDF575A8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538163" y="358776"/>
            <a:ext cx="8062913" cy="684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Security - Lösungsvorschlag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231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8AA7AFA-6120-0CAA-096D-A2476F35835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098164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Page </a:t>
            </a:r>
            <a:fld id="{677F1DB9-6BD1-4662-AD32-A5C07CCC53B6}" type="slidenum">
              <a:rPr lang="en-GB" smtClean="0"/>
              <a:pPr>
                <a:spcAft>
                  <a:spcPts val="600"/>
                </a:spcAft>
              </a:pPr>
              <a:t>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C390B66-BA22-9293-1715-75C1C4465C0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440000" y="4864142"/>
            <a:ext cx="6588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Offline Cache – Progressive Web App – RWE Power App Plattform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52F4F2-6D5B-5A44-3D20-A862DB3A711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63999" y="4864142"/>
            <a:ext cx="504000" cy="108000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fld id="{2A56D9A3-2A71-42BC-805B-D65095163760}" type="datetime1">
              <a:rPr lang="de-DE" smtClean="0"/>
              <a:pPr>
                <a:spcAft>
                  <a:spcPts val="600"/>
                </a:spcAft>
              </a:pPr>
              <a:t>08.12.2025</a:t>
            </a:fld>
            <a:endParaRPr lang="en-GB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488417A-B31B-106E-06CE-BBE300917A29}"/>
              </a:ext>
            </a:extLst>
          </p:cNvPr>
          <p:cNvSpPr>
            <a:spLocks noGrp="1"/>
          </p:cNvSpPr>
          <p:nvPr>
            <p:ph type="body" orient="vert" idx="14"/>
          </p:nvPr>
        </p:nvSpPr>
        <p:spPr>
          <a:xfrm>
            <a:off x="538162" y="1438275"/>
            <a:ext cx="8064000" cy="3240000"/>
          </a:xfrm>
        </p:spPr>
        <p:txBody>
          <a:bodyPr anchor="t">
            <a:norm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KDF</a:t>
            </a:r>
          </a:p>
          <a:p>
            <a:pPr marL="573750" lvl="2" indent="-285750">
              <a:buFontTx/>
              <a:buChar char="-"/>
            </a:pPr>
            <a:r>
              <a:rPr lang="de-DE">
                <a:solidFill>
                  <a:schemeClr val="accent5"/>
                </a:solidFill>
              </a:rPr>
              <a:t>Zusammen mit Salt und dem Nutzerpasswort in einen starken Schlüssel um</a:t>
            </a:r>
          </a:p>
          <a:p>
            <a:pPr marL="573750" lvl="2" indent="-285750">
              <a:buFontTx/>
              <a:buChar char="-"/>
            </a:pPr>
            <a:r>
              <a:rPr lang="de-DE">
                <a:solidFill>
                  <a:schemeClr val="accent5"/>
                </a:solidFill>
              </a:rPr>
              <a:t>Macht Brute-Force langsam und teuer</a:t>
            </a:r>
          </a:p>
          <a:p>
            <a:pPr marL="285750" indent="-285750">
              <a:buFontTx/>
              <a:buChar char="-"/>
            </a:pPr>
            <a:r>
              <a:rPr lang="de-DE" dirty="0"/>
              <a:t>AES</a:t>
            </a:r>
          </a:p>
          <a:p>
            <a:pPr marL="573750" lvl="2" indent="-285750">
              <a:buFontTx/>
              <a:buChar char="-"/>
            </a:pPr>
            <a:r>
              <a:rPr lang="de-DE">
                <a:solidFill>
                  <a:schemeClr val="accent5"/>
                </a:solidFill>
              </a:rPr>
              <a:t>Verschlüsselt die Daten in der DB, so dass es nicht mehr direkt sichtbar ist</a:t>
            </a:r>
          </a:p>
          <a:p>
            <a:r>
              <a:rPr lang="de-DE" dirty="0"/>
              <a:t>Nur mit einem richtigen Nutzerpassword wird der Entschlüsselungsschlüssel wieder durch den PBKDF2 generiert.</a:t>
            </a:r>
          </a:p>
        </p:txBody>
      </p:sp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A05022A4-ACD9-75E9-3C2D-FF9FFDF575A8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538163" y="358776"/>
            <a:ext cx="8062913" cy="684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Security - Lösungsvorschlag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8712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2CBE0BF-BB8C-ED78-BB6D-A962414FA2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27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D21E63C-40EB-31C0-637F-B71D0D0B15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Offline Cache – Progressive Web App – RWE Power App Plattform</a:t>
            </a: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D1B27E-16F8-38A5-C09F-B84AA11213D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417520-E41B-43C8-895A-2A55B2D526C9}" type="datetime1">
              <a:rPr lang="de-DE" smtClean="0"/>
              <a:t>08.12.2025</a:t>
            </a:fld>
            <a:endParaRPr lang="en-GB" dirty="0"/>
          </a:p>
        </p:txBody>
      </p:sp>
      <p:sp>
        <p:nvSpPr>
          <p:cNvPr id="5" name="Vertikaler Textplatzhalter 4">
            <a:extLst>
              <a:ext uri="{FF2B5EF4-FFF2-40B4-BE49-F238E27FC236}">
                <a16:creationId xmlns:a16="http://schemas.microsoft.com/office/drawing/2014/main" id="{8670A631-27E0-F435-030F-D0A2DF765CE3}"/>
              </a:ext>
            </a:extLst>
          </p:cNvPr>
          <p:cNvSpPr>
            <a:spLocks noGrp="1"/>
          </p:cNvSpPr>
          <p:nvPr>
            <p:ph type="body" orient="vert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1F9382F-0C75-DBC3-FE99-9D6F95103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hlinkClick r:id="rId2"/>
              </a:rPr>
              <a:t>https://developer.mozilla.org/de/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hlinkClick r:id="rId3"/>
              </a:rPr>
              <a:t>https://www.npmjs.com/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hlinkClick r:id="rId4"/>
              </a:rPr>
              <a:t>https://github.com/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hlinkClick r:id="rId5"/>
              </a:rPr>
              <a:t>https://developer.chrome.com/docs/workbox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hlinkClick r:id="rId6"/>
              </a:rPr>
              <a:t>https://serwist.pages.dev/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hlinkClick r:id="rId7"/>
              </a:rPr>
              <a:t>https://ducanh-next-pwa.vercel.app/</a:t>
            </a:r>
            <a:endParaRPr lang="de-DE" dirty="0"/>
          </a:p>
        </p:txBody>
      </p:sp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A69FA511-17A0-9767-83B0-5E18B4B6884A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</p:spTree>
    <p:extLst>
      <p:ext uri="{BB962C8B-B14F-4D97-AF65-F5344CB8AC3E}">
        <p14:creationId xmlns:p14="http://schemas.microsoft.com/office/powerpoint/2010/main" val="13666156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5CFFCD-1CFA-94B8-9F24-F0D1DAD56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677F1DB9-6BD1-4662-AD32-A5C07CCC53B6}" type="slidenum">
              <a:rPr lang="en-GB" sz="600" smtClean="0"/>
              <a:pPr/>
              <a:t>28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055B61-20D8-A3D7-7023-48E5FEC0E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Offline Cache – Progressive Web App – RWE Power App Plattform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6B57E-B850-6387-49F6-C633D1352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3004-015D-4BF0-B3C9-F2EBF5D54DD1}" type="datetime1">
              <a:rPr lang="de-DE" smtClean="0"/>
              <a:t>08.12.2025</a:t>
            </a:fld>
            <a:endParaRPr lang="en-GB"/>
          </a:p>
        </p:txBody>
      </p:sp>
      <p:sp>
        <p:nvSpPr>
          <p:cNvPr id="5" name="Vertical Text Placeholder 4">
            <a:extLst>
              <a:ext uri="{FF2B5EF4-FFF2-40B4-BE49-F238E27FC236}">
                <a16:creationId xmlns:a16="http://schemas.microsoft.com/office/drawing/2014/main" id="{1CAE84F1-F0EA-248F-4CD0-9A0BB3E989BB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sz="7000" dirty="0"/>
              <a:t>Q &amp; A</a:t>
            </a:r>
          </a:p>
          <a:p>
            <a:r>
              <a:rPr lang="de-DE" sz="2100" b="0" dirty="0"/>
              <a:t>Vielen Dank für die Aufmerksamkeit!</a:t>
            </a:r>
          </a:p>
          <a:p>
            <a:br>
              <a:rPr lang="de-DE" b="0" dirty="0"/>
            </a:br>
            <a:br>
              <a:rPr lang="de-DE" dirty="0"/>
            </a:br>
            <a:endParaRPr lang="de-DE" dirty="0"/>
          </a:p>
          <a:p>
            <a:br>
              <a:rPr lang="de-DE" dirty="0"/>
            </a:br>
            <a:endParaRPr lang="de-DE" sz="3600" b="0" dirty="0"/>
          </a:p>
        </p:txBody>
      </p:sp>
    </p:spTree>
    <p:extLst>
      <p:ext uri="{BB962C8B-B14F-4D97-AF65-F5344CB8AC3E}">
        <p14:creationId xmlns:p14="http://schemas.microsoft.com/office/powerpoint/2010/main" val="4162072707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RWE PowerPoint Master">
  <a:themeElements>
    <a:clrScheme name="RWE">
      <a:dk1>
        <a:srgbClr val="000000"/>
      </a:dk1>
      <a:lt1>
        <a:sysClr val="window" lastClr="FFFFFF"/>
      </a:lt1>
      <a:dk2>
        <a:srgbClr val="E8E8E4"/>
      </a:dk2>
      <a:lt2>
        <a:srgbClr val="52555C"/>
      </a:lt2>
      <a:accent1>
        <a:srgbClr val="00B1EB"/>
      </a:accent1>
      <a:accent2>
        <a:srgbClr val="1D4477"/>
      </a:accent2>
      <a:accent3>
        <a:srgbClr val="3ED8C3"/>
      </a:accent3>
      <a:accent4>
        <a:srgbClr val="ADAFB1"/>
      </a:accent4>
      <a:accent5>
        <a:srgbClr val="00A19F"/>
      </a:accent5>
      <a:accent6>
        <a:srgbClr val="005E65"/>
      </a:accent6>
      <a:hlink>
        <a:srgbClr val="1D4477"/>
      </a:hlink>
      <a:folHlink>
        <a:srgbClr val="1D4477"/>
      </a:folHlink>
    </a:clrScheme>
    <a:fontScheme name="RWE">
      <a:majorFont>
        <a:latin typeface="RWE Sans"/>
        <a:ea typeface=""/>
        <a:cs typeface=""/>
      </a:majorFont>
      <a:minorFont>
        <a:latin typeface="RW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36000" tIns="36000" rIns="36000" bIns="36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defRPr sz="1600" dirty="0" err="1" smtClean="0">
            <a:solidFill>
              <a:schemeClr val="accent2"/>
            </a:solidFill>
          </a:defRPr>
        </a:defPPr>
      </a:lstStyle>
    </a:txDef>
  </a:objectDefaults>
  <a:extraClrSchemeLst/>
  <a:custClrLst>
    <a:custClr name="RWE Blue 75%">
      <a:srgbClr val="567399"/>
    </a:custClr>
    <a:custClr name="RWE Blue 50%">
      <a:srgbClr val="8EA1BB"/>
    </a:custClr>
    <a:custClr name="Energy Dark Green 75%">
      <a:srgbClr val="40B9B7"/>
    </a:custClr>
    <a:custClr name="Energy Dark Green 50%">
      <a:srgbClr val="7FD0CF"/>
    </a:custClr>
    <a:custClr name="Energy Light Green 75%">
      <a:srgbClr val="6EE2D2"/>
    </a:custClr>
    <a:custClr name="Energy Light Green 50%">
      <a:srgbClr val="9EEBE1"/>
    </a:custClr>
    <a:custClr name="White">
      <a:srgbClr val="FFFFFF"/>
    </a:custClr>
    <a:custClr name="Renewables">
      <a:srgbClr val="3ED8C3"/>
    </a:custClr>
    <a:custClr name="New applications">
      <a:srgbClr val="00A19F"/>
    </a:custClr>
    <a:custClr name="Hard coal">
      <a:srgbClr val="52555C"/>
    </a:custClr>
    <a:custClr name="Energy blue 75%">
      <a:srgbClr val="40C5F0"/>
    </a:custClr>
    <a:custClr name="Energy blue 50%">
      <a:srgbClr val="7FD8F5"/>
    </a:custClr>
    <a:custClr name="Sand 75%">
      <a:srgbClr val="EEEEEB"/>
    </a:custClr>
    <a:custClr name="Accent orange">
      <a:srgbClr val="EF7D00"/>
    </a:custClr>
    <a:custClr name="Accent orange 75%">
      <a:srgbClr val="F39E40"/>
    </a:custClr>
    <a:custClr name="Accent orange 50%">
      <a:srgbClr val="F7BE7F"/>
    </a:custClr>
    <a:custClr name="White">
      <a:srgbClr val="FFFFFF"/>
    </a:custClr>
    <a:custClr name="Hydroelectric">
      <a:srgbClr val="00B1EB"/>
    </a:custClr>
    <a:custClr name="Wind offshore">
      <a:srgbClr val="A1DAF8"/>
    </a:custClr>
    <a:custClr name="Wind onshore">
      <a:srgbClr val="D4EDFC"/>
    </a:custClr>
    <a:custClr name="Accent dark red">
      <a:srgbClr val="B61F34"/>
    </a:custClr>
    <a:custClr name="Accent dark red 75%">
      <a:srgbClr val="C85767"/>
    </a:custClr>
    <a:custClr name="Accent dark red 50%">
      <a:srgbClr val="DA8F99"/>
    </a:custClr>
    <a:custClr name="Accent green">
      <a:srgbClr val="005E65"/>
    </a:custClr>
    <a:custClr name="Accent green 75%">
      <a:srgbClr val="40868C"/>
    </a:custClr>
    <a:custClr name="Accent green 50%">
      <a:srgbClr val="7FAEB2"/>
    </a:custClr>
    <a:custClr name="White">
      <a:srgbClr val="FFFFFF"/>
    </a:custClr>
    <a:custClr name="Biomass">
      <a:srgbClr val="005E65"/>
    </a:custClr>
    <a:custClr name="Solar/PV">
      <a:srgbClr val="7FA2A8"/>
    </a:custClr>
    <a:custClr name="Lignite">
      <a:srgbClr val="ADAFB1"/>
    </a:custClr>
    <a:custClr name="Accent yellow">
      <a:srgbClr val="FFCC00"/>
    </a:custClr>
    <a:custClr name="Accent yellow 75%">
      <a:srgbClr val="FFD940"/>
    </a:custClr>
    <a:custClr name="Accent yellow 50%">
      <a:srgbClr val="FFE57F"/>
    </a:custClr>
    <a:custClr name="Accent light red">
      <a:srgbClr val="E7343F"/>
    </a:custClr>
    <a:custClr name="Accent light red 75%">
      <a:srgbClr val="ED676F"/>
    </a:custClr>
    <a:custClr name="Accent light red 50%">
      <a:srgbClr val="F3999F"/>
    </a:custClr>
    <a:custClr name="White">
      <a:srgbClr val="FFFFFF"/>
    </a:custClr>
    <a:custClr name="Oil">
      <a:srgbClr val="E52330"/>
    </a:custClr>
    <a:custClr name="Nuclear power">
      <a:srgbClr val="EF7D00"/>
    </a:custClr>
    <a:custClr name="Gas">
      <a:srgbClr val="FFCC00"/>
    </a:custClr>
    <a:custClr name="Accent light green">
      <a:srgbClr val="5AB88F"/>
    </a:custClr>
    <a:custClr name="Accent light green 75%">
      <a:srgbClr val="83CAAB"/>
    </a:custClr>
    <a:custClr name="Accent light green 50%">
      <a:srgbClr val="ACDBC7"/>
    </a:custClr>
    <a:custClr name="Accent dark grey">
      <a:srgbClr val="52555C"/>
    </a:custClr>
    <a:custClr name="Accent dark grey 75%">
      <a:srgbClr val="7D8085"/>
    </a:custClr>
    <a:custClr name="Accent dark grey 50%">
      <a:srgbClr val="A8AAAD"/>
    </a:custClr>
    <a:custClr name="White">
      <a:srgbClr val="FFFFFF"/>
    </a:custClr>
    <a:custClr name="Biogas">
      <a:srgbClr val="FFE680"/>
    </a:custClr>
    <a:custClr name="LNG">
      <a:srgbClr val="FFD744"/>
    </a:custClr>
    <a:custClr name="Hydrogen">
      <a:srgbClr val="C0E0CE"/>
    </a:custClr>
  </a:custClrLst>
  <a:extLst>
    <a:ext uri="{05A4C25C-085E-4340-85A3-A5531E510DB2}">
      <thm15:themeFamily xmlns:thm15="http://schemas.microsoft.com/office/thememl/2012/main" name="PPT_16x9_EN.potx" id="{4A99D0D3-3FE6-4C82-B47B-012EFCC063E5}" vid="{1662E2E1-CBAB-4071-8E0C-712A539A064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c63e115-d67c-451e-ab78-431621400092">
      <UserInfo>
        <DisplayName>Fröwis, Marc Michael</DisplayName>
        <AccountId>21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2C3B5AB9B5D642B7831952E4E188C4" ma:contentTypeVersion="6" ma:contentTypeDescription="Create a new document." ma:contentTypeScope="" ma:versionID="0484a2b3cd672348649a055ab93f95d9">
  <xsd:schema xmlns:xsd="http://www.w3.org/2001/XMLSchema" xmlns:xs="http://www.w3.org/2001/XMLSchema" xmlns:p="http://schemas.microsoft.com/office/2006/metadata/properties" xmlns:ns2="37c0a8e1-dfb3-41f1-97f2-9ddb24c66155" xmlns:ns3="8c63e115-d67c-451e-ab78-431621400092" targetNamespace="http://schemas.microsoft.com/office/2006/metadata/properties" ma:root="true" ma:fieldsID="6664b0087f4816493446a32c17e69f18" ns2:_="" ns3:_="">
    <xsd:import namespace="37c0a8e1-dfb3-41f1-97f2-9ddb24c66155"/>
    <xsd:import namespace="8c63e115-d67c-451e-ab78-4316214000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c0a8e1-dfb3-41f1-97f2-9ddb24c661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63e115-d67c-451e-ab78-43162140009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9816CD-1BF3-46EE-9439-087FA0AC56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BAFB6D-43CE-43CF-BD1E-BD227CB8AF56}">
  <ds:schemaRefs>
    <ds:schemaRef ds:uri="37c0a8e1-dfb3-41f1-97f2-9ddb24c66155"/>
    <ds:schemaRef ds:uri="8c63e115-d67c-451e-ab78-431621400092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1FB5AA3-1ED5-40F3-AC48-97CBDEECB8F7}">
  <ds:schemaRefs>
    <ds:schemaRef ds:uri="37c0a8e1-dfb3-41f1-97f2-9ddb24c66155"/>
    <ds:schemaRef ds:uri="8c63e115-d67c-451e-ab78-43162140009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81d56f-c63d-4d74-8406-d64e74f44395}" enabled="0" method="" siteId="{f481d56f-c63d-4d74-8406-d64e74f44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Power-Point-Presentation in 16x9-EN</Template>
  <TotalTime>0</TotalTime>
  <Words>1294</Words>
  <Application>Microsoft Office PowerPoint</Application>
  <PresentationFormat>Benutzerdefiniert</PresentationFormat>
  <Paragraphs>288</Paragraphs>
  <Slides>28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3" baseType="lpstr">
      <vt:lpstr>Calibri</vt:lpstr>
      <vt:lpstr>RWE Sans</vt:lpstr>
      <vt:lpstr>Arial</vt:lpstr>
      <vt:lpstr>RWE PowerPoint Master</vt:lpstr>
      <vt:lpstr>Worksheet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Geissler, Christine</dc:creator>
  <cp:lastModifiedBy>Kurilin, Ivan</cp:lastModifiedBy>
  <cp:revision>37</cp:revision>
  <dcterms:created xsi:type="dcterms:W3CDTF">2023-12-12T16:41:36Z</dcterms:created>
  <dcterms:modified xsi:type="dcterms:W3CDTF">2025-12-08T15:06:54Z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0x010100962C3B5AB9B5D642B7831952E4E188C4</vt:lpwstr>
  </property>
  <property fmtid="{D5CDD505-2E9C-101B-9397-08002B2CF9AE}" pid="3" name="_SourceUrl">
    <vt:lpwstr/>
  </property>
  <property fmtid="{D5CDD505-2E9C-101B-9397-08002B2CF9AE}" pid="4" name="_SharedFileIndex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_activity">
    <vt:lpwstr>{"FileActivityType":"8","FileActivityTimeStamp":"2024-03-18T09:56:53.283Z","FileActivityUsersOnPage":[{"DisplayName":"Haupt, Mario","Id":"ui914542@rwe-ag.com"}],"FileActivityNavigationId":null}</vt:lpwstr>
  </property>
  <property fmtid="{D5CDD505-2E9C-101B-9397-08002B2CF9AE}" pid="8" name="TriggerFlowInfo">
    <vt:lpwstr/>
  </property>
</Properties>
</file>