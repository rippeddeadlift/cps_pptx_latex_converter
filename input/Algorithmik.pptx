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1031" r:id="rId2"/>
    <p:sldId id="1037" r:id="rId3"/>
    <p:sldId id="278" r:id="rId4"/>
    <p:sldId id="279" r:id="rId5"/>
  </p:sldIdLst>
  <p:sldSz cx="12192000" cy="6858000"/>
  <p:notesSz cx="6797675" cy="9928225"/>
  <p:defaultTextStyle>
    <a:defPPr>
      <a:defRPr lang="de-DE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Daniel Gaida" initials="DG" lastIdx="1" clrIdx="0"/>
  <p:cmAuthor id="1" name="Sonia Fereidooni" initials="" lastIdx="4" clrIdx="1"/>
  <p:cmAuthor id="2" name="Kasey Champion" initials="" lastIdx="2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80" autoAdjust="0"/>
    <p:restoredTop sz="84121" autoAdjust="0"/>
  </p:normalViewPr>
  <p:slideViewPr>
    <p:cSldViewPr snapToGrid="0" snapToObjects="1">
      <p:cViewPr varScale="1">
        <p:scale>
          <a:sx n="107" d="100"/>
          <a:sy n="107" d="100"/>
        </p:scale>
        <p:origin x="1090" y="8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536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141413" y="128588"/>
            <a:ext cx="3398837" cy="652462"/>
          </a:xfrm>
          <a:prstGeom prst="rect">
            <a:avLst/>
          </a:prstGeom>
        </p:spPr>
        <p:txBody>
          <a:bodyPr vert="horz" lIns="0" tIns="0" rIns="0" bIns="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grpSp>
        <p:nvGrpSpPr>
          <p:cNvPr id="9219" name="Gruppierung 2"/>
          <p:cNvGrpSpPr>
            <a:grpSpLocks/>
          </p:cNvGrpSpPr>
          <p:nvPr/>
        </p:nvGrpSpPr>
        <p:grpSpPr bwMode="auto">
          <a:xfrm>
            <a:off x="1133475" y="0"/>
            <a:ext cx="5664200" cy="77788"/>
            <a:chOff x="1143000" y="-2"/>
            <a:chExt cx="5714999" cy="108000"/>
          </a:xfrm>
        </p:grpSpPr>
        <p:sp>
          <p:nvSpPr>
            <p:cNvPr id="7" name="Rechteck 6"/>
            <p:cNvSpPr/>
            <p:nvPr userDrawn="1"/>
          </p:nvSpPr>
          <p:spPr bwMode="auto">
            <a:xfrm>
              <a:off x="1143000" y="-2"/>
              <a:ext cx="1800353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8" name="Rechteck 7"/>
            <p:cNvSpPr/>
            <p:nvPr userDrawn="1"/>
          </p:nvSpPr>
          <p:spPr bwMode="auto">
            <a:xfrm>
              <a:off x="2943353" y="-2"/>
              <a:ext cx="1801955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9" name="Rechteck 8"/>
            <p:cNvSpPr/>
            <p:nvPr userDrawn="1"/>
          </p:nvSpPr>
          <p:spPr bwMode="auto">
            <a:xfrm>
              <a:off x="4745308" y="-2"/>
              <a:ext cx="2112691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sp>
        <p:nvSpPr>
          <p:cNvPr id="9220" name="Rectangle 4"/>
          <p:cNvSpPr>
            <a:spLocks noChangeArrowheads="1"/>
          </p:cNvSpPr>
          <p:nvPr/>
        </p:nvSpPr>
        <p:spPr bwMode="auto">
          <a:xfrm>
            <a:off x="4700588" y="388938"/>
            <a:ext cx="955675" cy="39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>
              <a:lnSpc>
                <a:spcPts val="1175"/>
              </a:lnSpc>
            </a:pPr>
            <a:r>
              <a:rPr lang="de-DE" altLang="de-DE" sz="900"/>
              <a:t>Chart</a:t>
            </a:r>
            <a:r>
              <a:rPr lang="de-DE" altLang="de-DE" sz="900">
                <a:solidFill>
                  <a:srgbClr val="000000"/>
                </a:solidFill>
              </a:rPr>
              <a:t>: </a:t>
            </a:r>
            <a:fld id="{DEABD8D7-DB7D-4262-BD90-67B58EBF3A4F}" type="slidenum">
              <a:rPr lang="de-DE" altLang="de-DE" sz="900">
                <a:solidFill>
                  <a:srgbClr val="000000"/>
                </a:solidFill>
              </a:rPr>
              <a:pPr eaLnBrk="0" hangingPunct="0">
                <a:lnSpc>
                  <a:spcPts val="1175"/>
                </a:lnSpc>
              </a:pPr>
              <a:t>‹Nr.›</a:t>
            </a:fld>
            <a:endParaRPr lang="de-DE" altLang="de-DE" sz="900"/>
          </a:p>
        </p:txBody>
      </p:sp>
      <p:pic>
        <p:nvPicPr>
          <p:cNvPr id="9221" name="Bild 7" descr="Logo_17pt.wm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2175" y="9096375"/>
            <a:ext cx="1041400" cy="66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Rectangle 10"/>
          <p:cNvSpPr txBox="1">
            <a:spLocks noChangeArrowheads="1"/>
          </p:cNvSpPr>
          <p:nvPr/>
        </p:nvSpPr>
        <p:spPr bwMode="auto">
          <a:xfrm>
            <a:off x="4700588" y="139700"/>
            <a:ext cx="1042987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/>
          <a:lstStyle>
            <a:defPPr>
              <a:defRPr lang="de-DE"/>
            </a:defPPr>
            <a:lvl1pPr algn="l" rtl="0" eaLnBrk="0" fontAlgn="base" hangingPunct="0">
              <a:lnSpc>
                <a:spcPts val="1500"/>
              </a:lnSpc>
              <a:spcBef>
                <a:spcPts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fld id="{3A6DA0C8-B110-EF42-9B42-44D642A5B286}" type="datetime1">
              <a:rPr lang="de-DE" sz="900" smtClean="0"/>
              <a:pPr>
                <a:lnSpc>
                  <a:spcPts val="1180"/>
                </a:lnSpc>
                <a:defRPr/>
              </a:pPr>
              <a:t>14.12.2025</a:t>
            </a:fld>
            <a:endParaRPr lang="de-DE" sz="900" dirty="0"/>
          </a:p>
        </p:txBody>
      </p:sp>
      <p:sp>
        <p:nvSpPr>
          <p:cNvPr id="14" name="Fußzeilenplatzhalter 3"/>
          <p:cNvSpPr txBox="1">
            <a:spLocks/>
          </p:cNvSpPr>
          <p:nvPr/>
        </p:nvSpPr>
        <p:spPr>
          <a:xfrm>
            <a:off x="1133475" y="9105900"/>
            <a:ext cx="3924300" cy="895350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r>
              <a:rPr lang="de-DE" sz="900" dirty="0"/>
              <a:t>Prof. Dr. Elisabeth Exempel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Ggf. Funktionsbezeichnung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Instituts- und/oder Fakultäts-, Referats-, Teambezeichnung</a:t>
            </a:r>
            <a:br>
              <a:rPr lang="de-DE" sz="900" b="0" dirty="0">
                <a:solidFill>
                  <a:schemeClr val="tx1"/>
                </a:solidFill>
              </a:rPr>
            </a:br>
            <a:r>
              <a:rPr lang="de-DE" sz="900" b="0" dirty="0">
                <a:solidFill>
                  <a:schemeClr val="tx1"/>
                </a:solidFill>
              </a:rPr>
              <a:t>maximal drei Zeilen möglich (editierbar im </a:t>
            </a:r>
            <a:r>
              <a:rPr lang="de-DE" sz="900" b="0" dirty="0" err="1">
                <a:solidFill>
                  <a:schemeClr val="tx1"/>
                </a:solidFill>
              </a:rPr>
              <a:t>Foliemaster</a:t>
            </a:r>
            <a:r>
              <a:rPr lang="de-DE" sz="900" b="0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ts val="1180"/>
              </a:lnSpc>
              <a:defRPr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697997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47663" y="744538"/>
            <a:ext cx="4978400" cy="2800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133475" y="3697288"/>
            <a:ext cx="5414963" cy="47847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8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141413" y="150813"/>
            <a:ext cx="3398837" cy="482600"/>
          </a:xfrm>
          <a:prstGeom prst="rect">
            <a:avLst/>
          </a:prstGeom>
        </p:spPr>
        <p:txBody>
          <a:bodyPr vert="horz" lIns="0" tIns="0" rIns="0" bIns="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grpSp>
        <p:nvGrpSpPr>
          <p:cNvPr id="7173" name="Gruppierung 1"/>
          <p:cNvGrpSpPr>
            <a:grpSpLocks/>
          </p:cNvGrpSpPr>
          <p:nvPr/>
        </p:nvGrpSpPr>
        <p:grpSpPr bwMode="auto">
          <a:xfrm>
            <a:off x="1133475" y="0"/>
            <a:ext cx="5664200" cy="77788"/>
            <a:chOff x="1143000" y="-2"/>
            <a:chExt cx="5714999" cy="108000"/>
          </a:xfrm>
        </p:grpSpPr>
        <p:sp>
          <p:nvSpPr>
            <p:cNvPr id="9" name="Rechteck 8"/>
            <p:cNvSpPr/>
            <p:nvPr/>
          </p:nvSpPr>
          <p:spPr bwMode="auto">
            <a:xfrm>
              <a:off x="1143000" y="-2"/>
              <a:ext cx="1800353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0" name="Rechteck 9"/>
            <p:cNvSpPr/>
            <p:nvPr/>
          </p:nvSpPr>
          <p:spPr bwMode="auto">
            <a:xfrm>
              <a:off x="2943353" y="-2"/>
              <a:ext cx="1801955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1" name="Rechteck 10"/>
            <p:cNvSpPr/>
            <p:nvPr/>
          </p:nvSpPr>
          <p:spPr bwMode="auto">
            <a:xfrm>
              <a:off x="4745308" y="-2"/>
              <a:ext cx="2112691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sp>
        <p:nvSpPr>
          <p:cNvPr id="7174" name="Rectangle 4"/>
          <p:cNvSpPr>
            <a:spLocks noChangeArrowheads="1"/>
          </p:cNvSpPr>
          <p:nvPr/>
        </p:nvSpPr>
        <p:spPr bwMode="auto">
          <a:xfrm>
            <a:off x="4700588" y="411163"/>
            <a:ext cx="955675" cy="39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>
              <a:lnSpc>
                <a:spcPts val="1175"/>
              </a:lnSpc>
            </a:pPr>
            <a:r>
              <a:rPr lang="de-DE" altLang="de-DE" sz="900"/>
              <a:t>Chart</a:t>
            </a:r>
            <a:r>
              <a:rPr lang="de-DE" altLang="de-DE" sz="900">
                <a:solidFill>
                  <a:srgbClr val="000000"/>
                </a:solidFill>
              </a:rPr>
              <a:t>: </a:t>
            </a:r>
            <a:fld id="{461BB4A2-88BF-4F1A-ADC3-F64B0D1FA15C}" type="slidenum">
              <a:rPr lang="de-DE" altLang="de-DE" sz="900">
                <a:solidFill>
                  <a:srgbClr val="000000"/>
                </a:solidFill>
              </a:rPr>
              <a:pPr eaLnBrk="0" hangingPunct="0">
                <a:lnSpc>
                  <a:spcPts val="1175"/>
                </a:lnSpc>
              </a:pPr>
              <a:t>‹Nr.›</a:t>
            </a:fld>
            <a:endParaRPr lang="de-DE" altLang="de-DE" sz="900"/>
          </a:p>
        </p:txBody>
      </p:sp>
      <p:pic>
        <p:nvPicPr>
          <p:cNvPr id="7175" name="Bild 7" descr="Logo_17pt.wm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2175" y="8851900"/>
            <a:ext cx="1041400" cy="66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Rectangle 10"/>
          <p:cNvSpPr txBox="1">
            <a:spLocks noChangeArrowheads="1"/>
          </p:cNvSpPr>
          <p:nvPr/>
        </p:nvSpPr>
        <p:spPr bwMode="auto">
          <a:xfrm>
            <a:off x="4700588" y="161925"/>
            <a:ext cx="1042987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/>
          <a:lstStyle>
            <a:defPPr>
              <a:defRPr lang="de-DE"/>
            </a:defPPr>
            <a:lvl1pPr algn="l" rtl="0" eaLnBrk="0" fontAlgn="base" hangingPunct="0">
              <a:lnSpc>
                <a:spcPts val="1500"/>
              </a:lnSpc>
              <a:spcBef>
                <a:spcPts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fld id="{3A6DA0C8-B110-EF42-9B42-44D642A5B286}" type="datetime1">
              <a:rPr lang="de-DE" sz="900" smtClean="0"/>
              <a:pPr>
                <a:lnSpc>
                  <a:spcPts val="1180"/>
                </a:lnSpc>
                <a:defRPr/>
              </a:pPr>
              <a:t>14.12.2025</a:t>
            </a:fld>
            <a:endParaRPr lang="de-DE" sz="900" dirty="0"/>
          </a:p>
        </p:txBody>
      </p:sp>
      <p:sp>
        <p:nvSpPr>
          <p:cNvPr id="15" name="Fußzeilenplatzhalter 3"/>
          <p:cNvSpPr txBox="1">
            <a:spLocks/>
          </p:cNvSpPr>
          <p:nvPr/>
        </p:nvSpPr>
        <p:spPr>
          <a:xfrm>
            <a:off x="1133475" y="8861425"/>
            <a:ext cx="3924300" cy="895350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r>
              <a:rPr lang="de-DE" sz="900" dirty="0"/>
              <a:t>Prof. Dr. Elisabeth Exempel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Ggf. Funktionsbezeichnung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Instituts- und/oder Fakultäts-, Referats-, Teambezeichnung</a:t>
            </a:r>
            <a:br>
              <a:rPr lang="de-DE" sz="900" b="0" dirty="0">
                <a:solidFill>
                  <a:schemeClr val="tx1"/>
                </a:solidFill>
              </a:rPr>
            </a:br>
            <a:r>
              <a:rPr lang="de-DE" sz="900" b="0" dirty="0">
                <a:solidFill>
                  <a:schemeClr val="tx1"/>
                </a:solidFill>
              </a:rPr>
              <a:t>maximal drei Zeilen möglich (editierbar im </a:t>
            </a:r>
            <a:r>
              <a:rPr lang="de-DE" sz="900" b="0" dirty="0" err="1">
                <a:solidFill>
                  <a:schemeClr val="tx1"/>
                </a:solidFill>
              </a:rPr>
              <a:t>Foliemaster</a:t>
            </a:r>
            <a:r>
              <a:rPr lang="de-DE" sz="900" b="0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ts val="1180"/>
              </a:lnSpc>
              <a:defRPr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71812562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02166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118b4eb0048_0_5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901950" y="220663"/>
            <a:ext cx="1054100" cy="5937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6" name="Google Shape;756;g118b4eb0048_0_551:notes"/>
          <p:cNvSpPr txBox="1">
            <a:spLocks noGrp="1"/>
          </p:cNvSpPr>
          <p:nvPr>
            <p:ph type="body" idx="1"/>
          </p:nvPr>
        </p:nvSpPr>
        <p:spPr>
          <a:xfrm>
            <a:off x="685800" y="848023"/>
            <a:ext cx="5486400" cy="6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7" name="Google Shape;757;g118b4eb0048_0_551:notes"/>
          <p:cNvSpPr txBox="1">
            <a:spLocks noGrp="1"/>
          </p:cNvSpPr>
          <p:nvPr>
            <p:ph type="sldNum" idx="12"/>
          </p:nvPr>
        </p:nvSpPr>
        <p:spPr>
          <a:xfrm>
            <a:off x="3884613" y="1673713"/>
            <a:ext cx="2971800" cy="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5" name="Google Shape;63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1" name="Google Shape;65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seite mit großem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206000" y="72000"/>
            <a:ext cx="10986000" cy="433236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206500" y="4535620"/>
            <a:ext cx="10800000" cy="708217"/>
          </a:xfrm>
          <a:prstGeom prst="rect">
            <a:avLst/>
          </a:prstGeom>
        </p:spPr>
        <p:txBody>
          <a:bodyPr tIns="0" rtlCol="0">
            <a:noAutofit/>
          </a:bodyPr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 dirty="0"/>
              <a:t>Titelmasterformat durch </a:t>
            </a:r>
            <a:br>
              <a:rPr lang="de-DE" dirty="0"/>
            </a:br>
            <a:r>
              <a:rPr lang="de-DE" dirty="0"/>
              <a:t>Klicken bearbeiten</a:t>
            </a:r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1206000" y="5455920"/>
            <a:ext cx="10800000" cy="381020"/>
          </a:xfrm>
        </p:spPr>
        <p:txBody>
          <a:bodyPr/>
          <a:lstStyle>
            <a:lvl1pPr>
              <a:lnSpc>
                <a:spcPts val="2200"/>
              </a:lnSpc>
              <a:defRPr/>
            </a:lvl1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048784-7281-4837-A1AE-FC4A34A747D6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8" name="Foliennummernplatzhalter 4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BD9B6713-36FE-4B94-85D8-9FA2DCE30A84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4606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ts val="3000"/>
              </a:lnSpc>
              <a:defRPr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7" name="Inhaltsplatzhalter 6"/>
          <p:cNvSpPr>
            <a:spLocks noGrp="1"/>
          </p:cNvSpPr>
          <p:nvPr>
            <p:ph sz="quarter" idx="12"/>
          </p:nvPr>
        </p:nvSpPr>
        <p:spPr>
          <a:xfrm>
            <a:off x="1204913" y="1548000"/>
            <a:ext cx="10799762" cy="4320000"/>
          </a:xfrm>
        </p:spPr>
        <p:txBody>
          <a:bodyPr/>
          <a:lstStyle>
            <a:lvl1pPr>
              <a:lnSpc>
                <a:spcPct val="112000"/>
              </a:lnSpc>
              <a:defRPr sz="1800">
                <a:latin typeface="Arial" pitchFamily="34" charset="0"/>
                <a:cs typeface="Arial" pitchFamily="34" charset="0"/>
              </a:defRPr>
            </a:lvl1pPr>
            <a:lvl2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2pPr>
            <a:lvl3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3pPr>
            <a:lvl4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4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3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021128-E3BC-4510-A597-24FCB75D3A75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6" name="Foliennummernplatzhalt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43310F81-32EE-4F95-9E9C-0BDC6AD52EEC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6447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/>
          <p:cNvSpPr>
            <a:spLocks noGrp="1"/>
          </p:cNvSpPr>
          <p:nvPr>
            <p:ph type="title"/>
          </p:nvPr>
        </p:nvSpPr>
        <p:spPr>
          <a:xfrm>
            <a:off x="1204675" y="3276600"/>
            <a:ext cx="10800000" cy="1356360"/>
          </a:xfrm>
          <a:prstGeom prst="rect">
            <a:avLst/>
          </a:prstGeom>
        </p:spPr>
        <p:txBody>
          <a:bodyPr tIns="0" rtlCol="0">
            <a:noAutofit/>
          </a:bodyPr>
          <a:lstStyle>
            <a:lvl1pPr>
              <a:lnSpc>
                <a:spcPts val="3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1" name="Bildplatzhalter 2"/>
          <p:cNvSpPr>
            <a:spLocks noGrp="1"/>
          </p:cNvSpPr>
          <p:nvPr>
            <p:ph type="pic" idx="1"/>
          </p:nvPr>
        </p:nvSpPr>
        <p:spPr>
          <a:xfrm>
            <a:off x="1206000" y="72000"/>
            <a:ext cx="10986000" cy="3067152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1206000" y="4772804"/>
            <a:ext cx="10800000" cy="1031596"/>
          </a:xfrm>
        </p:spPr>
        <p:txBody>
          <a:bodyPr/>
          <a:lstStyle>
            <a:lvl1pPr>
              <a:lnSpc>
                <a:spcPts val="2200"/>
              </a:lnSpc>
              <a:defRPr sz="1800"/>
            </a:lvl1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4B419C-6100-4ECC-A14C-29389AFC3646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6" name="Foliennummernplatzhalter 4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38D2255-8A42-41C6-B7FD-A8F81B1858ED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5432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2"/>
          </p:nvPr>
        </p:nvSpPr>
        <p:spPr>
          <a:xfrm>
            <a:off x="1206500" y="1520825"/>
            <a:ext cx="5220000" cy="4356100"/>
          </a:xfrm>
        </p:spPr>
        <p:txBody>
          <a:bodyPr/>
          <a:lstStyle>
            <a:lvl1pPr>
              <a:lnSpc>
                <a:spcPct val="112000"/>
              </a:lnSpc>
              <a:spcAft>
                <a:spcPts val="600"/>
              </a:spcAft>
              <a:defRPr sz="1800"/>
            </a:lvl1pPr>
            <a:lvl2pPr indent="-187200">
              <a:lnSpc>
                <a:spcPct val="112000"/>
              </a:lnSpc>
              <a:spcBef>
                <a:spcPts val="0"/>
              </a:spcBef>
              <a:defRPr sz="1800"/>
            </a:lvl2pPr>
            <a:lvl3pPr>
              <a:lnSpc>
                <a:spcPct val="112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7" name="Inhaltsplatzhalter 5"/>
          <p:cNvSpPr>
            <a:spLocks noGrp="1"/>
          </p:cNvSpPr>
          <p:nvPr>
            <p:ph sz="quarter" idx="13"/>
          </p:nvPr>
        </p:nvSpPr>
        <p:spPr>
          <a:xfrm>
            <a:off x="6816425" y="1520825"/>
            <a:ext cx="5188665" cy="4356100"/>
          </a:xfrm>
        </p:spPr>
        <p:txBody>
          <a:bodyPr/>
          <a:lstStyle>
            <a:lvl1pPr>
              <a:lnSpc>
                <a:spcPct val="112000"/>
              </a:lnSpc>
              <a:spcAft>
                <a:spcPts val="600"/>
              </a:spcAft>
              <a:defRPr/>
            </a:lvl1pPr>
            <a:lvl2pPr indent="-187200">
              <a:lnSpc>
                <a:spcPct val="112000"/>
              </a:lnSpc>
              <a:spcBef>
                <a:spcPts val="0"/>
              </a:spcBef>
              <a:defRPr/>
            </a:lvl2pPr>
            <a:lvl3pPr>
              <a:lnSpc>
                <a:spcPct val="112000"/>
              </a:lnSpc>
              <a:spcBef>
                <a:spcPts val="0"/>
              </a:spcBef>
              <a:defRPr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idx="14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8" name="Datumsplatzhalt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D379B7-331E-424B-A45F-F03D5981C976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10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8EAC3D31-108A-4FE9-91B5-F944D4EE38A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465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2"/>
          </p:nvPr>
        </p:nvSpPr>
        <p:spPr>
          <a:xfrm>
            <a:off x="1206500" y="2211185"/>
            <a:ext cx="5220000" cy="3665740"/>
          </a:xfrm>
        </p:spPr>
        <p:txBody>
          <a:bodyPr/>
          <a:lstStyle>
            <a:lvl1pPr>
              <a:lnSpc>
                <a:spcPct val="112000"/>
              </a:lnSpc>
              <a:spcAft>
                <a:spcPts val="400"/>
              </a:spcAft>
              <a:defRPr sz="2000">
                <a:latin typeface="Arial "/>
              </a:defRPr>
            </a:lvl1pPr>
            <a:lvl2pPr>
              <a:lnSpc>
                <a:spcPct val="112000"/>
              </a:lnSpc>
              <a:spcBef>
                <a:spcPts val="0"/>
              </a:spcBef>
              <a:defRPr sz="2000">
                <a:latin typeface="Arial "/>
              </a:defRPr>
            </a:lvl2pPr>
            <a:lvl3pPr>
              <a:lnSpc>
                <a:spcPct val="112000"/>
              </a:lnSpc>
              <a:spcBef>
                <a:spcPts val="0"/>
              </a:spcBef>
              <a:defRPr sz="2000">
                <a:latin typeface="Arial "/>
              </a:defRPr>
            </a:lvl3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Inhaltsplatzhalter 5"/>
          <p:cNvSpPr>
            <a:spLocks noGrp="1"/>
          </p:cNvSpPr>
          <p:nvPr>
            <p:ph sz="quarter" idx="13"/>
          </p:nvPr>
        </p:nvSpPr>
        <p:spPr>
          <a:xfrm>
            <a:off x="6792149" y="2211185"/>
            <a:ext cx="5220000" cy="3665740"/>
          </a:xfrm>
        </p:spPr>
        <p:txBody>
          <a:bodyPr/>
          <a:lstStyle>
            <a:lvl1pPr>
              <a:lnSpc>
                <a:spcPct val="112000"/>
              </a:lnSpc>
              <a:spcAft>
                <a:spcPts val="400"/>
              </a:spcAft>
              <a:defRPr sz="2000">
                <a:latin typeface="+mj-lt"/>
              </a:defRPr>
            </a:lvl1pPr>
            <a:lvl2pPr>
              <a:lnSpc>
                <a:spcPct val="112000"/>
              </a:lnSpc>
              <a:spcBef>
                <a:spcPts val="0"/>
              </a:spcBef>
              <a:defRPr sz="2000">
                <a:latin typeface="+mj-lt"/>
              </a:defRPr>
            </a:lvl2pPr>
            <a:lvl3pPr>
              <a:lnSpc>
                <a:spcPct val="112000"/>
              </a:lnSpc>
              <a:spcBef>
                <a:spcPts val="0"/>
              </a:spcBef>
              <a:defRPr sz="2000">
                <a:latin typeface="+mj-lt"/>
              </a:defRPr>
            </a:lvl3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"/>
          </p:nvPr>
        </p:nvSpPr>
        <p:spPr>
          <a:xfrm>
            <a:off x="1208242" y="1522817"/>
            <a:ext cx="5220000" cy="688368"/>
          </a:xfrm>
        </p:spPr>
        <p:txBody>
          <a:bodyPr/>
          <a:lstStyle>
            <a:lvl1pPr marL="0" indent="0">
              <a:lnSpc>
                <a:spcPct val="112000"/>
              </a:lnSpc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9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792149" y="1522817"/>
            <a:ext cx="5220000" cy="688368"/>
          </a:xfrm>
        </p:spPr>
        <p:txBody>
          <a:bodyPr/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idx="14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0" name="Datumsplatzhalt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5F7EFE-EEF9-40C5-9AEC-F07BD35586E4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12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2C0031C7-9188-4972-9DD4-DD3C320BBBD9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2438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1"/>
          <p:cNvSpPr>
            <a:spLocks noGrp="1"/>
          </p:cNvSpPr>
          <p:nvPr>
            <p:ph type="title"/>
          </p:nvPr>
        </p:nvSpPr>
        <p:spPr>
          <a:xfrm>
            <a:off x="1205090" y="521252"/>
            <a:ext cx="10800000" cy="900000"/>
          </a:xfrm>
        </p:spPr>
        <p:txBody>
          <a:bodyPr tIns="0"/>
          <a:lstStyle>
            <a:lvl1pPr>
              <a:lnSpc>
                <a:spcPct val="100000"/>
              </a:lnSpc>
              <a:defRPr sz="2600"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/>
          </p:nvPr>
        </p:nvSpPr>
        <p:spPr>
          <a:xfrm>
            <a:off x="1219201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F603B7-878E-43D0-A9A1-FA3C2AF87C58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065F7AFB-E617-4306-8E77-B348F91DE56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4437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985212-05E7-49A7-ABD6-673A483CDAE3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3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6339FEA-45E0-4CEE-87DD-55B9FB706592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9977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556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rei Bilder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2"/>
          <p:cNvSpPr>
            <a:spLocks noGrp="1"/>
          </p:cNvSpPr>
          <p:nvPr>
            <p:ph type="pic" idx="1"/>
          </p:nvPr>
        </p:nvSpPr>
        <p:spPr>
          <a:xfrm>
            <a:off x="1206000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8" name="Textplatzhalter 2"/>
          <p:cNvSpPr>
            <a:spLocks noGrp="1"/>
          </p:cNvSpPr>
          <p:nvPr>
            <p:ph type="body" idx="13"/>
          </p:nvPr>
        </p:nvSpPr>
        <p:spPr>
          <a:xfrm>
            <a:off x="1206000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34" name="Bildplatzhalter 2"/>
          <p:cNvSpPr>
            <a:spLocks noGrp="1"/>
          </p:cNvSpPr>
          <p:nvPr>
            <p:ph type="pic" idx="14"/>
          </p:nvPr>
        </p:nvSpPr>
        <p:spPr>
          <a:xfrm>
            <a:off x="4893213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5" name="Textplatzhalter 2"/>
          <p:cNvSpPr>
            <a:spLocks noGrp="1"/>
          </p:cNvSpPr>
          <p:nvPr>
            <p:ph type="body" idx="15"/>
          </p:nvPr>
        </p:nvSpPr>
        <p:spPr>
          <a:xfrm>
            <a:off x="4893213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idx="16"/>
          </p:nvPr>
        </p:nvSpPr>
        <p:spPr>
          <a:xfrm>
            <a:off x="8556149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Textplatzhalter 2"/>
          <p:cNvSpPr>
            <a:spLocks noGrp="1"/>
          </p:cNvSpPr>
          <p:nvPr>
            <p:ph type="body" idx="17"/>
          </p:nvPr>
        </p:nvSpPr>
        <p:spPr>
          <a:xfrm>
            <a:off x="8564241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3" name="Titel 1"/>
          <p:cNvSpPr>
            <a:spLocks noGrp="1"/>
          </p:cNvSpPr>
          <p:nvPr>
            <p:ph type="title"/>
          </p:nvPr>
        </p:nvSpPr>
        <p:spPr>
          <a:xfrm>
            <a:off x="1205090" y="521252"/>
            <a:ext cx="10800000" cy="900000"/>
          </a:xfrm>
        </p:spPr>
        <p:txBody>
          <a:bodyPr tIns="0"/>
          <a:lstStyle>
            <a:lvl1pPr>
              <a:lnSpc>
                <a:spcPct val="100000"/>
              </a:lnSpc>
              <a:defRPr sz="2600"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20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D535EE-90AE-4348-98D3-AFE064A78180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12" name="Foliennummernplatzhalter 4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3DECBAF-54BF-43CB-A029-D1DF8A041DDD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0124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echs Bilder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platzhalter 2"/>
          <p:cNvSpPr>
            <a:spLocks noGrp="1"/>
          </p:cNvSpPr>
          <p:nvPr>
            <p:ph type="body" idx="27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1" name="Bildplatzhalter 2"/>
          <p:cNvSpPr>
            <a:spLocks noGrp="1"/>
          </p:cNvSpPr>
          <p:nvPr>
            <p:ph type="pic" idx="1"/>
          </p:nvPr>
        </p:nvSpPr>
        <p:spPr>
          <a:xfrm>
            <a:off x="1206000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2" name="Textplatzhalter 2"/>
          <p:cNvSpPr>
            <a:spLocks noGrp="1"/>
          </p:cNvSpPr>
          <p:nvPr>
            <p:ph type="body" idx="13"/>
          </p:nvPr>
        </p:nvSpPr>
        <p:spPr>
          <a:xfrm>
            <a:off x="1206000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idx="14"/>
          </p:nvPr>
        </p:nvSpPr>
        <p:spPr>
          <a:xfrm>
            <a:off x="4893213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4" name="Textplatzhalter 2"/>
          <p:cNvSpPr>
            <a:spLocks noGrp="1"/>
          </p:cNvSpPr>
          <p:nvPr>
            <p:ph type="body" idx="15"/>
          </p:nvPr>
        </p:nvSpPr>
        <p:spPr>
          <a:xfrm>
            <a:off x="4893213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idx="16"/>
          </p:nvPr>
        </p:nvSpPr>
        <p:spPr>
          <a:xfrm>
            <a:off x="8564241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6" name="Textplatzhalter 2"/>
          <p:cNvSpPr>
            <a:spLocks noGrp="1"/>
          </p:cNvSpPr>
          <p:nvPr>
            <p:ph type="body" idx="17"/>
          </p:nvPr>
        </p:nvSpPr>
        <p:spPr>
          <a:xfrm>
            <a:off x="8564241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7" name="Bildplatzhalter 2"/>
          <p:cNvSpPr>
            <a:spLocks noGrp="1"/>
          </p:cNvSpPr>
          <p:nvPr>
            <p:ph type="pic" idx="28"/>
          </p:nvPr>
        </p:nvSpPr>
        <p:spPr>
          <a:xfrm>
            <a:off x="1206000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8" name="Textplatzhalter 2"/>
          <p:cNvSpPr>
            <a:spLocks noGrp="1"/>
          </p:cNvSpPr>
          <p:nvPr>
            <p:ph type="body" idx="29"/>
          </p:nvPr>
        </p:nvSpPr>
        <p:spPr>
          <a:xfrm>
            <a:off x="1206000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9" name="Bildplatzhalter 2"/>
          <p:cNvSpPr>
            <a:spLocks noGrp="1"/>
          </p:cNvSpPr>
          <p:nvPr>
            <p:ph type="pic" idx="30"/>
          </p:nvPr>
        </p:nvSpPr>
        <p:spPr>
          <a:xfrm>
            <a:off x="4890512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0" name="Textplatzhalter 2"/>
          <p:cNvSpPr>
            <a:spLocks noGrp="1"/>
          </p:cNvSpPr>
          <p:nvPr>
            <p:ph type="body" idx="31"/>
          </p:nvPr>
        </p:nvSpPr>
        <p:spPr>
          <a:xfrm>
            <a:off x="4890512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31" name="Bildplatzhalter 2"/>
          <p:cNvSpPr>
            <a:spLocks noGrp="1"/>
          </p:cNvSpPr>
          <p:nvPr>
            <p:ph type="pic" idx="32"/>
          </p:nvPr>
        </p:nvSpPr>
        <p:spPr>
          <a:xfrm>
            <a:off x="8558124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2" name="Textplatzhalter 2"/>
          <p:cNvSpPr>
            <a:spLocks noGrp="1"/>
          </p:cNvSpPr>
          <p:nvPr>
            <p:ph type="body" idx="33"/>
          </p:nvPr>
        </p:nvSpPr>
        <p:spPr>
          <a:xfrm>
            <a:off x="8558124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5" name="Datumsplatzhalter 3"/>
          <p:cNvSpPr>
            <a:spLocks noGrp="1"/>
          </p:cNvSpPr>
          <p:nvPr>
            <p:ph type="dt" sz="half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E1D907-3A8C-4FA0-AF32-FB476100B44A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16" name="Foliennummernplatzhalter 4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68BD526D-A506-4272-90FB-C6A2218A9A7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536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0865" y="228779"/>
            <a:ext cx="11368459" cy="914641"/>
          </a:xfrm>
        </p:spPr>
        <p:txBody>
          <a:bodyPr lIns="0" tIns="0" rIns="0" bIns="0"/>
          <a:lstStyle>
            <a:lvl1pPr>
              <a:defRPr sz="2901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19499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10867" y="1469681"/>
            <a:ext cx="11368460" cy="3854809"/>
          </a:xfrm>
        </p:spPr>
        <p:txBody>
          <a:bodyPr/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Holder 2"/>
          <p:cNvSpPr>
            <a:spLocks noGrp="1"/>
          </p:cNvSpPr>
          <p:nvPr>
            <p:ph type="title"/>
          </p:nvPr>
        </p:nvSpPr>
        <p:spPr>
          <a:xfrm>
            <a:off x="410865" y="228779"/>
            <a:ext cx="11368459" cy="914641"/>
          </a:xfrm>
        </p:spPr>
        <p:txBody>
          <a:bodyPr lIns="0" tIns="0" rIns="0" bIns="0"/>
          <a:lstStyle>
            <a:lvl1pPr>
              <a:defRPr sz="2901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14223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2C26682-0C93-4009-904E-AED28518494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951383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914400" y="1981200"/>
            <a:ext cx="103632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AD1A458-D506-4560-914E-B5421E17A3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5930E3-AAC2-4ADF-925B-A037BED539BF}" type="datetime1">
              <a:rPr lang="de-DE" smtClean="0"/>
              <a:t>14.12.2025</a:t>
            </a:fld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9EFA00E-A96F-4147-9719-EA15ED786BD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>
              <a:defRPr/>
            </a:pPr>
            <a:fld id="{691FC8CA-7D7D-4BF5-97CE-E12CD0B5C87B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825800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914400"/>
            <a:ext cx="508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08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B0D2A5-F52F-4653-819F-1A37B28B853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pitchFamily="34" charset="0"/>
              </a:defRPr>
            </a:lvl1pPr>
          </a:lstStyle>
          <a:p>
            <a:pPr>
              <a:defRPr/>
            </a:pPr>
            <a:fld id="{77078B80-CC76-49E8-922A-90B2CBA19035}" type="datetime1">
              <a:rPr lang="de-DE" smtClean="0"/>
              <a:t>14.12.2025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910964-A49D-4BBE-9507-6315150321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BC8488-569A-444F-B796-697E2B83AA9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9885B7-B8B8-4BDF-9399-E15470497E67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076888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3312986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190625" y="2268141"/>
            <a:ext cx="9810750" cy="232171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3331597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600201"/>
            <a:ext cx="10363200" cy="1470025"/>
          </a:xfrm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55975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0F1620-6991-468A-986C-DEA71AF2A6A8}" type="datetime1">
              <a:rPr lang="de-DE" smtClean="0"/>
              <a:t>14.12.2025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697EE5-9B1D-48EF-B619-A2DEE0A0DD92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7298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Completely 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2397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w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elplatzhalter 1"/>
          <p:cNvSpPr>
            <a:spLocks noGrp="1"/>
          </p:cNvSpPr>
          <p:nvPr>
            <p:ph type="title"/>
          </p:nvPr>
        </p:nvSpPr>
        <p:spPr bwMode="auto">
          <a:xfrm>
            <a:off x="1204913" y="520700"/>
            <a:ext cx="10799762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Überschrift</a:t>
            </a:r>
          </a:p>
        </p:txBody>
      </p:sp>
      <p:sp>
        <p:nvSpPr>
          <p:cNvPr id="10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1206500" y="1547813"/>
            <a:ext cx="10799763" cy="4319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</p:txBody>
      </p:sp>
      <p:pic>
        <p:nvPicPr>
          <p:cNvPr id="1028" name="Bild 7" descr="Logo_17pt.wmf"/>
          <p:cNvPicPr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5620" y="6000750"/>
            <a:ext cx="1223467" cy="7114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Fußzeilenplatzhalter 3"/>
          <p:cNvSpPr txBox="1">
            <a:spLocks/>
          </p:cNvSpPr>
          <p:nvPr/>
        </p:nvSpPr>
        <p:spPr>
          <a:xfrm>
            <a:off x="2590800" y="6011863"/>
            <a:ext cx="5254625" cy="549275"/>
          </a:xfrm>
          <a:prstGeom prst="rect">
            <a:avLst/>
          </a:prstGeom>
        </p:spPr>
        <p:txBody>
          <a:bodyPr wrap="none"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/>
              <a:t>Prof. Dr. Daniel Gaida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>
                <a:solidFill>
                  <a:schemeClr val="tx1"/>
                </a:solidFill>
              </a:rPr>
              <a:t>Professor</a:t>
            </a:r>
            <a:r>
              <a:rPr lang="de-DE" sz="900" b="0" baseline="0" dirty="0">
                <a:solidFill>
                  <a:schemeClr val="tx1"/>
                </a:solidFill>
              </a:rPr>
              <a:t> für Cyber-Physische Systeme</a:t>
            </a:r>
            <a:endParaRPr lang="de-DE" sz="900" b="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>
                <a:solidFill>
                  <a:schemeClr val="tx1"/>
                </a:solidFill>
              </a:rPr>
              <a:t>Fakultät</a:t>
            </a:r>
            <a:r>
              <a:rPr lang="de-DE" sz="900" b="0" baseline="0" dirty="0">
                <a:solidFill>
                  <a:schemeClr val="tx1"/>
                </a:solidFill>
              </a:rPr>
              <a:t> für Informatik und Ingenieurwissenschaften - </a:t>
            </a:r>
            <a:r>
              <a:rPr lang="de-DE" sz="900" b="0" dirty="0">
                <a:solidFill>
                  <a:schemeClr val="tx1"/>
                </a:solidFill>
              </a:rPr>
              <a:t>Institut</a:t>
            </a:r>
            <a:r>
              <a:rPr lang="de-DE" sz="900" b="0" baseline="0" dirty="0">
                <a:solidFill>
                  <a:schemeClr val="tx1"/>
                </a:solidFill>
              </a:rPr>
              <a:t> für Informatik</a:t>
            </a:r>
            <a:endParaRPr lang="de-DE" sz="900" dirty="0"/>
          </a:p>
        </p:txBody>
      </p:sp>
      <p:grpSp>
        <p:nvGrpSpPr>
          <p:cNvPr id="1030" name="Gruppierung 11"/>
          <p:cNvGrpSpPr>
            <a:grpSpLocks/>
          </p:cNvGrpSpPr>
          <p:nvPr/>
        </p:nvGrpSpPr>
        <p:grpSpPr bwMode="auto">
          <a:xfrm>
            <a:off x="1204913" y="0"/>
            <a:ext cx="10991850" cy="71438"/>
            <a:chOff x="903819" y="0"/>
            <a:chExt cx="8244000" cy="108000"/>
          </a:xfrm>
        </p:grpSpPr>
        <p:sp>
          <p:nvSpPr>
            <p:cNvPr id="13" name="Rechteck 12"/>
            <p:cNvSpPr/>
            <p:nvPr/>
          </p:nvSpPr>
          <p:spPr bwMode="auto">
            <a:xfrm>
              <a:off x="903819" y="0"/>
              <a:ext cx="2736094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4" name="Rechteck 13"/>
            <p:cNvSpPr/>
            <p:nvPr/>
          </p:nvSpPr>
          <p:spPr bwMode="auto">
            <a:xfrm>
              <a:off x="3639913" y="0"/>
              <a:ext cx="2736094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5" name="Rechteck 14"/>
            <p:cNvSpPr/>
            <p:nvPr/>
          </p:nvSpPr>
          <p:spPr bwMode="auto">
            <a:xfrm>
              <a:off x="6376006" y="0"/>
              <a:ext cx="2771813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cxnSp>
        <p:nvCxnSpPr>
          <p:cNvPr id="16" name="Gerade Verbindung 15"/>
          <p:cNvCxnSpPr/>
          <p:nvPr/>
        </p:nvCxnSpPr>
        <p:spPr>
          <a:xfrm>
            <a:off x="1206500" y="5951538"/>
            <a:ext cx="1098708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atumsplatzhalter 3"/>
          <p:cNvSpPr>
            <a:spLocks noGrp="1"/>
          </p:cNvSpPr>
          <p:nvPr>
            <p:ph type="dt" sz="half" idx="2"/>
          </p:nvPr>
        </p:nvSpPr>
        <p:spPr>
          <a:xfrm>
            <a:off x="1206500" y="6011863"/>
            <a:ext cx="1295400" cy="179387"/>
          </a:xfrm>
          <a:prstGeom prst="rect">
            <a:avLst/>
          </a:prstGeom>
        </p:spPr>
        <p:txBody>
          <a:bodyPr vert="horz" wrap="none" lIns="0" tIns="0" rIns="0" bIns="0" rtlCol="0" anchor="t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9C590BB0-1566-4728-8689-C18D1116058A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18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1206500" y="6361113"/>
            <a:ext cx="1295400" cy="21431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de-DE"/>
              <a:t>Seite </a:t>
            </a:r>
            <a:fld id="{297CD77D-B4CD-4177-B2B6-FFDA7A317B1C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25" r:id="rId8"/>
    <p:sldLayoutId id="2147483714" r:id="rId9"/>
    <p:sldLayoutId id="2147483715" r:id="rId10"/>
    <p:sldLayoutId id="2147483726" r:id="rId11"/>
    <p:sldLayoutId id="2147483727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6" r:id="rId19"/>
  </p:sldLayoutIdLst>
  <p:hf hdr="0" ftr="0"/>
  <p:txStyles>
    <p:titleStyle>
      <a:lvl1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2600" b="1" kern="1200">
          <a:solidFill>
            <a:schemeClr val="tx1"/>
          </a:solidFill>
          <a:latin typeface="Arial"/>
          <a:ea typeface="+mj-ea"/>
          <a:cs typeface="+mj-cs"/>
        </a:defRPr>
      </a:lvl1pPr>
      <a:lvl2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2pPr>
      <a:lvl3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3pPr>
      <a:lvl4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4pPr>
      <a:lvl5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5pPr>
      <a:lvl6pPr marL="4572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6pPr>
      <a:lvl7pPr marL="9144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7pPr>
      <a:lvl8pPr marL="13716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8pPr>
      <a:lvl9pPr marL="18288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9pPr>
    </p:titleStyle>
    <p:bodyStyle>
      <a:lvl1pPr algn="l" defTabSz="457200" rtl="0" eaLnBrk="1" fontAlgn="base" hangingPunct="1">
        <a:lnSpc>
          <a:spcPct val="112000"/>
        </a:lnSpc>
        <a:spcBef>
          <a:spcPct val="0"/>
        </a:spcBef>
        <a:spcAft>
          <a:spcPts val="600"/>
        </a:spcAft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357188" indent="-187200" algn="l" defTabSz="457200" rtl="0" eaLnBrk="1" fontAlgn="base" hangingPunct="1">
        <a:lnSpc>
          <a:spcPct val="112000"/>
        </a:lnSpc>
        <a:spcBef>
          <a:spcPts val="600"/>
        </a:spcBef>
        <a:spcAft>
          <a:spcPct val="0"/>
        </a:spcAft>
        <a:buClr>
          <a:schemeClr val="accent1"/>
        </a:buClr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41338" indent="-185738" algn="l" defTabSz="457200" rtl="0" eaLnBrk="1" fontAlgn="base" hangingPunct="1">
        <a:lnSpc>
          <a:spcPct val="112000"/>
        </a:lnSpc>
        <a:spcBef>
          <a:spcPts val="4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714375" indent="-187200" algn="l" defTabSz="457200" rtl="0" eaLnBrk="1" fontAlgn="base" hangingPunct="1">
        <a:lnSpc>
          <a:spcPct val="112000"/>
        </a:lnSpc>
        <a:spcBef>
          <a:spcPts val="500"/>
        </a:spcBef>
        <a:spcAft>
          <a:spcPct val="0"/>
        </a:spcAft>
        <a:buClr>
          <a:srgbClr val="9D167A"/>
        </a:buClr>
        <a:buFont typeface="Wingdings" pitchFamily="2" charset="2"/>
        <a:buChar char="§"/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074738" indent="-177800" algn="l" defTabSz="457200" rtl="0" eaLnBrk="1" fontAlgn="base" hangingPunct="1">
        <a:lnSpc>
          <a:spcPts val="1600"/>
        </a:lnSpc>
        <a:spcBef>
          <a:spcPts val="500"/>
        </a:spcBef>
        <a:spcAft>
          <a:spcPct val="0"/>
        </a:spcAft>
        <a:buFont typeface="Symbol" pitchFamily="18" charset="2"/>
        <a:buChar char="-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bigocheatsheet.com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Lernraum I: Abstrakte Datentypen, Datenstrukturen und Asymptotische Notation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1"/>
            <a:r>
              <a:rPr lang="de-DE" noProof="0" dirty="0"/>
              <a:t>Abstrakte Datentypen</a:t>
            </a:r>
          </a:p>
          <a:p>
            <a:pPr lvl="2"/>
            <a:r>
              <a:rPr lang="de-DE" noProof="0" dirty="0"/>
              <a:t>Liste, Stapel, Warteschlange, Tabelle (Dictionary)</a:t>
            </a:r>
          </a:p>
          <a:p>
            <a:pPr lvl="1"/>
            <a:r>
              <a:rPr lang="de-DE" noProof="0" dirty="0"/>
              <a:t>Datenstrukturen</a:t>
            </a:r>
          </a:p>
          <a:p>
            <a:pPr lvl="2"/>
            <a:r>
              <a:rPr lang="de-DE" noProof="0" dirty="0"/>
              <a:t>Array, Verkettete Liste</a:t>
            </a:r>
          </a:p>
          <a:p>
            <a:pPr lvl="1"/>
            <a:r>
              <a:rPr lang="de-DE" noProof="0" dirty="0"/>
              <a:t>Implementierungen der Abstrakten Datentypen mit den Datenstrukturen …</a:t>
            </a:r>
          </a:p>
          <a:p>
            <a:pPr lvl="2"/>
            <a:r>
              <a:rPr lang="de-DE" noProof="0" dirty="0"/>
              <a:t>Array</a:t>
            </a:r>
          </a:p>
          <a:p>
            <a:pPr lvl="2"/>
            <a:r>
              <a:rPr lang="de-DE" noProof="0" dirty="0"/>
              <a:t>Verkettete Listen</a:t>
            </a:r>
          </a:p>
          <a:p>
            <a:pPr lvl="1"/>
            <a:r>
              <a:rPr lang="de-DE" noProof="0" dirty="0"/>
              <a:t>Analyse von Laufzeit und Speicherbedarf der Implementierungen</a:t>
            </a:r>
          </a:p>
          <a:p>
            <a:pPr lvl="2"/>
            <a:r>
              <a:rPr lang="de-DE" noProof="0" dirty="0"/>
              <a:t>O-Notation</a:t>
            </a:r>
          </a:p>
          <a:p>
            <a:pPr lvl="1"/>
            <a:r>
              <a:rPr lang="de-DE" noProof="0" dirty="0">
                <a:solidFill>
                  <a:srgbClr val="002060"/>
                </a:solidFill>
              </a:rPr>
              <a:t>Laufzeitanalyse von Algorithmen durch Asymptotische Notation</a:t>
            </a:r>
          </a:p>
          <a:p>
            <a:pPr lvl="2"/>
            <a:r>
              <a:rPr lang="de-DE" noProof="0" dirty="0">
                <a:solidFill>
                  <a:srgbClr val="002060"/>
                </a:solidFill>
              </a:rPr>
              <a:t>O-Notation, Ω-Notation, Θ-Notation</a:t>
            </a:r>
          </a:p>
          <a:p>
            <a:pPr lvl="2"/>
            <a:r>
              <a:rPr lang="de-DE" noProof="0" dirty="0">
                <a:solidFill>
                  <a:srgbClr val="002060"/>
                </a:solidFill>
              </a:rPr>
              <a:t>Fallanalyse: </a:t>
            </a:r>
            <a:r>
              <a:rPr lang="de-DE" noProof="0" dirty="0" err="1">
                <a:solidFill>
                  <a:srgbClr val="002060"/>
                </a:solidFill>
              </a:rPr>
              <a:t>Worst</a:t>
            </a:r>
            <a:r>
              <a:rPr lang="de-DE" noProof="0" dirty="0">
                <a:solidFill>
                  <a:srgbClr val="002060"/>
                </a:solidFill>
              </a:rPr>
              <a:t> Case, Best Case Analyse</a:t>
            </a:r>
          </a:p>
          <a:p>
            <a:pPr lvl="1"/>
            <a:r>
              <a:rPr lang="de-DE" noProof="0" dirty="0"/>
              <a:t>Laufzeitanalyse von Rekursiven Algorithmen durch Asymptotische Notation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14.12.2025</a:t>
            </a:fld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6114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60009B3-4363-49E4-9E84-D17A2A067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Klassifikation der Wachstumsordnung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BF10E30-8BF6-4E47-9C16-971F642C667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DE" b="1" noProof="0" dirty="0">
                <a:sym typeface="Quattrocento Sans"/>
              </a:rPr>
              <a:t>Wachstumsordnung</a:t>
            </a:r>
            <a:r>
              <a:rPr lang="de-DE" noProof="0" dirty="0">
                <a:sym typeface="Quattrocento Sans"/>
              </a:rPr>
              <a:t>: Eine Kategorie der </a:t>
            </a:r>
            <a:r>
              <a:rPr lang="de-DE" noProof="0" dirty="0" err="1">
                <a:sym typeface="Quattrocento Sans"/>
              </a:rPr>
              <a:t>Algorithmeneffizienz</a:t>
            </a:r>
            <a:r>
              <a:rPr lang="de-DE" noProof="0" dirty="0">
                <a:sym typeface="Quattrocento Sans"/>
              </a:rPr>
              <a:t>, die auf dem Verhältnis des Algorithmus zur Eingabegröße n basiert.</a:t>
            </a:r>
            <a:endParaRPr lang="de-DE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4269AE-763D-4E82-8E6D-5C41F31B4DF0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Algorithmik – Laufzeitanalyse von Algorithmen durch Asymptotische Notation</a:t>
            </a:r>
          </a:p>
        </p:txBody>
      </p:sp>
      <p:sp>
        <p:nvSpPr>
          <p:cNvPr id="13" name="Datumsplatzhalter 4">
            <a:extLst>
              <a:ext uri="{FF2B5EF4-FFF2-40B4-BE49-F238E27FC236}">
                <a16:creationId xmlns:a16="http://schemas.microsoft.com/office/drawing/2014/main" id="{A10456D1-8DBA-4572-B154-048ED812169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2D06E3F-368B-43DC-96F3-4B8E65027050}" type="datetime1">
              <a:rPr lang="de-DE" smtClean="0"/>
              <a:pPr/>
              <a:t>14.12.2025</a:t>
            </a:fld>
            <a:endParaRPr lang="de-DE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0B566CFB-AD9D-4285-B0FA-4022FC1DBDB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2</a:t>
            </a:fld>
            <a:endParaRPr lang="de-DE" dirty="0"/>
          </a:p>
        </p:txBody>
      </p:sp>
      <p:graphicFrame>
        <p:nvGraphicFramePr>
          <p:cNvPr id="762" name="Google Shape;762;g118b4eb0048_0_551"/>
          <p:cNvGraphicFramePr/>
          <p:nvPr/>
        </p:nvGraphicFramePr>
        <p:xfrm>
          <a:off x="323539" y="2398763"/>
          <a:ext cx="6305875" cy="351939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9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Description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O-Notation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Runtime if you double 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Example Algorithm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constant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O(1)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unchanged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Accessing an index of an array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logarithmic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O(log</a:t>
                      </a:r>
                      <a:r>
                        <a:rPr lang="en-US" sz="1400" b="0" i="0" u="none" strike="noStrike" cap="none" baseline="-25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increases slightly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Binary search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linear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doubles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Looping over an array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log-linear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 log</a:t>
                      </a:r>
                      <a:r>
                        <a:rPr lang="en-US" sz="1400" b="0" i="0" u="none" strike="noStrike" cap="none" baseline="-25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slightly more than doubles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Merge sort algorithm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quadratic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</a:t>
                      </a:r>
                      <a:r>
                        <a:rPr lang="en-US" sz="1400" b="0" i="0" u="none" strike="noStrike" cap="none" baseline="30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quadruples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Nested loops!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exponential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O(2</a:t>
                      </a:r>
                      <a:r>
                        <a:rPr lang="en-US" sz="1400" b="0" i="0" u="none" strike="noStrike" cap="none" baseline="30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n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multiplies drastically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Fibonacci with recursion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763" name="Google Shape;763;g118b4eb0048_0_551" descr="A screenshot of a cell phone &#10; &#10;Description automatically generated"/>
          <p:cNvPicPr preferRelativeResize="0"/>
          <p:nvPr/>
        </p:nvPicPr>
        <p:blipFill rotWithShape="1">
          <a:blip r:embed="rId3">
            <a:alphaModFix/>
          </a:blip>
          <a:srcRect l="2998" r="1216"/>
          <a:stretch/>
        </p:blipFill>
        <p:spPr>
          <a:xfrm>
            <a:off x="6757172" y="2490907"/>
            <a:ext cx="5257027" cy="339253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257;p13">
            <a:extLst>
              <a:ext uri="{FF2B5EF4-FFF2-40B4-BE49-F238E27FC236}">
                <a16:creationId xmlns:a16="http://schemas.microsoft.com/office/drawing/2014/main" id="{CE1432C9-CB2C-40A1-8170-B8B800E599CD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>
                <a:hlinkClick r:id="rId4"/>
              </a:rPr>
              <a:t>https://www.bigocheatsheet.com/</a:t>
            </a:r>
            <a:endParaRPr lang="fr-FR" sz="800" dirty="0"/>
          </a:p>
        </p:txBody>
      </p:sp>
      <p:sp>
        <p:nvSpPr>
          <p:cNvPr id="15" name="Google Shape;257;p13">
            <a:extLst>
              <a:ext uri="{FF2B5EF4-FFF2-40B4-BE49-F238E27FC236}">
                <a16:creationId xmlns:a16="http://schemas.microsoft.com/office/drawing/2014/main" id="{23459359-D54E-428A-A915-A5906FE83C94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6CC7B3D-4080-4B83-AC42-CCFDD12CF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Code in O-Notation umwandeln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270EAB6-3E9B-4BB1-9A90-F6D344A3570F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r>
              <a:rPr lang="de-DE" noProof="0" dirty="0"/>
              <a:t>Bisher: “O(1) bedeutet keine Schleifen, O(n) ist eine Schleife, O(n</a:t>
            </a:r>
            <a:r>
              <a:rPr lang="de-DE" baseline="30000" noProof="0" dirty="0"/>
              <a:t>2</a:t>
            </a:r>
            <a:r>
              <a:rPr lang="de-DE" noProof="0" dirty="0"/>
              <a:t>) ist verschachtelte Schleife”</a:t>
            </a:r>
          </a:p>
          <a:p>
            <a:pPr lvl="1"/>
            <a:r>
              <a:rPr lang="de-DE" noProof="0" dirty="0"/>
              <a:t>Das ist weiterhin nützlich!</a:t>
            </a:r>
          </a:p>
          <a:p>
            <a:pPr lvl="1"/>
            <a:r>
              <a:rPr lang="de-DE" noProof="0" dirty="0"/>
              <a:t>In diesem Modul gehen wir mehr ins Detail: Damit wir auch komplizierteren Code in die O-Notation umwandeln können</a:t>
            </a:r>
          </a:p>
          <a:p>
            <a:endParaRPr lang="de-DE" noProof="0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8A238EC-29FE-40B3-A04F-8D8B9DF6AE6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16" name="Datumsplatzhalter 4">
            <a:extLst>
              <a:ext uri="{FF2B5EF4-FFF2-40B4-BE49-F238E27FC236}">
                <a16:creationId xmlns:a16="http://schemas.microsoft.com/office/drawing/2014/main" id="{1239DAA0-ADA5-486A-9B09-2647D7872B2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14.12.2025</a:t>
            </a:fld>
            <a:endParaRPr lang="de-DE" dirty="0"/>
          </a:p>
        </p:txBody>
      </p:sp>
      <p:sp>
        <p:nvSpPr>
          <p:cNvPr id="17" name="Foliennummernplatzhalter 5">
            <a:extLst>
              <a:ext uri="{FF2B5EF4-FFF2-40B4-BE49-F238E27FC236}">
                <a16:creationId xmlns:a16="http://schemas.microsoft.com/office/drawing/2014/main" id="{63C5F54C-8400-49FE-A6AE-03F11E0FEFC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640" name="Google Shape;640;p17"/>
          <p:cNvSpPr/>
          <p:nvPr/>
        </p:nvSpPr>
        <p:spPr>
          <a:xfrm>
            <a:off x="3961081" y="2300906"/>
            <a:ext cx="5474525" cy="52174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6A4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42" name="Google Shape;642;p17"/>
          <p:cNvSpPr/>
          <p:nvPr/>
        </p:nvSpPr>
        <p:spPr>
          <a:xfrm>
            <a:off x="1711196" y="1905819"/>
            <a:ext cx="1878856" cy="1105786"/>
          </a:xfrm>
          <a:prstGeom prst="rect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/>
          </a:p>
        </p:txBody>
      </p:sp>
      <p:sp>
        <p:nvSpPr>
          <p:cNvPr id="643" name="Google Shape;643;p17"/>
          <p:cNvSpPr/>
          <p:nvPr/>
        </p:nvSpPr>
        <p:spPr>
          <a:xfrm>
            <a:off x="9636422" y="1901156"/>
            <a:ext cx="1878856" cy="1105786"/>
          </a:xfrm>
          <a:prstGeom prst="rect">
            <a:avLst/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O-Notation</a:t>
            </a:r>
            <a:endParaRPr dirty="0"/>
          </a:p>
        </p:txBody>
      </p:sp>
      <p:sp>
        <p:nvSpPr>
          <p:cNvPr id="644" name="Google Shape;644;p17"/>
          <p:cNvSpPr/>
          <p:nvPr/>
        </p:nvSpPr>
        <p:spPr>
          <a:xfrm>
            <a:off x="4938446" y="1323171"/>
            <a:ext cx="3349582" cy="2431473"/>
          </a:xfrm>
          <a:prstGeom prst="cloud">
            <a:avLst/>
          </a:prstGeom>
          <a:solidFill>
            <a:srgbClr val="B6A4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645" name="Google Shape;645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85099" y="1887398"/>
            <a:ext cx="2376086" cy="1335360"/>
          </a:xfrm>
          <a:prstGeom prst="rect">
            <a:avLst/>
          </a:prstGeom>
          <a:noFill/>
          <a:ln>
            <a:noFill/>
          </a:ln>
        </p:spPr>
      </p:pic>
      <p:sp>
        <p:nvSpPr>
          <p:cNvPr id="646" name="Google Shape;646;p17"/>
          <p:cNvSpPr txBox="1"/>
          <p:nvPr/>
        </p:nvSpPr>
        <p:spPr>
          <a:xfrm>
            <a:off x="1155663" y="3230585"/>
            <a:ext cx="3402482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for (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0; 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&lt; n; 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++) {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a[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] = 1;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b[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] = 2;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}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47" name="Google Shape;647;p17"/>
          <p:cNvSpPr txBox="1"/>
          <p:nvPr/>
        </p:nvSpPr>
        <p:spPr>
          <a:xfrm>
            <a:off x="10252684" y="3124923"/>
            <a:ext cx="64633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O(n)</a:t>
            </a:r>
            <a:endParaRPr dirty="0"/>
          </a:p>
        </p:txBody>
      </p:sp>
      <p:sp>
        <p:nvSpPr>
          <p:cNvPr id="648" name="Google Shape;648;p17"/>
          <p:cNvSpPr txBox="1"/>
          <p:nvPr/>
        </p:nvSpPr>
        <p:spPr>
          <a:xfrm>
            <a:off x="6773681" y="2165262"/>
            <a:ext cx="1514347" cy="2646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600" b="1">
                <a:solidFill>
                  <a:srgbClr val="4C328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?</a:t>
            </a:r>
            <a:endParaRPr/>
          </a:p>
        </p:txBody>
      </p:sp>
      <p:sp>
        <p:nvSpPr>
          <p:cNvPr id="14" name="Google Shape;257;p13">
            <a:extLst>
              <a:ext uri="{FF2B5EF4-FFF2-40B4-BE49-F238E27FC236}">
                <a16:creationId xmlns:a16="http://schemas.microsoft.com/office/drawing/2014/main" id="{9A5AA8DF-7AFA-4BB7-84FB-2626353650C4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15" name="Google Shape;257;p13">
            <a:extLst>
              <a:ext uri="{FF2B5EF4-FFF2-40B4-BE49-F238E27FC236}">
                <a16:creationId xmlns:a16="http://schemas.microsoft.com/office/drawing/2014/main" id="{3F9CD9BC-3DE3-4ED5-909F-D074E6AB7946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B9F5315-1C24-41E1-AD7E-9A5700B83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Analyse von Algorithmen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B534FEF-1B69-439E-871C-2D7EB9AF846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sz="1200" noProof="0" dirty="0"/>
          </a:p>
          <a:p>
            <a:r>
              <a:rPr lang="de-DE" b="1" noProof="0" dirty="0">
                <a:solidFill>
                  <a:srgbClr val="7030A0"/>
                </a:solidFill>
              </a:rPr>
              <a:t>Analyse von Algorithmen</a:t>
            </a:r>
            <a:r>
              <a:rPr lang="de-DE" noProof="0" dirty="0"/>
              <a:t>: Der Gesamtprozess der Zuordnung von Code zu einer Wachstumsordnung, bestehend aus:</a:t>
            </a:r>
          </a:p>
          <a:p>
            <a:r>
              <a:rPr lang="de-DE" b="1" noProof="0" dirty="0">
                <a:solidFill>
                  <a:srgbClr val="7030A0"/>
                </a:solidFill>
              </a:rPr>
              <a:t>Code Modellierung</a:t>
            </a:r>
            <a:r>
              <a:rPr lang="de-DE" noProof="0" dirty="0"/>
              <a:t>: Code </a:t>
            </a:r>
            <a:r>
              <a:rPr lang="de-DE" noProof="0" dirty="0">
                <a:sym typeface="Wingdings" panose="05000000000000000000" pitchFamily="2" charset="2"/>
              </a:rPr>
              <a:t> Laufzeitf</a:t>
            </a:r>
            <a:r>
              <a:rPr lang="de-DE" noProof="0" dirty="0"/>
              <a:t>unktion, die die Laufzeit des Codes beschreibt</a:t>
            </a:r>
          </a:p>
          <a:p>
            <a:r>
              <a:rPr lang="de-DE" b="1" noProof="0" dirty="0">
                <a:solidFill>
                  <a:srgbClr val="7030A0"/>
                </a:solidFill>
              </a:rPr>
              <a:t>Asymptotische Notation</a:t>
            </a:r>
            <a:r>
              <a:rPr lang="de-DE" noProof="0" dirty="0"/>
              <a:t>: Funktion </a:t>
            </a:r>
            <a:r>
              <a:rPr lang="de-DE" noProof="0" dirty="0">
                <a:sym typeface="Wingdings" panose="05000000000000000000" pitchFamily="2" charset="2"/>
              </a:rPr>
              <a:t> </a:t>
            </a:r>
            <a:r>
              <a:rPr lang="de-DE" noProof="0" dirty="0"/>
              <a:t>Wachstumsordnung, die das asymptotische Verhalten beschreibt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D65A34C-DD32-4D95-A748-1CD19B19C21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43" name="Datumsplatzhalter 4">
            <a:extLst>
              <a:ext uri="{FF2B5EF4-FFF2-40B4-BE49-F238E27FC236}">
                <a16:creationId xmlns:a16="http://schemas.microsoft.com/office/drawing/2014/main" id="{C49CACB1-F42D-4796-864E-FD266864783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14.12.2025</a:t>
            </a:fld>
            <a:endParaRPr lang="de-DE" dirty="0"/>
          </a:p>
        </p:txBody>
      </p:sp>
      <p:sp>
        <p:nvSpPr>
          <p:cNvPr id="44" name="Foliennummernplatzhalter 5">
            <a:extLst>
              <a:ext uri="{FF2B5EF4-FFF2-40B4-BE49-F238E27FC236}">
                <a16:creationId xmlns:a16="http://schemas.microsoft.com/office/drawing/2014/main" id="{587A8A6C-1380-4BD3-AD0E-8ED916D23FC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656" name="Google Shape;656;p18"/>
          <p:cNvSpPr/>
          <p:nvPr/>
        </p:nvSpPr>
        <p:spPr>
          <a:xfrm>
            <a:off x="9750282" y="1916034"/>
            <a:ext cx="1700153" cy="110578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Wachstums-ordnung</a:t>
            </a:r>
            <a:endParaRPr sz="2400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7" name="Google Shape;657;p18"/>
          <p:cNvSpPr/>
          <p:nvPr/>
        </p:nvSpPr>
        <p:spPr>
          <a:xfrm>
            <a:off x="9472751" y="2276767"/>
            <a:ext cx="532515" cy="385780"/>
          </a:xfrm>
          <a:prstGeom prst="flowChartCollat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8" name="Google Shape;658;p18"/>
          <p:cNvSpPr/>
          <p:nvPr/>
        </p:nvSpPr>
        <p:spPr>
          <a:xfrm rot="5400000">
            <a:off x="9415387" y="2327652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9" name="Google Shape;659;p18"/>
          <p:cNvSpPr/>
          <p:nvPr/>
        </p:nvSpPr>
        <p:spPr>
          <a:xfrm>
            <a:off x="1998245" y="191603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0" name="Google Shape;660;p18"/>
          <p:cNvSpPr/>
          <p:nvPr/>
        </p:nvSpPr>
        <p:spPr>
          <a:xfrm>
            <a:off x="1998245" y="265606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1" name="Google Shape;661;p18"/>
          <p:cNvSpPr/>
          <p:nvPr/>
        </p:nvSpPr>
        <p:spPr>
          <a:xfrm>
            <a:off x="2364005" y="1916034"/>
            <a:ext cx="245566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2" name="Google Shape;662;p18"/>
          <p:cNvSpPr/>
          <p:nvPr/>
        </p:nvSpPr>
        <p:spPr>
          <a:xfrm>
            <a:off x="6438073" y="191603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3" name="Google Shape;663;p18"/>
          <p:cNvSpPr/>
          <p:nvPr/>
        </p:nvSpPr>
        <p:spPr>
          <a:xfrm>
            <a:off x="6438073" y="265606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4" name="Google Shape;664;p18"/>
          <p:cNvSpPr/>
          <p:nvPr/>
        </p:nvSpPr>
        <p:spPr>
          <a:xfrm>
            <a:off x="6803833" y="1916034"/>
            <a:ext cx="2668772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5" name="Google Shape;665;p18"/>
          <p:cNvSpPr/>
          <p:nvPr/>
        </p:nvSpPr>
        <p:spPr>
          <a:xfrm flipH="1">
            <a:off x="6090047" y="2287462"/>
            <a:ext cx="1061359" cy="357006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6" name="Google Shape;666;p18"/>
          <p:cNvSpPr/>
          <p:nvPr/>
        </p:nvSpPr>
        <p:spPr>
          <a:xfrm flipH="1">
            <a:off x="4163056" y="2281794"/>
            <a:ext cx="965902" cy="381164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7" name="Google Shape;667;p18"/>
          <p:cNvSpPr/>
          <p:nvPr/>
        </p:nvSpPr>
        <p:spPr>
          <a:xfrm flipH="1">
            <a:off x="4944585" y="2279349"/>
            <a:ext cx="1119941" cy="376711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8" name="Google Shape;668;p18"/>
          <p:cNvSpPr/>
          <p:nvPr/>
        </p:nvSpPr>
        <p:spPr>
          <a:xfrm>
            <a:off x="4814701" y="1914812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9" name="Google Shape;669;p18"/>
          <p:cNvSpPr/>
          <p:nvPr/>
        </p:nvSpPr>
        <p:spPr>
          <a:xfrm>
            <a:off x="4814701" y="2656060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0" name="Google Shape;670;p18"/>
          <p:cNvSpPr/>
          <p:nvPr/>
        </p:nvSpPr>
        <p:spPr>
          <a:xfrm>
            <a:off x="881145" y="1916034"/>
            <a:ext cx="1121652" cy="11057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 dirty="0"/>
          </a:p>
        </p:txBody>
      </p:sp>
      <p:sp>
        <p:nvSpPr>
          <p:cNvPr id="671" name="Google Shape;671;p18"/>
          <p:cNvSpPr/>
          <p:nvPr/>
        </p:nvSpPr>
        <p:spPr>
          <a:xfrm>
            <a:off x="1949073" y="2265740"/>
            <a:ext cx="418989" cy="3968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2" name="Google Shape;672;p18"/>
          <p:cNvSpPr/>
          <p:nvPr/>
        </p:nvSpPr>
        <p:spPr>
          <a:xfrm>
            <a:off x="9472605" y="1918294"/>
            <a:ext cx="365760" cy="3657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3" name="Google Shape;673;p18"/>
          <p:cNvSpPr/>
          <p:nvPr/>
        </p:nvSpPr>
        <p:spPr>
          <a:xfrm>
            <a:off x="9472605" y="2657112"/>
            <a:ext cx="365760" cy="3657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4" name="Google Shape;674;p18"/>
          <p:cNvSpPr/>
          <p:nvPr/>
        </p:nvSpPr>
        <p:spPr>
          <a:xfrm>
            <a:off x="514885" y="1916034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5" name="Google Shape;675;p18"/>
          <p:cNvSpPr/>
          <p:nvPr/>
        </p:nvSpPr>
        <p:spPr>
          <a:xfrm>
            <a:off x="514884" y="2656060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6" name="Google Shape;676;p18"/>
          <p:cNvSpPr/>
          <p:nvPr/>
        </p:nvSpPr>
        <p:spPr>
          <a:xfrm rot="5400000">
            <a:off x="11421174" y="2295002"/>
            <a:ext cx="424282" cy="36576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7" name="Google Shape;677;p18"/>
          <p:cNvSpPr/>
          <p:nvPr/>
        </p:nvSpPr>
        <p:spPr>
          <a:xfrm>
            <a:off x="2587093" y="2058122"/>
            <a:ext cx="2044962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8" name="Google Shape;678;p18"/>
          <p:cNvSpPr txBox="1"/>
          <p:nvPr/>
        </p:nvSpPr>
        <p:spPr>
          <a:xfrm>
            <a:off x="2577030" y="2274744"/>
            <a:ext cx="199037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 Modellierung</a:t>
            </a:r>
            <a:endParaRPr lang="de-DE" dirty="0"/>
          </a:p>
        </p:txBody>
      </p:sp>
      <p:sp>
        <p:nvSpPr>
          <p:cNvPr id="679" name="Google Shape;679;p18"/>
          <p:cNvSpPr/>
          <p:nvPr/>
        </p:nvSpPr>
        <p:spPr>
          <a:xfrm flipH="1">
            <a:off x="5677559" y="2276767"/>
            <a:ext cx="1119941" cy="376711"/>
          </a:xfrm>
          <a:prstGeom prst="flowChartOnlineStorag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0" name="Google Shape;680;p18"/>
          <p:cNvSpPr/>
          <p:nvPr/>
        </p:nvSpPr>
        <p:spPr>
          <a:xfrm>
            <a:off x="5176839" y="1916034"/>
            <a:ext cx="1662037" cy="1105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LAUFZEIT</a:t>
            </a:r>
            <a:b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FUNKTION</a:t>
            </a:r>
            <a:endParaRPr dirty="0"/>
          </a:p>
        </p:txBody>
      </p:sp>
      <p:sp>
        <p:nvSpPr>
          <p:cNvPr id="681" name="Google Shape;681;p18"/>
          <p:cNvSpPr/>
          <p:nvPr/>
        </p:nvSpPr>
        <p:spPr>
          <a:xfrm flipH="1">
            <a:off x="6961995" y="2282492"/>
            <a:ext cx="1119941" cy="376711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2" name="Google Shape;682;p18"/>
          <p:cNvSpPr/>
          <p:nvPr/>
        </p:nvSpPr>
        <p:spPr>
          <a:xfrm>
            <a:off x="7239672" y="2074362"/>
            <a:ext cx="2279208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3" name="Google Shape;683;p18"/>
          <p:cNvSpPr txBox="1"/>
          <p:nvPr/>
        </p:nvSpPr>
        <p:spPr>
          <a:xfrm>
            <a:off x="7138837" y="2279362"/>
            <a:ext cx="237371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Asymptotische</a:t>
            </a:r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Analyse</a:t>
            </a:r>
            <a:endParaRPr dirty="0"/>
          </a:p>
        </p:txBody>
      </p:sp>
      <p:sp>
        <p:nvSpPr>
          <p:cNvPr id="685" name="Google Shape;685;p18"/>
          <p:cNvSpPr/>
          <p:nvPr/>
        </p:nvSpPr>
        <p:spPr>
          <a:xfrm>
            <a:off x="3041941" y="1349370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686" name="Google Shape;686;p18"/>
          <p:cNvSpPr/>
          <p:nvPr/>
        </p:nvSpPr>
        <p:spPr>
          <a:xfrm>
            <a:off x="7814190" y="1343402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/>
          </a:p>
        </p:txBody>
      </p:sp>
      <p:sp>
        <p:nvSpPr>
          <p:cNvPr id="687" name="Google Shape;687;p18"/>
          <p:cNvSpPr/>
          <p:nvPr/>
        </p:nvSpPr>
        <p:spPr>
          <a:xfrm rot="-5400000">
            <a:off x="5927058" y="-1061051"/>
            <a:ext cx="124201" cy="10435884"/>
          </a:xfrm>
          <a:prstGeom prst="leftBracket">
            <a:avLst>
              <a:gd name="adj" fmla="val 99903"/>
            </a:avLst>
          </a:prstGeom>
          <a:noFill/>
          <a:ln w="57150" cap="flat" cmpd="sng">
            <a:solidFill>
              <a:srgbClr val="9B8ABE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12700" dir="5400000" algn="ctr" rotWithShape="0">
              <a:srgbClr val="000000">
                <a:alpha val="4980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688" name="Google Shape;688;p18"/>
          <p:cNvCxnSpPr/>
          <p:nvPr/>
        </p:nvCxnSpPr>
        <p:spPr>
          <a:xfrm rot="10800000">
            <a:off x="2254577" y="4218992"/>
            <a:ext cx="0" cy="230272"/>
          </a:xfrm>
          <a:prstGeom prst="straightConnector1">
            <a:avLst/>
          </a:prstGeom>
          <a:noFill/>
          <a:ln w="57150" cap="flat" cmpd="sng">
            <a:solidFill>
              <a:srgbClr val="9B8AB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9" name="Google Shape;689;p18"/>
          <p:cNvSpPr txBox="1"/>
          <p:nvPr/>
        </p:nvSpPr>
        <p:spPr>
          <a:xfrm>
            <a:off x="473069" y="3099639"/>
            <a:ext cx="2669320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(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0; 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&lt; n; 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++) {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a[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 = 1;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b[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 = 2;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dirty="0"/>
          </a:p>
        </p:txBody>
      </p:sp>
      <p:sp>
        <p:nvSpPr>
          <p:cNvPr id="690" name="Google Shape;690;p18"/>
          <p:cNvSpPr txBox="1"/>
          <p:nvPr/>
        </p:nvSpPr>
        <p:spPr>
          <a:xfrm>
            <a:off x="10232308" y="3110906"/>
            <a:ext cx="7360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sz="1600" dirty="0"/>
          </a:p>
        </p:txBody>
      </p:sp>
      <p:sp>
        <p:nvSpPr>
          <p:cNvPr id="691" name="Google Shape;691;p18"/>
          <p:cNvSpPr txBox="1"/>
          <p:nvPr/>
        </p:nvSpPr>
        <p:spPr>
          <a:xfrm>
            <a:off x="5371040" y="3110906"/>
            <a:ext cx="126829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f(n) = 2n</a:t>
            </a:r>
            <a:endParaRPr sz="1600" dirty="0"/>
          </a:p>
        </p:txBody>
      </p:sp>
      <p:sp>
        <p:nvSpPr>
          <p:cNvPr id="41" name="Google Shape;257;p13">
            <a:extLst>
              <a:ext uri="{FF2B5EF4-FFF2-40B4-BE49-F238E27FC236}">
                <a16:creationId xmlns:a16="http://schemas.microsoft.com/office/drawing/2014/main" id="{94CBFC99-CF63-4F59-B335-72C9A98AF0B3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42" name="Google Shape;257;p13">
            <a:extLst>
              <a:ext uri="{FF2B5EF4-FFF2-40B4-BE49-F238E27FC236}">
                <a16:creationId xmlns:a16="http://schemas.microsoft.com/office/drawing/2014/main" id="{75F9AB88-4985-49E1-8165-03BA26AB7BF2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masterfolien_16_9">
  <a:themeElements>
    <a:clrScheme name="TH Köln Spektrum">
      <a:dk1>
        <a:srgbClr val="000000"/>
      </a:dk1>
      <a:lt1>
        <a:srgbClr val="FFFFFF"/>
      </a:lt1>
      <a:dk2>
        <a:srgbClr val="808080"/>
      </a:dk2>
      <a:lt2>
        <a:srgbClr val="BFBFBF"/>
      </a:lt2>
      <a:accent1>
        <a:srgbClr val="C00009"/>
      </a:accent1>
      <a:accent2>
        <a:srgbClr val="E24300"/>
      </a:accent2>
      <a:accent3>
        <a:srgbClr val="9D167A"/>
      </a:accent3>
      <a:accent4>
        <a:srgbClr val="00CC00"/>
      </a:accent4>
      <a:accent5>
        <a:srgbClr val="FFFF00"/>
      </a:accent5>
      <a:accent6>
        <a:srgbClr val="259EFF"/>
      </a:accent6>
      <a:hlink>
        <a:srgbClr val="005294"/>
      </a:hlink>
      <a:folHlink>
        <a:srgbClr val="6783B4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635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  <a:lnDef>
      <a:spPr>
        <a:ln w="12700">
          <a:solidFill>
            <a:schemeClr val="tx1"/>
          </a:solidFill>
          <a:tailEnd type="triangle" w="med" len="lg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2000"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k_ln_pptvorlage_16_9_Feb2016_V1.potx" id="{A576FD44-4E46-4723-9FCD-6DC9777E0436}" vid="{1A564047-D60B-4EFF-AAEA-89036AD4D3C0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masterfolien_16_9</Template>
  <TotalTime>0</TotalTime>
  <Words>472</Words>
  <Application>Microsoft Office PowerPoint</Application>
  <PresentationFormat>Breitbild</PresentationFormat>
  <Paragraphs>112</Paragraphs>
  <Slides>4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17" baseType="lpstr">
      <vt:lpstr>Arial</vt:lpstr>
      <vt:lpstr>Arial </vt:lpstr>
      <vt:lpstr>Calibri</vt:lpstr>
      <vt:lpstr>Consolas</vt:lpstr>
      <vt:lpstr>Courier New</vt:lpstr>
      <vt:lpstr>Helvetica Neue</vt:lpstr>
      <vt:lpstr>Montserrat</vt:lpstr>
      <vt:lpstr>Quattrocento Sans</vt:lpstr>
      <vt:lpstr>Symbol</vt:lpstr>
      <vt:lpstr>Tahoma</vt:lpstr>
      <vt:lpstr>Twentieth Century</vt:lpstr>
      <vt:lpstr>Wingdings</vt:lpstr>
      <vt:lpstr>masterfolien_16_9</vt:lpstr>
      <vt:lpstr>Lernraum I: Abstrakte Datentypen, Datenstrukturen und Asymptotische Notation</vt:lpstr>
      <vt:lpstr>Klassifikation der Wachstumsordnung</vt:lpstr>
      <vt:lpstr>Code in O-Notation umwandeln</vt:lpstr>
      <vt:lpstr>Analyse von Algorithmen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02_Algorithmik_AsymptotischeAnalyse</dc:title>
  <dc:creator>Daniel Gaida</dc:creator>
  <cp:lastModifiedBy>Ivan Kurilin (ikurilin)</cp:lastModifiedBy>
  <cp:revision>962</cp:revision>
  <cp:lastPrinted>2016-02-26T07:58:29Z</cp:lastPrinted>
  <dcterms:created xsi:type="dcterms:W3CDTF">2021-07-17T19:54:54Z</dcterms:created>
  <dcterms:modified xsi:type="dcterms:W3CDTF">2025-12-14T02:18:35Z</dcterms:modified>
</cp:coreProperties>
</file>