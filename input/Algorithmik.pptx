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037" r:id="rId2"/>
    <p:sldId id="279" r:id="rId3"/>
    <p:sldId id="283" r:id="rId4"/>
    <p:sldId id="257" r:id="rId5"/>
  </p:sldIdLst>
  <p:sldSz cx="12192000" cy="6858000"/>
  <p:notesSz cx="6797675" cy="9928225"/>
  <p:defaultTextStyle>
    <a:defPPr>
      <a:defRPr lang="de-D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niel Gaida" initials="DG" lastIdx="1" clrIdx="0"/>
  <p:cmAuthor id="1" name="Sonia Fereidooni" initials="" lastIdx="4" clrIdx="1"/>
  <p:cmAuthor id="2" name="Kasey Champion" initials="" lastIdx="2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21" autoAdjust="0"/>
  </p:normalViewPr>
  <p:slideViewPr>
    <p:cSldViewPr snapToGrid="0" snapToObjects="1">
      <p:cViewPr varScale="1">
        <p:scale>
          <a:sx n="79" d="100"/>
          <a:sy n="79" d="100"/>
        </p:scale>
        <p:origin x="806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53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28588"/>
            <a:ext cx="3398837" cy="652462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9219" name="Gruppierung 2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7" name="Rechteck 6"/>
            <p:cNvSpPr/>
            <p:nvPr userDrawn="1"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8" name="Rechteck 7"/>
            <p:cNvSpPr/>
            <p:nvPr userDrawn="1"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9" name="Rechteck 8"/>
            <p:cNvSpPr/>
            <p:nvPr userDrawn="1"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700588" y="388938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DEABD8D7-DB7D-4262-BD90-67B58EBF3A4F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9221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9096375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 txBox="1">
            <a:spLocks noChangeArrowheads="1"/>
          </p:cNvSpPr>
          <p:nvPr/>
        </p:nvSpPr>
        <p:spPr bwMode="auto">
          <a:xfrm>
            <a:off x="4700588" y="139700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30.01.2026</a:t>
            </a:fld>
            <a:endParaRPr lang="de-DE" sz="900" dirty="0"/>
          </a:p>
        </p:txBody>
      </p:sp>
      <p:sp>
        <p:nvSpPr>
          <p:cNvPr id="14" name="Fußzeilenplatzhalter 3"/>
          <p:cNvSpPr txBox="1">
            <a:spLocks/>
          </p:cNvSpPr>
          <p:nvPr/>
        </p:nvSpPr>
        <p:spPr>
          <a:xfrm>
            <a:off x="1133475" y="9105900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9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47663" y="744538"/>
            <a:ext cx="4978400" cy="2800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133475" y="3697288"/>
            <a:ext cx="5414963" cy="47847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141413" y="150813"/>
            <a:ext cx="3398837" cy="482600"/>
          </a:xfrm>
          <a:prstGeom prst="rect">
            <a:avLst/>
          </a:prstGeom>
        </p:spPr>
        <p:txBody>
          <a:bodyPr vert="horz" lIns="0" tIns="0" rIns="0" bIns="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grpSp>
        <p:nvGrpSpPr>
          <p:cNvPr id="7173" name="Gruppierung 1"/>
          <p:cNvGrpSpPr>
            <a:grpSpLocks/>
          </p:cNvGrpSpPr>
          <p:nvPr/>
        </p:nvGrpSpPr>
        <p:grpSpPr bwMode="auto">
          <a:xfrm>
            <a:off x="1133475" y="0"/>
            <a:ext cx="5664200" cy="77788"/>
            <a:chOff x="1143000" y="-2"/>
            <a:chExt cx="5714999" cy="108000"/>
          </a:xfrm>
        </p:grpSpPr>
        <p:sp>
          <p:nvSpPr>
            <p:cNvPr id="9" name="Rechteck 8"/>
            <p:cNvSpPr/>
            <p:nvPr/>
          </p:nvSpPr>
          <p:spPr bwMode="auto">
            <a:xfrm>
              <a:off x="1143000" y="-2"/>
              <a:ext cx="1800353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0" name="Rechteck 9"/>
            <p:cNvSpPr/>
            <p:nvPr/>
          </p:nvSpPr>
          <p:spPr bwMode="auto">
            <a:xfrm>
              <a:off x="2943353" y="-2"/>
              <a:ext cx="1801955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1" name="Rechteck 10"/>
            <p:cNvSpPr/>
            <p:nvPr/>
          </p:nvSpPr>
          <p:spPr bwMode="auto">
            <a:xfrm>
              <a:off x="4745308" y="-2"/>
              <a:ext cx="2112691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4700588" y="411163"/>
            <a:ext cx="955675" cy="3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lnSpc>
                <a:spcPts val="1175"/>
              </a:lnSpc>
            </a:pPr>
            <a:r>
              <a:rPr lang="de-DE" altLang="de-DE" sz="900"/>
              <a:t>Chart</a:t>
            </a:r>
            <a:r>
              <a:rPr lang="de-DE" altLang="de-DE" sz="900">
                <a:solidFill>
                  <a:srgbClr val="000000"/>
                </a:solidFill>
              </a:rPr>
              <a:t>: </a:t>
            </a:r>
            <a:fld id="{461BB4A2-88BF-4F1A-ADC3-F64B0D1FA15C}" type="slidenum">
              <a:rPr lang="de-DE" altLang="de-DE" sz="900">
                <a:solidFill>
                  <a:srgbClr val="000000"/>
                </a:solidFill>
              </a:rPr>
              <a:pPr eaLnBrk="0" hangingPunct="0">
                <a:lnSpc>
                  <a:spcPts val="1175"/>
                </a:lnSpc>
              </a:pPr>
              <a:t>‹Nr.›</a:t>
            </a:fld>
            <a:endParaRPr lang="de-DE" altLang="de-DE" sz="900"/>
          </a:p>
        </p:txBody>
      </p:sp>
      <p:pic>
        <p:nvPicPr>
          <p:cNvPr id="7175" name="Bild 7" descr="Logo_17pt.w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8851900"/>
            <a:ext cx="1041400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 txBox="1">
            <a:spLocks noChangeArrowheads="1"/>
          </p:cNvSpPr>
          <p:nvPr/>
        </p:nvSpPr>
        <p:spPr bwMode="auto">
          <a:xfrm>
            <a:off x="4700588" y="161925"/>
            <a:ext cx="1042987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>
            <a:defPPr>
              <a:defRPr lang="de-DE"/>
            </a:defPPr>
            <a:lvl1pPr algn="l" rtl="0" eaLnBrk="0" fontAlgn="base" hangingPunct="0">
              <a:lnSpc>
                <a:spcPts val="1500"/>
              </a:lnSpc>
              <a:spcBef>
                <a:spcPts val="0"/>
              </a:spcBef>
              <a:spcAft>
                <a:spcPct val="0"/>
              </a:spcAft>
              <a:defRPr kumimoji="0" sz="1200" kern="1200">
                <a:solidFill>
                  <a:schemeClr val="tx1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fld id="{3A6DA0C8-B110-EF42-9B42-44D642A5B286}" type="datetime1">
              <a:rPr lang="de-DE" sz="900" smtClean="0"/>
              <a:pPr>
                <a:lnSpc>
                  <a:spcPts val="1180"/>
                </a:lnSpc>
                <a:defRPr/>
              </a:pPr>
              <a:t>30.01.2026</a:t>
            </a:fld>
            <a:endParaRPr lang="de-DE" sz="900" dirty="0"/>
          </a:p>
        </p:txBody>
      </p:sp>
      <p:sp>
        <p:nvSpPr>
          <p:cNvPr id="15" name="Fußzeilenplatzhalter 3"/>
          <p:cNvSpPr txBox="1">
            <a:spLocks/>
          </p:cNvSpPr>
          <p:nvPr/>
        </p:nvSpPr>
        <p:spPr>
          <a:xfrm>
            <a:off x="1133475" y="8861425"/>
            <a:ext cx="3924300" cy="895350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ts val="1180"/>
              </a:lnSpc>
              <a:defRPr/>
            </a:pPr>
            <a:r>
              <a:rPr lang="de-DE" sz="900" dirty="0"/>
              <a:t>Prof. Dr. Elisabeth Exempel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Ggf. Funktionsbezeichnung</a:t>
            </a:r>
          </a:p>
          <a:p>
            <a:pPr>
              <a:lnSpc>
                <a:spcPts val="1180"/>
              </a:lnSpc>
              <a:defRPr/>
            </a:pPr>
            <a:r>
              <a:rPr lang="de-DE" sz="900" b="0" dirty="0">
                <a:solidFill>
                  <a:schemeClr val="tx1"/>
                </a:solidFill>
              </a:rPr>
              <a:t>Instituts- und/oder Fakultäts-, Referats-, Teambezeichnung</a:t>
            </a:r>
            <a:br>
              <a:rPr lang="de-DE" sz="900" b="0" dirty="0">
                <a:solidFill>
                  <a:schemeClr val="tx1"/>
                </a:solidFill>
              </a:rPr>
            </a:br>
            <a:r>
              <a:rPr lang="de-DE" sz="900" b="0" dirty="0">
                <a:solidFill>
                  <a:schemeClr val="tx1"/>
                </a:solidFill>
              </a:rPr>
              <a:t>maximal drei Zeilen möglich (editierbar im </a:t>
            </a:r>
            <a:r>
              <a:rPr lang="de-DE" sz="900" b="0" dirty="0" err="1">
                <a:solidFill>
                  <a:schemeClr val="tx1"/>
                </a:solidFill>
              </a:rPr>
              <a:t>Foliemaster</a:t>
            </a:r>
            <a:r>
              <a:rPr lang="de-DE" sz="900" b="0" dirty="0">
                <a:solidFill>
                  <a:schemeClr val="tx1"/>
                </a:solidFill>
              </a:rPr>
              <a:t>)</a:t>
            </a:r>
          </a:p>
          <a:p>
            <a:pPr>
              <a:lnSpc>
                <a:spcPts val="1180"/>
              </a:lnSpc>
              <a:defRPr/>
            </a:pP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181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18b4eb0048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1950" y="220663"/>
            <a:ext cx="1054100" cy="593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6" name="Google Shape;756;g118b4eb0048_0_551:notes"/>
          <p:cNvSpPr txBox="1">
            <a:spLocks noGrp="1"/>
          </p:cNvSpPr>
          <p:nvPr>
            <p:ph type="body" idx="1"/>
          </p:nvPr>
        </p:nvSpPr>
        <p:spPr>
          <a:xfrm>
            <a:off x="685800" y="848023"/>
            <a:ext cx="54864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7" name="Google Shape;757;g118b4eb0048_0_551:notes"/>
          <p:cNvSpPr txBox="1">
            <a:spLocks noGrp="1"/>
          </p:cNvSpPr>
          <p:nvPr>
            <p:ph type="sldNum" idx="12"/>
          </p:nvPr>
        </p:nvSpPr>
        <p:spPr>
          <a:xfrm>
            <a:off x="3884613" y="1673713"/>
            <a:ext cx="2971800" cy="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seite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433236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206500" y="4535620"/>
            <a:ext cx="10800000" cy="708217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5455920"/>
            <a:ext cx="10800000" cy="381020"/>
          </a:xfrm>
        </p:spPr>
        <p:txBody>
          <a:bodyPr/>
          <a:lstStyle>
            <a:lvl1pPr>
              <a:lnSpc>
                <a:spcPts val="2200"/>
              </a:lnSpc>
              <a:defRPr/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48784-7281-4837-A1AE-FC4A34A747D6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8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D9B6713-36FE-4B94-85D8-9FA2DCE30A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60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ts val="3000"/>
              </a:lnSpc>
              <a:defRPr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1204913" y="1548000"/>
            <a:ext cx="10799762" cy="4320000"/>
          </a:xfrm>
        </p:spPr>
        <p:txBody>
          <a:bodyPr/>
          <a:lstStyle>
            <a:lvl1pPr>
              <a:lnSpc>
                <a:spcPct val="112000"/>
              </a:lnSpc>
              <a:defRPr sz="1800">
                <a:latin typeface="Arial" pitchFamily="34" charset="0"/>
                <a:cs typeface="Arial" pitchFamily="34" charset="0"/>
              </a:defRPr>
            </a:lvl1pPr>
            <a:lvl2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2pPr>
            <a:lvl3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3pPr>
            <a:lvl4pPr indent="-187200">
              <a:lnSpc>
                <a:spcPct val="112000"/>
              </a:lnSpc>
              <a:spcBef>
                <a:spcPts val="0"/>
              </a:spcBef>
              <a:defRPr sz="1800"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021128-E3BC-4510-A597-24FCB75D3A75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3310F81-32EE-4F95-9E9C-0BDC6AD52EE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64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1"/>
          <p:cNvSpPr>
            <a:spLocks noGrp="1"/>
          </p:cNvSpPr>
          <p:nvPr>
            <p:ph type="title"/>
          </p:nvPr>
        </p:nvSpPr>
        <p:spPr>
          <a:xfrm>
            <a:off x="1204675" y="3276600"/>
            <a:ext cx="10800000" cy="1356360"/>
          </a:xfrm>
          <a:prstGeom prst="rect">
            <a:avLst/>
          </a:prstGeom>
        </p:spPr>
        <p:txBody>
          <a:bodyPr tIns="0" rtlCol="0">
            <a:noAutofit/>
          </a:bodyPr>
          <a:lstStyle>
            <a:lvl1pPr>
              <a:lnSpc>
                <a:spcPts val="3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idx="1"/>
          </p:nvPr>
        </p:nvSpPr>
        <p:spPr>
          <a:xfrm>
            <a:off x="1206000" y="72000"/>
            <a:ext cx="10986000" cy="3067152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5"/>
          </p:nvPr>
        </p:nvSpPr>
        <p:spPr>
          <a:xfrm>
            <a:off x="1206000" y="4772804"/>
            <a:ext cx="10800000" cy="1031596"/>
          </a:xfrm>
        </p:spPr>
        <p:txBody>
          <a:bodyPr/>
          <a:lstStyle>
            <a:lvl1pPr>
              <a:lnSpc>
                <a:spcPts val="2200"/>
              </a:lnSpc>
              <a:defRPr sz="1800"/>
            </a:lvl1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B419C-6100-4ECC-A14C-29389AFC3646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6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8D2255-8A42-41C6-B7FD-A8F81B1858E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1520825"/>
            <a:ext cx="5220000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 sz="1800"/>
            </a:lvl1pPr>
            <a:lvl2pPr indent="-187200">
              <a:lnSpc>
                <a:spcPct val="112000"/>
              </a:lnSpc>
              <a:spcBef>
                <a:spcPts val="0"/>
              </a:spcBef>
              <a:defRPr sz="1800"/>
            </a:lvl2pPr>
            <a:lvl3pPr>
              <a:lnSpc>
                <a:spcPct val="112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816425" y="1520825"/>
            <a:ext cx="5188665" cy="4356100"/>
          </a:xfrm>
        </p:spPr>
        <p:txBody>
          <a:bodyPr/>
          <a:lstStyle>
            <a:lvl1pPr>
              <a:lnSpc>
                <a:spcPct val="112000"/>
              </a:lnSpc>
              <a:spcAft>
                <a:spcPts val="600"/>
              </a:spcAft>
              <a:defRPr/>
            </a:lvl1pPr>
            <a:lvl2pPr indent="-187200">
              <a:lnSpc>
                <a:spcPct val="112000"/>
              </a:lnSpc>
              <a:spcBef>
                <a:spcPts val="0"/>
              </a:spcBef>
              <a:defRPr/>
            </a:lvl2pPr>
            <a:lvl3pPr>
              <a:lnSpc>
                <a:spcPct val="112000"/>
              </a:lnSpc>
              <a:spcBef>
                <a:spcPts val="0"/>
              </a:spcBef>
              <a:defRPr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379B7-331E-424B-A45F-F03D5981C976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10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8EAC3D31-108A-4FE9-91B5-F944D4EE38A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46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tIns="0"/>
          <a:lstStyle>
            <a:lvl1pPr>
              <a:lnSpc>
                <a:spcPct val="100000"/>
              </a:lnSpc>
              <a:defRPr sz="26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/>
          </p:nvPr>
        </p:nvSpPr>
        <p:spPr>
          <a:xfrm>
            <a:off x="1206500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Arial 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Arial 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Inhaltsplatzhalter 5"/>
          <p:cNvSpPr>
            <a:spLocks noGrp="1"/>
          </p:cNvSpPr>
          <p:nvPr>
            <p:ph sz="quarter" idx="13"/>
          </p:nvPr>
        </p:nvSpPr>
        <p:spPr>
          <a:xfrm>
            <a:off x="6792149" y="2211185"/>
            <a:ext cx="5220000" cy="3665740"/>
          </a:xfrm>
        </p:spPr>
        <p:txBody>
          <a:bodyPr/>
          <a:lstStyle>
            <a:lvl1pPr>
              <a:lnSpc>
                <a:spcPct val="112000"/>
              </a:lnSpc>
              <a:spcAft>
                <a:spcPts val="400"/>
              </a:spcAft>
              <a:defRPr sz="2000">
                <a:latin typeface="+mj-lt"/>
              </a:defRPr>
            </a:lvl1pPr>
            <a:lvl2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2pPr>
            <a:lvl3pPr>
              <a:lnSpc>
                <a:spcPct val="112000"/>
              </a:lnSpc>
              <a:spcBef>
                <a:spcPts val="0"/>
              </a:spcBef>
              <a:defRPr sz="2000">
                <a:latin typeface="+mj-lt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1208242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92149" y="1522817"/>
            <a:ext cx="5220000" cy="688368"/>
          </a:xfrm>
        </p:spPr>
        <p:txBody>
          <a:bodyPr/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idx="14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9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F7EFE-EEF9-40C5-9AEC-F07BD35586E4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C0031C7-9188-4972-9DD4-DD3C320BBBD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243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/>
          </p:nvPr>
        </p:nvSpPr>
        <p:spPr>
          <a:xfrm>
            <a:off x="1219201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603B7-878E-43D0-A9A1-FA3C2AF87C58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065F7AFB-E617-4306-8E77-B348F91DE56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85212-05E7-49A7-ABD6-673A483CDAE3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3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6339FEA-45E0-4CEE-87DD-55B9FB70659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97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556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rei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idx="1"/>
          </p:nvPr>
        </p:nvSpPr>
        <p:spPr>
          <a:xfrm>
            <a:off x="1206000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13"/>
          </p:nvPr>
        </p:nvSpPr>
        <p:spPr>
          <a:xfrm>
            <a:off x="1206000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idx="14"/>
          </p:nvPr>
        </p:nvSpPr>
        <p:spPr>
          <a:xfrm>
            <a:off x="4893213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5" name="Textplatzhalter 2"/>
          <p:cNvSpPr>
            <a:spLocks noGrp="1"/>
          </p:cNvSpPr>
          <p:nvPr>
            <p:ph type="body" idx="15"/>
          </p:nvPr>
        </p:nvSpPr>
        <p:spPr>
          <a:xfrm>
            <a:off x="4893213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8" name="Bildplatzhalter 2"/>
          <p:cNvSpPr>
            <a:spLocks noGrp="1"/>
          </p:cNvSpPr>
          <p:nvPr>
            <p:ph type="pic" idx="16"/>
          </p:nvPr>
        </p:nvSpPr>
        <p:spPr>
          <a:xfrm>
            <a:off x="8556149" y="1520825"/>
            <a:ext cx="3456000" cy="274738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Textplatzhalter 2"/>
          <p:cNvSpPr>
            <a:spLocks noGrp="1"/>
          </p:cNvSpPr>
          <p:nvPr>
            <p:ph type="body" idx="17"/>
          </p:nvPr>
        </p:nvSpPr>
        <p:spPr>
          <a:xfrm>
            <a:off x="8564241" y="4341767"/>
            <a:ext cx="3456000" cy="12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1205090" y="521252"/>
            <a:ext cx="10800000" cy="900000"/>
          </a:xfrm>
        </p:spPr>
        <p:txBody>
          <a:bodyPr tIns="0"/>
          <a:lstStyle>
            <a:lvl1pPr>
              <a:lnSpc>
                <a:spcPct val="100000"/>
              </a:lnSpc>
              <a:defRPr sz="2600" baseline="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20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535EE-90AE-4348-98D3-AFE064A78180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12" name="Foliennummernplatzhalt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3DECBAF-54BF-43CB-A029-D1DF8A041DD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124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hs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idx="27"/>
          </p:nvPr>
        </p:nvSpPr>
        <p:spPr>
          <a:xfrm>
            <a:off x="1206000" y="150124"/>
            <a:ext cx="10785474" cy="2151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idx="1"/>
          </p:nvPr>
        </p:nvSpPr>
        <p:spPr>
          <a:xfrm>
            <a:off x="1206000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2" name="Textplatzhalter 2"/>
          <p:cNvSpPr>
            <a:spLocks noGrp="1"/>
          </p:cNvSpPr>
          <p:nvPr>
            <p:ph type="body" idx="13"/>
          </p:nvPr>
        </p:nvSpPr>
        <p:spPr>
          <a:xfrm>
            <a:off x="1206000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idx="14"/>
          </p:nvPr>
        </p:nvSpPr>
        <p:spPr>
          <a:xfrm>
            <a:off x="4893213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2"/>
          <p:cNvSpPr>
            <a:spLocks noGrp="1"/>
          </p:cNvSpPr>
          <p:nvPr>
            <p:ph type="body" idx="15"/>
          </p:nvPr>
        </p:nvSpPr>
        <p:spPr>
          <a:xfrm>
            <a:off x="4893213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idx="16"/>
          </p:nvPr>
        </p:nvSpPr>
        <p:spPr>
          <a:xfrm>
            <a:off x="8564241" y="539920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6" name="Textplatzhalter 2"/>
          <p:cNvSpPr>
            <a:spLocks noGrp="1"/>
          </p:cNvSpPr>
          <p:nvPr>
            <p:ph type="body" idx="17"/>
          </p:nvPr>
        </p:nvSpPr>
        <p:spPr>
          <a:xfrm>
            <a:off x="8564241" y="2812230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idx="28"/>
          </p:nvPr>
        </p:nvSpPr>
        <p:spPr>
          <a:xfrm>
            <a:off x="1206000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idx="29"/>
          </p:nvPr>
        </p:nvSpPr>
        <p:spPr>
          <a:xfrm>
            <a:off x="1206000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idx="30"/>
          </p:nvPr>
        </p:nvSpPr>
        <p:spPr>
          <a:xfrm>
            <a:off x="4890512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idx="31"/>
          </p:nvPr>
        </p:nvSpPr>
        <p:spPr>
          <a:xfrm>
            <a:off x="4890512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idx="32"/>
          </p:nvPr>
        </p:nvSpPr>
        <p:spPr>
          <a:xfrm>
            <a:off x="8558124" y="3201819"/>
            <a:ext cx="3456000" cy="2196068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rtlCol="0">
            <a:normAutofit/>
          </a:bodyPr>
          <a:lstStyle>
            <a:lvl1pPr marL="0" indent="0">
              <a:lnSpc>
                <a:spcPts val="2200"/>
              </a:lnSpc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32" name="Textplatzhalter 2"/>
          <p:cNvSpPr>
            <a:spLocks noGrp="1"/>
          </p:cNvSpPr>
          <p:nvPr>
            <p:ph type="body" idx="33"/>
          </p:nvPr>
        </p:nvSpPr>
        <p:spPr>
          <a:xfrm>
            <a:off x="8558124" y="5474129"/>
            <a:ext cx="3456000" cy="324000"/>
          </a:xfr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5" name="Datumsplatzhalter 3"/>
          <p:cNvSpPr>
            <a:spLocks noGrp="1"/>
          </p:cNvSpPr>
          <p:nvPr>
            <p:ph type="dt" sz="half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1D907-3A8C-4FA0-AF32-FB476100B44A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16" name="Foliennummernplatzhalter 4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68BD526D-A506-4272-90FB-C6A2218A9A7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5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865" y="228779"/>
            <a:ext cx="11368459" cy="914641"/>
          </a:xfrm>
        </p:spPr>
        <p:txBody>
          <a:bodyPr lIns="0" tIns="0" rIns="0" bIns="0"/>
          <a:lstStyle>
            <a:lvl1pPr>
              <a:defRPr sz="290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9499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10867" y="1469681"/>
            <a:ext cx="11368460" cy="3854809"/>
          </a:xfrm>
        </p:spPr>
        <p:txBody>
          <a:bodyPr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Holder 2"/>
          <p:cNvSpPr>
            <a:spLocks noGrp="1"/>
          </p:cNvSpPr>
          <p:nvPr>
            <p:ph type="title"/>
          </p:nvPr>
        </p:nvSpPr>
        <p:spPr>
          <a:xfrm>
            <a:off x="410865" y="228779"/>
            <a:ext cx="11368459" cy="914641"/>
          </a:xfrm>
        </p:spPr>
        <p:txBody>
          <a:bodyPr lIns="0" tIns="0" rIns="0" bIns="0"/>
          <a:lstStyle>
            <a:lvl1pPr>
              <a:defRPr sz="2901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1422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C26682-0C93-4009-904E-AED2851849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138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D1A458-D506-4560-914E-B5421E17A3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5930E3-AAC2-4ADF-925B-A037BED539BF}" type="datetime1">
              <a:rPr lang="de-DE" smtClean="0"/>
              <a:t>30.01.2026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EFA00E-A96F-4147-9719-EA15ED786B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1FC8CA-7D7D-4BF5-97CE-E12CD0B5C87B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580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0D2A5-F52F-4653-819F-1A37B28B85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7078B80-CC76-49E8-922A-90B2CBA19035}" type="datetime1">
              <a:rPr lang="de-DE" smtClean="0"/>
              <a:t>30.01.2026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10964-A49D-4BBE-9507-6315150321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C8488-569A-444F-B796-697E2B83A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885B7-B8B8-4BDF-9399-E15470497E67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688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31298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190625" y="2268141"/>
            <a:ext cx="9810750" cy="232171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33159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363200" cy="1470025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55975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0F1620-6991-468A-986C-DEA71AF2A6A8}" type="datetime1">
              <a:rPr lang="de-DE" smtClean="0"/>
              <a:t>30.01.2026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97EE5-9B1D-48EF-B619-A2DEE0A0DD92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29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39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1204913" y="520700"/>
            <a:ext cx="10799762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Überschrift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206500" y="1547813"/>
            <a:ext cx="107997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</p:txBody>
      </p:sp>
      <p:pic>
        <p:nvPicPr>
          <p:cNvPr id="1028" name="Bild 7" descr="Logo_17pt.wmf"/>
          <p:cNvPicPr>
            <a:picLocks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20" y="6000750"/>
            <a:ext cx="1223467" cy="71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ußzeilenplatzhalter 3"/>
          <p:cNvSpPr txBox="1">
            <a:spLocks/>
          </p:cNvSpPr>
          <p:nvPr/>
        </p:nvSpPr>
        <p:spPr>
          <a:xfrm>
            <a:off x="2590800" y="6011863"/>
            <a:ext cx="5254625" cy="549275"/>
          </a:xfrm>
          <a:prstGeom prst="rect">
            <a:avLst/>
          </a:prstGeom>
        </p:spPr>
        <p:txBody>
          <a:bodyPr wrap="none" lIns="0" tIns="0" rIns="0" bIns="0"/>
          <a:lstStyle>
            <a:defPPr>
              <a:defRPr lang="de-DE"/>
            </a:defPPr>
            <a:lvl1pPr algn="l" rtl="0" fontAlgn="base">
              <a:lnSpc>
                <a:spcPts val="1500"/>
              </a:lnSpc>
              <a:spcBef>
                <a:spcPct val="0"/>
              </a:spcBef>
              <a:spcAft>
                <a:spcPct val="0"/>
              </a:spcAft>
              <a:defRPr kumimoji="1" sz="1200" b="1" i="0" kern="1200">
                <a:solidFill>
                  <a:srgbClr val="141313"/>
                </a:solidFill>
                <a:latin typeface="Arial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umimoji="1" sz="1200" kern="1200">
                <a:solidFill>
                  <a:schemeClr val="bg2"/>
                </a:solidFill>
                <a:latin typeface="Myriad Pro" charset="0"/>
                <a:ea typeface="ＭＳ Ｐゴシック" charset="0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/>
              <a:t>Prof. Dr. Daniel Gaida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>
                <a:solidFill>
                  <a:schemeClr val="tx1"/>
                </a:solidFill>
              </a:rPr>
              <a:t>Professor</a:t>
            </a:r>
            <a:r>
              <a:rPr lang="de-DE" sz="900" b="0" baseline="0" dirty="0">
                <a:solidFill>
                  <a:schemeClr val="tx1"/>
                </a:solidFill>
              </a:rPr>
              <a:t> für Cyber-Physische Systeme</a:t>
            </a:r>
            <a:endParaRPr lang="de-DE" sz="900" b="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defRPr/>
            </a:pPr>
            <a:r>
              <a:rPr lang="de-DE" sz="900" b="0" dirty="0">
                <a:solidFill>
                  <a:schemeClr val="tx1"/>
                </a:solidFill>
              </a:rPr>
              <a:t>Fakultät</a:t>
            </a:r>
            <a:r>
              <a:rPr lang="de-DE" sz="900" b="0" baseline="0" dirty="0">
                <a:solidFill>
                  <a:schemeClr val="tx1"/>
                </a:solidFill>
              </a:rPr>
              <a:t> für Informatik und Ingenieurwissenschaften - </a:t>
            </a:r>
            <a:r>
              <a:rPr lang="de-DE" sz="900" b="0" dirty="0">
                <a:solidFill>
                  <a:schemeClr val="tx1"/>
                </a:solidFill>
              </a:rPr>
              <a:t>Institut</a:t>
            </a:r>
            <a:r>
              <a:rPr lang="de-DE" sz="900" b="0" baseline="0" dirty="0">
                <a:solidFill>
                  <a:schemeClr val="tx1"/>
                </a:solidFill>
              </a:rPr>
              <a:t> für Informatik</a:t>
            </a:r>
            <a:endParaRPr lang="de-DE" sz="900" dirty="0"/>
          </a:p>
        </p:txBody>
      </p:sp>
      <p:grpSp>
        <p:nvGrpSpPr>
          <p:cNvPr id="1030" name="Gruppierung 11"/>
          <p:cNvGrpSpPr>
            <a:grpSpLocks/>
          </p:cNvGrpSpPr>
          <p:nvPr/>
        </p:nvGrpSpPr>
        <p:grpSpPr bwMode="auto">
          <a:xfrm>
            <a:off x="1204913" y="0"/>
            <a:ext cx="10991850" cy="71438"/>
            <a:chOff x="903819" y="0"/>
            <a:chExt cx="8244000" cy="108000"/>
          </a:xfrm>
        </p:grpSpPr>
        <p:sp>
          <p:nvSpPr>
            <p:cNvPr id="13" name="Rechteck 12"/>
            <p:cNvSpPr/>
            <p:nvPr/>
          </p:nvSpPr>
          <p:spPr bwMode="auto">
            <a:xfrm>
              <a:off x="903819" y="0"/>
              <a:ext cx="2736094" cy="108000"/>
            </a:xfrm>
            <a:prstGeom prst="rect">
              <a:avLst/>
            </a:prstGeom>
            <a:solidFill>
              <a:srgbClr val="AA0F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4" name="Rechteck 13"/>
            <p:cNvSpPr/>
            <p:nvPr/>
          </p:nvSpPr>
          <p:spPr bwMode="auto">
            <a:xfrm>
              <a:off x="3639913" y="0"/>
              <a:ext cx="2736094" cy="108000"/>
            </a:xfrm>
            <a:prstGeom prst="rect">
              <a:avLst/>
            </a:prstGeom>
            <a:solidFill>
              <a:srgbClr val="D747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sp>
          <p:nvSpPr>
            <p:cNvPr id="15" name="Rechteck 14"/>
            <p:cNvSpPr/>
            <p:nvPr/>
          </p:nvSpPr>
          <p:spPr bwMode="auto">
            <a:xfrm>
              <a:off x="6376006" y="0"/>
              <a:ext cx="2771813" cy="108000"/>
            </a:xfrm>
            <a:prstGeom prst="rect">
              <a:avLst/>
            </a:prstGeom>
            <a:solidFill>
              <a:srgbClr val="901B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</p:grpSp>
      <p:cxnSp>
        <p:nvCxnSpPr>
          <p:cNvPr id="16" name="Gerade Verbindung 15"/>
          <p:cNvCxnSpPr/>
          <p:nvPr/>
        </p:nvCxnSpPr>
        <p:spPr>
          <a:xfrm>
            <a:off x="1206500" y="5951538"/>
            <a:ext cx="10987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1206500" y="6011863"/>
            <a:ext cx="1295400" cy="17938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C590BB0-1566-4728-8689-C18D1116058A}" type="datetime1">
              <a:rPr lang="de-DE" smtClean="0"/>
              <a:t>30.01.2026</a:t>
            </a:fld>
            <a:endParaRPr lang="de-DE" dirty="0"/>
          </a:p>
        </p:txBody>
      </p:sp>
      <p:sp>
        <p:nvSpPr>
          <p:cNvPr id="1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1206500" y="6361113"/>
            <a:ext cx="1295400" cy="21431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297CD77D-B4CD-4177-B2B6-FFDA7A317B1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25" r:id="rId8"/>
    <p:sldLayoutId id="2147483714" r:id="rId9"/>
    <p:sldLayoutId id="2147483715" r:id="rId10"/>
    <p:sldLayoutId id="2147483726" r:id="rId11"/>
    <p:sldLayoutId id="2147483727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6" r:id="rId19"/>
  </p:sldLayoutIdLst>
  <p:hf hdr="0" ftr="0"/>
  <p:txStyles>
    <p:titleStyle>
      <a:lvl1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2600" b="1" kern="1200">
          <a:solidFill>
            <a:schemeClr val="tx1"/>
          </a:solidFill>
          <a:latin typeface="Arial"/>
          <a:ea typeface="+mj-ea"/>
          <a:cs typeface="+mj-cs"/>
        </a:defRPr>
      </a:lvl1pPr>
      <a:lvl2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2pPr>
      <a:lvl3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3pPr>
      <a:lvl4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4pPr>
      <a:lvl5pPr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5pPr>
      <a:lvl6pPr marL="4572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6pPr>
      <a:lvl7pPr marL="9144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7pPr>
      <a:lvl8pPr marL="13716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8pPr>
      <a:lvl9pPr marL="1828800" algn="l" defTabSz="457200" rtl="0" eaLnBrk="1" fontAlgn="base" hangingPunct="1">
        <a:lnSpc>
          <a:spcPts val="28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pitchFamily="34" charset="0"/>
        </a:defRPr>
      </a:lvl9pPr>
    </p:titleStyle>
    <p:bodyStyle>
      <a:lvl1pPr algn="l" defTabSz="457200" rtl="0" eaLnBrk="1" fontAlgn="base" hangingPunct="1">
        <a:lnSpc>
          <a:spcPct val="112000"/>
        </a:lnSpc>
        <a:spcBef>
          <a:spcPct val="0"/>
        </a:spcBef>
        <a:spcAft>
          <a:spcPts val="600"/>
        </a:spcAft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357188" indent="-187200" algn="l" defTabSz="457200" rtl="0" eaLnBrk="1" fontAlgn="base" hangingPunct="1">
        <a:lnSpc>
          <a:spcPct val="112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5738" algn="l" defTabSz="457200" rtl="0" eaLnBrk="1" fontAlgn="base" hangingPunct="1">
        <a:lnSpc>
          <a:spcPct val="112000"/>
        </a:lnSpc>
        <a:spcBef>
          <a:spcPts val="4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714375" indent="-187200" algn="l" defTabSz="457200" rtl="0" eaLnBrk="1" fontAlgn="base" hangingPunct="1">
        <a:lnSpc>
          <a:spcPct val="112000"/>
        </a:lnSpc>
        <a:spcBef>
          <a:spcPts val="500"/>
        </a:spcBef>
        <a:spcAft>
          <a:spcPct val="0"/>
        </a:spcAft>
        <a:buClr>
          <a:srgbClr val="9D167A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074738" indent="-177800" algn="l" defTabSz="457200" rtl="0" eaLnBrk="1" fontAlgn="base" hangingPunct="1">
        <a:lnSpc>
          <a:spcPts val="1600"/>
        </a:lnSpc>
        <a:spcBef>
          <a:spcPts val="50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gocheatsheet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60009B3-4363-49E4-9E84-D17A2A06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Klassifikation der Wachstumsordnung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BF10E30-8BF6-4E47-9C16-971F642C6672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b="1" noProof="0" dirty="0">
                <a:sym typeface="Quattrocento Sans"/>
              </a:rPr>
              <a:t>Wachstumsordnung</a:t>
            </a:r>
            <a:r>
              <a:rPr lang="de-DE" noProof="0" dirty="0">
                <a:sym typeface="Quattrocento Sans"/>
              </a:rPr>
              <a:t>: Eine Kategorie der </a:t>
            </a:r>
            <a:r>
              <a:rPr lang="de-DE" noProof="0" dirty="0" err="1">
                <a:sym typeface="Quattrocento Sans"/>
              </a:rPr>
              <a:t>Algorithmeneffizienz</a:t>
            </a:r>
            <a:r>
              <a:rPr lang="de-DE" noProof="0" dirty="0">
                <a:sym typeface="Quattrocento Sans"/>
              </a:rPr>
              <a:t>, die auf dem Verhältnis des Algorithmus zur Eingabegröße n basiert.</a:t>
            </a:r>
            <a:endParaRPr lang="de-DE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D4269AE-763D-4E82-8E6D-5C41F31B4DF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Algorithmik – Laufzeitanalyse von Algorithmen durch Asymptotische Notation</a:t>
            </a:r>
          </a:p>
        </p:txBody>
      </p:sp>
      <p:sp>
        <p:nvSpPr>
          <p:cNvPr id="13" name="Datumsplatzhalter 4">
            <a:extLst>
              <a:ext uri="{FF2B5EF4-FFF2-40B4-BE49-F238E27FC236}">
                <a16:creationId xmlns:a16="http://schemas.microsoft.com/office/drawing/2014/main" id="{A10456D1-8DBA-4572-B154-048ED812169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D06E3F-368B-43DC-96F3-4B8E65027050}" type="datetime1">
              <a:rPr lang="de-DE" smtClean="0"/>
              <a:pPr/>
              <a:t>30.01.2026</a:t>
            </a:fld>
            <a:endParaRPr lang="de-DE" dirty="0"/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0B566CFB-AD9D-4285-B0FA-4022FC1DBD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1</a:t>
            </a:fld>
            <a:endParaRPr lang="de-DE" dirty="0"/>
          </a:p>
        </p:txBody>
      </p:sp>
      <p:graphicFrame>
        <p:nvGraphicFramePr>
          <p:cNvPr id="762" name="Google Shape;762;g118b4eb0048_0_551"/>
          <p:cNvGraphicFramePr/>
          <p:nvPr/>
        </p:nvGraphicFramePr>
        <p:xfrm>
          <a:off x="323539" y="2398763"/>
          <a:ext cx="6305875" cy="35193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Description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O-Notation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Runtime if you double 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1" i="0" u="none" strike="noStrike" cap="none">
                          <a:solidFill>
                            <a:schemeClr val="lt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Example Algorithm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C3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constant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O(1)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unchanged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Accessing an index of an array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logarithmic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O(log</a:t>
                      </a:r>
                      <a:r>
                        <a:rPr lang="en-US" sz="1400" b="0" i="0" u="none" strike="noStrike" cap="none" baseline="-25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n)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increases slightly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Binary search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linear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doubles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Looping over an array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log-linear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 log</a:t>
                      </a:r>
                      <a:r>
                        <a:rPr lang="en-US" sz="1400" b="0" i="0" u="none" strike="noStrike" cap="none" baseline="-25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n)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slightly more than doubles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Merge sort algorithm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quadratic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O(n</a:t>
                      </a:r>
                      <a:r>
                        <a:rPr lang="en-US" sz="1400" b="0" i="0" u="none" strike="noStrike" cap="none" baseline="30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quadruples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Nested loops!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...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exponential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O(2</a:t>
                      </a:r>
                      <a:r>
                        <a:rPr lang="en-US" sz="1400" b="0" i="0" u="none" strike="noStrike" cap="none" baseline="30000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)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multiplies drastically</a:t>
                      </a:r>
                      <a:endParaRPr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ahoma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Fibonacci with recursion</a:t>
                      </a:r>
                      <a:endParaRPr dirty="0"/>
                    </a:p>
                  </a:txBody>
                  <a:tcPr marL="91450" marR="91450" marT="39675" marB="3967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63" name="Google Shape;763;g118b4eb0048_0_551" descr="A screenshot of a cell phone &#10; &#10;Description automatically generated"/>
          <p:cNvPicPr preferRelativeResize="0"/>
          <p:nvPr/>
        </p:nvPicPr>
        <p:blipFill rotWithShape="1">
          <a:blip r:embed="rId3">
            <a:alphaModFix/>
          </a:blip>
          <a:srcRect l="2998" r="1216"/>
          <a:stretch/>
        </p:blipFill>
        <p:spPr>
          <a:xfrm>
            <a:off x="6757172" y="2490907"/>
            <a:ext cx="5257027" cy="33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57;p13">
            <a:extLst>
              <a:ext uri="{FF2B5EF4-FFF2-40B4-BE49-F238E27FC236}">
                <a16:creationId xmlns:a16="http://schemas.microsoft.com/office/drawing/2014/main" id="{CE1432C9-CB2C-40A1-8170-B8B800E599CD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>
                <a:hlinkClick r:id="rId4"/>
              </a:rPr>
              <a:t>https://www.bigocheatsheet.com/</a:t>
            </a:r>
            <a:endParaRPr lang="fr-FR" sz="800" dirty="0"/>
          </a:p>
        </p:txBody>
      </p:sp>
      <p:sp>
        <p:nvSpPr>
          <p:cNvPr id="15" name="Google Shape;257;p13">
            <a:extLst>
              <a:ext uri="{FF2B5EF4-FFF2-40B4-BE49-F238E27FC236}">
                <a16:creationId xmlns:a16="http://schemas.microsoft.com/office/drawing/2014/main" id="{23459359-D54E-428A-A915-A5906FE83C94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B9F5315-1C24-41E1-AD7E-9A5700B8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Analyse von Algorithmen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B534FEF-1B69-439E-871C-2D7EB9AF846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noProof="0" dirty="0"/>
          </a:p>
          <a:p>
            <a:endParaRPr lang="de-DE" sz="1200" noProof="0" dirty="0"/>
          </a:p>
          <a:p>
            <a:r>
              <a:rPr lang="de-DE" b="1" noProof="0" dirty="0">
                <a:solidFill>
                  <a:srgbClr val="7030A0"/>
                </a:solidFill>
              </a:rPr>
              <a:t>Analyse von Algorithmen</a:t>
            </a:r>
            <a:r>
              <a:rPr lang="de-DE" noProof="0" dirty="0"/>
              <a:t>: Der Gesamtprozess der Zuordnung von Code zu einer Wachstumsordnung, bestehend aus:</a:t>
            </a:r>
          </a:p>
          <a:p>
            <a:r>
              <a:rPr lang="de-DE" b="1" noProof="0" dirty="0">
                <a:solidFill>
                  <a:srgbClr val="7030A0"/>
                </a:solidFill>
              </a:rPr>
              <a:t>Code Modellierung</a:t>
            </a:r>
            <a:r>
              <a:rPr lang="de-DE" noProof="0" dirty="0"/>
              <a:t>: Code </a:t>
            </a:r>
            <a:r>
              <a:rPr lang="de-DE" noProof="0" dirty="0">
                <a:sym typeface="Wingdings" panose="05000000000000000000" pitchFamily="2" charset="2"/>
              </a:rPr>
              <a:t> Laufzeitf</a:t>
            </a:r>
            <a:r>
              <a:rPr lang="de-DE" noProof="0" dirty="0"/>
              <a:t>unktion, die die Laufzeit des Codes beschreibt</a:t>
            </a:r>
          </a:p>
          <a:p>
            <a:r>
              <a:rPr lang="de-DE" b="1" noProof="0" dirty="0">
                <a:solidFill>
                  <a:srgbClr val="7030A0"/>
                </a:solidFill>
              </a:rPr>
              <a:t>Asymptotische Notation</a:t>
            </a:r>
            <a:r>
              <a:rPr lang="de-DE" noProof="0" dirty="0"/>
              <a:t>: Funktion </a:t>
            </a:r>
            <a:r>
              <a:rPr lang="de-DE" noProof="0" dirty="0">
                <a:sym typeface="Wingdings" panose="05000000000000000000" pitchFamily="2" charset="2"/>
              </a:rPr>
              <a:t> </a:t>
            </a:r>
            <a:r>
              <a:rPr lang="de-DE" noProof="0" dirty="0"/>
              <a:t>Wachstumsordnung, die das asymptotische Verhalten beschreibt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D65A34C-DD32-4D95-A748-1CD19B19C21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 dirty="0"/>
              <a:t>Algorithmik – Laufzeitanalyse von Algorithmen durch Asymptotische Notation</a:t>
            </a:r>
          </a:p>
        </p:txBody>
      </p:sp>
      <p:sp>
        <p:nvSpPr>
          <p:cNvPr id="43" name="Datumsplatzhalter 4">
            <a:extLst>
              <a:ext uri="{FF2B5EF4-FFF2-40B4-BE49-F238E27FC236}">
                <a16:creationId xmlns:a16="http://schemas.microsoft.com/office/drawing/2014/main" id="{C49CACB1-F42D-4796-864E-FD26686478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C55095-590B-4AAB-8606-0F86796D070A}" type="datetime1">
              <a:rPr lang="de-DE" smtClean="0"/>
              <a:pPr/>
              <a:t>30.01.2026</a:t>
            </a:fld>
            <a:endParaRPr lang="de-DE" dirty="0"/>
          </a:p>
        </p:txBody>
      </p:sp>
      <p:sp>
        <p:nvSpPr>
          <p:cNvPr id="44" name="Foliennummernplatzhalter 5">
            <a:extLst>
              <a:ext uri="{FF2B5EF4-FFF2-40B4-BE49-F238E27FC236}">
                <a16:creationId xmlns:a16="http://schemas.microsoft.com/office/drawing/2014/main" id="{587A8A6C-1380-4BD3-AD0E-8ED916D23F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56" name="Google Shape;656;p18"/>
          <p:cNvSpPr/>
          <p:nvPr/>
        </p:nvSpPr>
        <p:spPr>
          <a:xfrm>
            <a:off x="9750282" y="1916034"/>
            <a:ext cx="1700153" cy="11057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Wachstums-ordnung</a:t>
            </a:r>
            <a:endParaRPr sz="2400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9472751" y="2276767"/>
            <a:ext cx="532515" cy="385780"/>
          </a:xfrm>
          <a:prstGeom prst="flowChartCollat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8" name="Google Shape;658;p18"/>
          <p:cNvSpPr/>
          <p:nvPr/>
        </p:nvSpPr>
        <p:spPr>
          <a:xfrm rot="5400000">
            <a:off x="9415387" y="2327652"/>
            <a:ext cx="385780" cy="284010"/>
          </a:xfrm>
          <a:prstGeom prst="triangle">
            <a:avLst>
              <a:gd name="adj" fmla="val 50000"/>
            </a:avLst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1998245" y="1916034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1998245" y="2656060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2364005" y="1916034"/>
            <a:ext cx="2455665" cy="1105786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2" name="Google Shape;662;p18"/>
          <p:cNvSpPr/>
          <p:nvPr/>
        </p:nvSpPr>
        <p:spPr>
          <a:xfrm>
            <a:off x="6438073" y="1916034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6438073" y="2656060"/>
            <a:ext cx="365760" cy="365760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6803833" y="1916034"/>
            <a:ext cx="2668772" cy="1105786"/>
          </a:xfrm>
          <a:prstGeom prst="rect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5" name="Google Shape;665;p18"/>
          <p:cNvSpPr/>
          <p:nvPr/>
        </p:nvSpPr>
        <p:spPr>
          <a:xfrm flipH="1">
            <a:off x="6090047" y="2287462"/>
            <a:ext cx="1061359" cy="357006"/>
          </a:xfrm>
          <a:prstGeom prst="flowChartOnlineStorag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6" name="Google Shape;666;p18"/>
          <p:cNvSpPr/>
          <p:nvPr/>
        </p:nvSpPr>
        <p:spPr>
          <a:xfrm flipH="1">
            <a:off x="4163056" y="2281794"/>
            <a:ext cx="965902" cy="381164"/>
          </a:xfrm>
          <a:prstGeom prst="flowChartOnlineStorage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7" name="Google Shape;667;p18"/>
          <p:cNvSpPr/>
          <p:nvPr/>
        </p:nvSpPr>
        <p:spPr>
          <a:xfrm flipH="1">
            <a:off x="4944585" y="2279349"/>
            <a:ext cx="1119941" cy="376711"/>
          </a:xfrm>
          <a:prstGeom prst="flowChartOnlineStorag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4814701" y="1914812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4814701" y="265606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881145" y="1916034"/>
            <a:ext cx="1121652" cy="11057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CODE</a:t>
            </a:r>
            <a:endParaRPr dirty="0"/>
          </a:p>
        </p:txBody>
      </p:sp>
      <p:sp>
        <p:nvSpPr>
          <p:cNvPr id="671" name="Google Shape;671;p18"/>
          <p:cNvSpPr/>
          <p:nvPr/>
        </p:nvSpPr>
        <p:spPr>
          <a:xfrm>
            <a:off x="1949073" y="2265740"/>
            <a:ext cx="418989" cy="3968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2" name="Google Shape;672;p18"/>
          <p:cNvSpPr/>
          <p:nvPr/>
        </p:nvSpPr>
        <p:spPr>
          <a:xfrm>
            <a:off x="9472605" y="1918294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9472605" y="2657112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514885" y="1916034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514884" y="2656060"/>
            <a:ext cx="365760" cy="365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6" name="Google Shape;676;p18"/>
          <p:cNvSpPr/>
          <p:nvPr/>
        </p:nvSpPr>
        <p:spPr>
          <a:xfrm rot="5400000">
            <a:off x="11421174" y="2295002"/>
            <a:ext cx="424282" cy="36576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2587093" y="2058122"/>
            <a:ext cx="2044962" cy="79296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C7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78" name="Google Shape;678;p18"/>
          <p:cNvSpPr txBox="1"/>
          <p:nvPr/>
        </p:nvSpPr>
        <p:spPr>
          <a:xfrm>
            <a:off x="2577030" y="2274744"/>
            <a:ext cx="199037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Modellierung</a:t>
            </a:r>
            <a:endParaRPr lang="de-DE" dirty="0"/>
          </a:p>
        </p:txBody>
      </p:sp>
      <p:sp>
        <p:nvSpPr>
          <p:cNvPr id="679" name="Google Shape;679;p18"/>
          <p:cNvSpPr/>
          <p:nvPr/>
        </p:nvSpPr>
        <p:spPr>
          <a:xfrm flipH="1">
            <a:off x="5677559" y="2276767"/>
            <a:ext cx="1119941" cy="376711"/>
          </a:xfrm>
          <a:prstGeom prst="flowChartOnlineStorag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5176839" y="1916034"/>
            <a:ext cx="1662037" cy="11057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LAUFZEIT</a:t>
            </a:r>
            <a:br>
              <a:rPr lang="de-DE" sz="1400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de-DE" b="1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FUNKTION</a:t>
            </a:r>
            <a:endParaRPr dirty="0"/>
          </a:p>
        </p:txBody>
      </p:sp>
      <p:sp>
        <p:nvSpPr>
          <p:cNvPr id="681" name="Google Shape;681;p18"/>
          <p:cNvSpPr/>
          <p:nvPr/>
        </p:nvSpPr>
        <p:spPr>
          <a:xfrm flipH="1">
            <a:off x="6961995" y="2282492"/>
            <a:ext cx="1119941" cy="376711"/>
          </a:xfrm>
          <a:prstGeom prst="flowChartOnlineStorage">
            <a:avLst/>
          </a:prstGeom>
          <a:solidFill>
            <a:srgbClr val="9EC0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7239672" y="2074362"/>
            <a:ext cx="2279208" cy="79296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C7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7138837" y="2279362"/>
            <a:ext cx="237371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Asymptotische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dirty="0"/>
          </a:p>
        </p:txBody>
      </p:sp>
      <p:sp>
        <p:nvSpPr>
          <p:cNvPr id="685" name="Google Shape;685;p18"/>
          <p:cNvSpPr/>
          <p:nvPr/>
        </p:nvSpPr>
        <p:spPr>
          <a:xfrm>
            <a:off x="3041941" y="1349370"/>
            <a:ext cx="762636" cy="762636"/>
          </a:xfrm>
          <a:prstGeom prst="ellipse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686" name="Google Shape;686;p18"/>
          <p:cNvSpPr/>
          <p:nvPr/>
        </p:nvSpPr>
        <p:spPr>
          <a:xfrm>
            <a:off x="7814190" y="1343402"/>
            <a:ext cx="762636" cy="762636"/>
          </a:xfrm>
          <a:prstGeom prst="ellipse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687" name="Google Shape;687;p18"/>
          <p:cNvSpPr/>
          <p:nvPr/>
        </p:nvSpPr>
        <p:spPr>
          <a:xfrm rot="-5400000">
            <a:off x="5927058" y="-1061051"/>
            <a:ext cx="124201" cy="10435884"/>
          </a:xfrm>
          <a:prstGeom prst="leftBracket">
            <a:avLst>
              <a:gd name="adj" fmla="val 99903"/>
            </a:avLst>
          </a:prstGeom>
          <a:noFill/>
          <a:ln w="57150" cap="flat" cmpd="sng">
            <a:solidFill>
              <a:srgbClr val="9B8AB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12700" dir="54000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688" name="Google Shape;688;p18"/>
          <p:cNvCxnSpPr/>
          <p:nvPr/>
        </p:nvCxnSpPr>
        <p:spPr>
          <a:xfrm rot="10800000">
            <a:off x="2254577" y="4218992"/>
            <a:ext cx="0" cy="230272"/>
          </a:xfrm>
          <a:prstGeom prst="straightConnector1">
            <a:avLst/>
          </a:prstGeom>
          <a:noFill/>
          <a:ln w="57150" cap="flat" cmpd="sng">
            <a:solidFill>
              <a:srgbClr val="9B8AB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89" name="Google Shape;689;p18"/>
          <p:cNvSpPr txBox="1"/>
          <p:nvPr/>
        </p:nvSpPr>
        <p:spPr>
          <a:xfrm>
            <a:off x="473069" y="3099639"/>
            <a:ext cx="266932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 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n; 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a[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1;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b[</a:t>
            </a:r>
            <a:r>
              <a:rPr lang="en-U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2;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/>
          </a:p>
        </p:txBody>
      </p:sp>
      <p:sp>
        <p:nvSpPr>
          <p:cNvPr id="690" name="Google Shape;690;p18"/>
          <p:cNvSpPr txBox="1"/>
          <p:nvPr/>
        </p:nvSpPr>
        <p:spPr>
          <a:xfrm>
            <a:off x="10232308" y="3110906"/>
            <a:ext cx="7360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sz="1600" dirty="0"/>
          </a:p>
        </p:txBody>
      </p:sp>
      <p:sp>
        <p:nvSpPr>
          <p:cNvPr id="691" name="Google Shape;691;p18"/>
          <p:cNvSpPr txBox="1"/>
          <p:nvPr/>
        </p:nvSpPr>
        <p:spPr>
          <a:xfrm>
            <a:off x="5371040" y="3110906"/>
            <a:ext cx="126829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f(n) = 2n</a:t>
            </a:r>
            <a:endParaRPr sz="1600" dirty="0"/>
          </a:p>
        </p:txBody>
      </p:sp>
      <p:sp>
        <p:nvSpPr>
          <p:cNvPr id="41" name="Google Shape;257;p13">
            <a:extLst>
              <a:ext uri="{FF2B5EF4-FFF2-40B4-BE49-F238E27FC236}">
                <a16:creationId xmlns:a16="http://schemas.microsoft.com/office/drawing/2014/main" id="{94CBFC99-CF63-4F59-B335-72C9A98AF0B3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CSE 373 20 AU – SCHAFER</a:t>
            </a:r>
          </a:p>
        </p:txBody>
      </p:sp>
      <p:sp>
        <p:nvSpPr>
          <p:cNvPr id="42" name="Google Shape;257;p13">
            <a:extLst>
              <a:ext uri="{FF2B5EF4-FFF2-40B4-BE49-F238E27FC236}">
                <a16:creationId xmlns:a16="http://schemas.microsoft.com/office/drawing/2014/main" id="{75F9AB88-4985-49E1-8165-03BA26AB7BF2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4E14EAE-F586-4704-B989-CB89828251C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public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method2(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0;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i = 0;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while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(i &lt;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int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j = 0;    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while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(j &lt; n)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if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(j % 2 == 0) {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    // do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nothing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=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+ (i * 3) + j;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    j = j + 1;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    i = i + 1;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   }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return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 </a:t>
            </a:r>
            <a:r>
              <a:rPr lang="de-DE" noProof="0" dirty="0" err="1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sum</a:t>
            </a: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;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noProof="0" dirty="0">
                <a:solidFill>
                  <a:schemeClr val="dk1"/>
                </a:solidFill>
                <a:latin typeface="Courier New" panose="02070309020205020404" pitchFamily="49" charset="0"/>
                <a:ea typeface="Consolas"/>
                <a:cs typeface="Courier New" panose="02070309020205020404" pitchFamily="49" charset="0"/>
                <a:sym typeface="Consolas"/>
              </a:rPr>
              <a:t>}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C0F9B-36CF-439E-9A1D-0BBFBE886D3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 dirty="0"/>
              <a:t>Algorithmik – Laufzeitanalyse von Algorithmen durch Asymptotische Notation</a:t>
            </a:r>
          </a:p>
        </p:txBody>
      </p:sp>
      <p:sp>
        <p:nvSpPr>
          <p:cNvPr id="758" name="Google Shape;758;p22"/>
          <p:cNvSpPr/>
          <p:nvPr/>
        </p:nvSpPr>
        <p:spPr>
          <a:xfrm>
            <a:off x="3764501" y="1852223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59" name="Google Shape;759;p22"/>
          <p:cNvSpPr/>
          <p:nvPr/>
        </p:nvSpPr>
        <p:spPr>
          <a:xfrm>
            <a:off x="3507612" y="2177350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60" name="Google Shape;760;p22"/>
          <p:cNvSpPr/>
          <p:nvPr/>
        </p:nvSpPr>
        <p:spPr>
          <a:xfrm>
            <a:off x="4278278" y="2475261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61" name="Google Shape;761;p22"/>
          <p:cNvSpPr/>
          <p:nvPr/>
        </p:nvSpPr>
        <p:spPr>
          <a:xfrm>
            <a:off x="5892432" y="3406728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dirty="0"/>
          </a:p>
        </p:txBody>
      </p:sp>
      <p:sp>
        <p:nvSpPr>
          <p:cNvPr id="762" name="Google Shape;762;p22"/>
          <p:cNvSpPr/>
          <p:nvPr/>
        </p:nvSpPr>
        <p:spPr>
          <a:xfrm>
            <a:off x="3889192" y="5576698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/>
          </a:p>
        </p:txBody>
      </p:sp>
      <p:sp>
        <p:nvSpPr>
          <p:cNvPr id="763" name="Google Shape;763;p22"/>
          <p:cNvSpPr/>
          <p:nvPr/>
        </p:nvSpPr>
        <p:spPr>
          <a:xfrm>
            <a:off x="7241599" y="3105834"/>
            <a:ext cx="296533" cy="1992639"/>
          </a:xfrm>
          <a:prstGeom prst="rightBrace">
            <a:avLst>
              <a:gd name="adj1" fmla="val 56789"/>
              <a:gd name="adj2" fmla="val 50000"/>
            </a:avLst>
          </a:prstGeom>
          <a:noFill/>
          <a:ln w="38100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64" name="Google Shape;764;p22"/>
          <p:cNvSpPr/>
          <p:nvPr/>
        </p:nvSpPr>
        <p:spPr>
          <a:xfrm>
            <a:off x="7690095" y="3945937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+9</a:t>
            </a:r>
            <a:endParaRPr dirty="0"/>
          </a:p>
        </p:txBody>
      </p:sp>
      <p:grpSp>
        <p:nvGrpSpPr>
          <p:cNvPr id="765" name="Google Shape;765;p22"/>
          <p:cNvGrpSpPr/>
          <p:nvPr/>
        </p:nvGrpSpPr>
        <p:grpSpPr>
          <a:xfrm>
            <a:off x="8438680" y="3821525"/>
            <a:ext cx="552870" cy="552870"/>
            <a:chOff x="7574669" y="3536256"/>
            <a:chExt cx="552870" cy="552870"/>
          </a:xfrm>
        </p:grpSpPr>
        <p:sp>
          <p:nvSpPr>
            <p:cNvPr id="766" name="Google Shape;766;p22"/>
            <p:cNvSpPr/>
            <p:nvPr/>
          </p:nvSpPr>
          <p:spPr>
            <a:xfrm>
              <a:off x="7574669" y="3536256"/>
              <a:ext cx="552870" cy="55287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22"/>
            <p:cNvSpPr txBox="1"/>
            <p:nvPr/>
          </p:nvSpPr>
          <p:spPr>
            <a:xfrm>
              <a:off x="7639474" y="3628025"/>
              <a:ext cx="423261" cy="369332"/>
            </a:xfrm>
            <a:prstGeom prst="rect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*n</a:t>
              </a:r>
              <a:endParaRPr dirty="0"/>
            </a:p>
          </p:txBody>
        </p:sp>
      </p:grpSp>
      <p:sp>
        <p:nvSpPr>
          <p:cNvPr id="768" name="Google Shape;768;p22"/>
          <p:cNvSpPr txBox="1"/>
          <p:nvPr/>
        </p:nvSpPr>
        <p:spPr>
          <a:xfrm>
            <a:off x="7602938" y="3129309"/>
            <a:ext cx="18320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Innere Schleife läuft n-mal</a:t>
            </a:r>
            <a:endParaRPr dirty="0"/>
          </a:p>
        </p:txBody>
      </p:sp>
      <p:sp>
        <p:nvSpPr>
          <p:cNvPr id="769" name="Google Shape;769;p22"/>
          <p:cNvSpPr/>
          <p:nvPr/>
        </p:nvSpPr>
        <p:spPr>
          <a:xfrm>
            <a:off x="8586634" y="971774"/>
            <a:ext cx="2898900" cy="1150800"/>
          </a:xfrm>
          <a:prstGeom prst="rect">
            <a:avLst/>
          </a:prstGeom>
          <a:solidFill>
            <a:srgbClr val="4C32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f(n) = (9n+4)n + 3</a:t>
            </a:r>
            <a:endParaRPr dirty="0"/>
          </a:p>
        </p:txBody>
      </p:sp>
      <p:sp>
        <p:nvSpPr>
          <p:cNvPr id="770" name="Google Shape;770;p22"/>
          <p:cNvSpPr/>
          <p:nvPr/>
        </p:nvSpPr>
        <p:spPr>
          <a:xfrm>
            <a:off x="4137357" y="2803857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71" name="Google Shape;771;p22"/>
          <p:cNvSpPr/>
          <p:nvPr/>
        </p:nvSpPr>
        <p:spPr>
          <a:xfrm>
            <a:off x="4940327" y="3092516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endParaRPr dirty="0"/>
          </a:p>
        </p:txBody>
      </p:sp>
      <p:sp>
        <p:nvSpPr>
          <p:cNvPr id="772" name="Google Shape;772;p22"/>
          <p:cNvSpPr/>
          <p:nvPr/>
        </p:nvSpPr>
        <p:spPr>
          <a:xfrm>
            <a:off x="4788532" y="4641895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/>
          </a:p>
        </p:txBody>
      </p:sp>
      <p:sp>
        <p:nvSpPr>
          <p:cNvPr id="773" name="Google Shape;773;p22"/>
          <p:cNvSpPr/>
          <p:nvPr/>
        </p:nvSpPr>
        <p:spPr>
          <a:xfrm>
            <a:off x="4040904" y="5249482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+2</a:t>
            </a:r>
            <a:endParaRPr dirty="0"/>
          </a:p>
        </p:txBody>
      </p:sp>
      <p:sp>
        <p:nvSpPr>
          <p:cNvPr id="774" name="Google Shape;774;p22"/>
          <p:cNvSpPr/>
          <p:nvPr/>
        </p:nvSpPr>
        <p:spPr>
          <a:xfrm>
            <a:off x="6575859" y="4328129"/>
            <a:ext cx="51377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+4</a:t>
            </a:r>
            <a:endParaRPr/>
          </a:p>
        </p:txBody>
      </p:sp>
      <p:sp>
        <p:nvSpPr>
          <p:cNvPr id="775" name="Google Shape;775;p22"/>
          <p:cNvSpPr/>
          <p:nvPr/>
        </p:nvSpPr>
        <p:spPr>
          <a:xfrm>
            <a:off x="9544475" y="2481396"/>
            <a:ext cx="296533" cy="3072132"/>
          </a:xfrm>
          <a:prstGeom prst="rightBrace">
            <a:avLst>
              <a:gd name="adj1" fmla="val 56789"/>
              <a:gd name="adj2" fmla="val 50000"/>
            </a:avLst>
          </a:prstGeom>
          <a:noFill/>
          <a:ln w="38100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6" name="Google Shape;776;p22"/>
          <p:cNvSpPr/>
          <p:nvPr/>
        </p:nvSpPr>
        <p:spPr>
          <a:xfrm>
            <a:off x="9986157" y="3857166"/>
            <a:ext cx="1005867" cy="304046"/>
          </a:xfrm>
          <a:prstGeom prst="roundRect">
            <a:avLst>
              <a:gd name="adj" fmla="val 16667"/>
            </a:avLst>
          </a:prstGeom>
          <a:solidFill>
            <a:srgbClr val="9B8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9n + 4</a:t>
            </a:r>
            <a:endParaRPr dirty="0"/>
          </a:p>
        </p:txBody>
      </p:sp>
      <p:grpSp>
        <p:nvGrpSpPr>
          <p:cNvPr id="777" name="Google Shape;777;p22"/>
          <p:cNvGrpSpPr/>
          <p:nvPr/>
        </p:nvGrpSpPr>
        <p:grpSpPr>
          <a:xfrm>
            <a:off x="11219403" y="3736518"/>
            <a:ext cx="552870" cy="552870"/>
            <a:chOff x="7574669" y="3536256"/>
            <a:chExt cx="552870" cy="552870"/>
          </a:xfrm>
        </p:grpSpPr>
        <p:sp>
          <p:nvSpPr>
            <p:cNvPr id="778" name="Google Shape;778;p22"/>
            <p:cNvSpPr/>
            <p:nvPr/>
          </p:nvSpPr>
          <p:spPr>
            <a:xfrm>
              <a:off x="7574669" y="3536256"/>
              <a:ext cx="552870" cy="552870"/>
            </a:xfrm>
            <a:prstGeom prst="ellipse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2"/>
            <p:cNvSpPr txBox="1"/>
            <p:nvPr/>
          </p:nvSpPr>
          <p:spPr>
            <a:xfrm>
              <a:off x="7639474" y="3628025"/>
              <a:ext cx="423261" cy="369332"/>
            </a:xfrm>
            <a:prstGeom prst="rect">
              <a:avLst/>
            </a:prstGeom>
            <a:solidFill>
              <a:srgbClr val="B6A47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*n</a:t>
              </a:r>
              <a:endParaRPr dirty="0"/>
            </a:p>
          </p:txBody>
        </p:sp>
      </p:grpSp>
      <p:sp>
        <p:nvSpPr>
          <p:cNvPr id="780" name="Google Shape;780;p22"/>
          <p:cNvSpPr txBox="1"/>
          <p:nvPr/>
        </p:nvSpPr>
        <p:spPr>
          <a:xfrm>
            <a:off x="10275455" y="3059653"/>
            <a:ext cx="17435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Äußere Schleife läuft n-mal</a:t>
            </a:r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6A02B41-9DB1-4C6D-AAD3-ECD4AEA2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Code Modellierung </a:t>
            </a:r>
            <a:br>
              <a:rPr lang="de-DE" noProof="0" dirty="0"/>
            </a:br>
            <a:r>
              <a:rPr lang="de-DE" sz="2000" noProof="0" dirty="0"/>
              <a:t>Beispiel 2</a:t>
            </a:r>
            <a:endParaRPr lang="de-DE" noProof="0" dirty="0"/>
          </a:p>
        </p:txBody>
      </p:sp>
      <p:sp>
        <p:nvSpPr>
          <p:cNvPr id="32" name="Google Shape;257;p13">
            <a:extLst>
              <a:ext uri="{FF2B5EF4-FFF2-40B4-BE49-F238E27FC236}">
                <a16:creationId xmlns:a16="http://schemas.microsoft.com/office/drawing/2014/main" id="{0A68E42F-6C45-447E-9231-FB8F810495F8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CSE 373 20 AU – SCHAFER</a:t>
            </a:r>
          </a:p>
        </p:txBody>
      </p:sp>
      <p:sp>
        <p:nvSpPr>
          <p:cNvPr id="33" name="Google Shape;257;p13">
            <a:extLst>
              <a:ext uri="{FF2B5EF4-FFF2-40B4-BE49-F238E27FC236}">
                <a16:creationId xmlns:a16="http://schemas.microsoft.com/office/drawing/2014/main" id="{9C3AAB72-B8FE-4AF4-8E54-FB17F40605FF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  <p:sp>
        <p:nvSpPr>
          <p:cNvPr id="31" name="Datumsplatzhalter 4">
            <a:extLst>
              <a:ext uri="{FF2B5EF4-FFF2-40B4-BE49-F238E27FC236}">
                <a16:creationId xmlns:a16="http://schemas.microsoft.com/office/drawing/2014/main" id="{1D3BAF9C-2C3C-4DE9-95B8-EF12E0F9544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06500" y="6011863"/>
            <a:ext cx="1295400" cy="179387"/>
          </a:xfrm>
        </p:spPr>
        <p:txBody>
          <a:bodyPr/>
          <a:lstStyle/>
          <a:p>
            <a:fld id="{97C55095-590B-4AAB-8606-0F86796D070A}" type="datetime1">
              <a:rPr lang="de-DE" smtClean="0"/>
              <a:pPr/>
              <a:t>30.01.2026</a:t>
            </a:fld>
            <a:endParaRPr lang="de-DE" dirty="0"/>
          </a:p>
        </p:txBody>
      </p:sp>
      <p:sp>
        <p:nvSpPr>
          <p:cNvPr id="34" name="Foliennummernplatzhalter 5">
            <a:extLst>
              <a:ext uri="{FF2B5EF4-FFF2-40B4-BE49-F238E27FC236}">
                <a16:creationId xmlns:a16="http://schemas.microsoft.com/office/drawing/2014/main" id="{1C577E6E-BCBF-4C5E-800A-8C6E8A3293E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06500" y="6361113"/>
            <a:ext cx="1295400" cy="214312"/>
          </a:xfrm>
        </p:spPr>
        <p:txBody>
          <a:bodyPr/>
          <a:lstStyle/>
          <a:p>
            <a:r>
              <a:rPr lang="de-DE"/>
              <a:t>Seite </a:t>
            </a:r>
            <a:fld id="{43310F81-32EE-4F95-9E9C-0BDC6AD52EEC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3E20075B-7A52-4F26-A090-9C63D480AAF3}"/>
              </a:ext>
            </a:extLst>
          </p:cNvPr>
          <p:cNvGrpSpPr>
            <a:grpSpLocks noChangeAspect="1"/>
          </p:cNvGrpSpPr>
          <p:nvPr/>
        </p:nvGrpSpPr>
        <p:grpSpPr>
          <a:xfrm>
            <a:off x="5766996" y="4028691"/>
            <a:ext cx="6238094" cy="1872049"/>
            <a:chOff x="5281611" y="520700"/>
            <a:chExt cx="6723479" cy="2017713"/>
          </a:xfrm>
        </p:grpSpPr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E9773847-59E5-4A70-94A9-D503A9497F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89" r="768" b="4434"/>
            <a:stretch/>
          </p:blipFill>
          <p:spPr>
            <a:xfrm>
              <a:off x="5281613" y="996950"/>
              <a:ext cx="6723477" cy="1541463"/>
            </a:xfrm>
            <a:prstGeom prst="rect">
              <a:avLst/>
            </a:prstGeom>
          </p:spPr>
        </p:pic>
        <p:sp>
          <p:nvSpPr>
            <p:cNvPr id="40" name="Google Shape;921;p27">
              <a:extLst>
                <a:ext uri="{FF2B5EF4-FFF2-40B4-BE49-F238E27FC236}">
                  <a16:creationId xmlns:a16="http://schemas.microsoft.com/office/drawing/2014/main" id="{3CE34F02-980A-4D8E-8EB6-8116A1140FFC}"/>
                </a:ext>
              </a:extLst>
            </p:cNvPr>
            <p:cNvSpPr/>
            <p:nvPr/>
          </p:nvSpPr>
          <p:spPr>
            <a:xfrm>
              <a:off x="5281611" y="520700"/>
              <a:ext cx="6723479" cy="476250"/>
            </a:xfrm>
            <a:prstGeom prst="rect">
              <a:avLst/>
            </a:prstGeom>
            <a:solidFill>
              <a:srgbClr val="4C32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l-GR" sz="2400" dirty="0">
                  <a:solidFill>
                    <a:schemeClr val="lt1"/>
                  </a:solidFill>
                  <a:ea typeface="Quattrocento Sans"/>
                  <a:sym typeface="Quattrocento Sans"/>
                </a:rPr>
                <a:t>Θ</a:t>
              </a:r>
              <a:r>
                <a:rPr lang="en-US" sz="2400" dirty="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-Notation</a:t>
              </a:r>
              <a:endParaRPr dirty="0"/>
            </a:p>
          </p:txBody>
        </p:sp>
      </p:grpSp>
      <p:sp>
        <p:nvSpPr>
          <p:cNvPr id="5" name="Titel 4">
            <a:extLst>
              <a:ext uri="{FF2B5EF4-FFF2-40B4-BE49-F238E27FC236}">
                <a16:creationId xmlns:a16="http://schemas.microsoft.com/office/drawing/2014/main" id="{0AE2A5EC-AC29-4A07-9950-EBAC20C86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 dirty="0"/>
              <a:t>O-, Ω- und Θ-Notation</a:t>
            </a:r>
            <a:br>
              <a:rPr lang="de-DE" noProof="0" dirty="0"/>
            </a:br>
            <a:r>
              <a:rPr lang="de-DE" sz="2000" noProof="0" dirty="0"/>
              <a:t>Übung</a:t>
            </a:r>
            <a:endParaRPr lang="de-DE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2C97A1-C851-43B0-90E0-3AEC3614CFF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de-DE" noProof="0" dirty="0"/>
              <a:t>Welche der folgenden Funktionen ist in O(n²)? Ω(n²)? Θ(n²)?</a:t>
            </a:r>
          </a:p>
          <a:p>
            <a:pPr lvl="0"/>
            <a:endParaRPr lang="de-DE" noProof="0" dirty="0"/>
          </a:p>
          <a:p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8C42085-85F1-46F0-8237-E085BA79C6A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noProof="0"/>
              <a:t>Algorithmik – Laufzeitanalyse von Algorithmen durch Asymptotische Notation</a:t>
            </a:r>
            <a:endParaRPr lang="de-DE" noProof="0" dirty="0"/>
          </a:p>
        </p:txBody>
      </p:sp>
      <p:sp>
        <p:nvSpPr>
          <p:cNvPr id="154" name="Google Shape;154;p2"/>
          <p:cNvSpPr txBox="1"/>
          <p:nvPr/>
        </p:nvSpPr>
        <p:spPr>
          <a:xfrm>
            <a:off x="1578039" y="1987652"/>
            <a:ext cx="1083951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6974" r="-3484" b="-363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578039" y="2775637"/>
            <a:ext cx="1753172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3595" t="-4542" r="-1437" b="-36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578039" y="4273227"/>
            <a:ext cx="227325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2775" t="-4542" r="-1108" b="-3635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578039" y="5048147"/>
            <a:ext cx="1077153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l="-7057" b="-347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1578039" y="3472181"/>
            <a:ext cx="1884618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2682" r="-2010" b="-3477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1213698" y="1964040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213698" y="2734221"/>
            <a:ext cx="3706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213698" y="3412960"/>
            <a:ext cx="3417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1213698" y="4196201"/>
            <a:ext cx="3706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1213698" y="4953318"/>
            <a:ext cx="362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 txBox="1"/>
          <p:nvPr/>
        </p:nvSpPr>
        <p:spPr>
          <a:xfrm>
            <a:off x="1466141" y="2344616"/>
            <a:ext cx="16095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1466141" y="3083525"/>
            <a:ext cx="15680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 txBox="1"/>
          <p:nvPr/>
        </p:nvSpPr>
        <p:spPr>
          <a:xfrm>
            <a:off x="1466141" y="3790540"/>
            <a:ext cx="16095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1466140" y="4631690"/>
            <a:ext cx="15071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O(n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2867710" y="4643570"/>
            <a:ext cx="14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Ω(n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 txBox="1"/>
          <p:nvPr/>
        </p:nvSpPr>
        <p:spPr>
          <a:xfrm>
            <a:off x="1488910" y="5393395"/>
            <a:ext cx="148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Ω(n</a:t>
            </a:r>
            <a:r>
              <a:rPr lang="en-US" sz="1800" b="1" i="0" u="none" strike="noStrike" cap="none" baseline="30000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 dirty="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4300154" y="4639617"/>
            <a:ext cx="141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f(n) ∈ Θ(n</a:t>
            </a:r>
            <a:r>
              <a:rPr lang="en-US" sz="1800" b="1" i="0" u="none" strike="noStrike" cap="none" baseline="30000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1800" b="1" i="0" u="none" strike="noStrike" cap="none">
                <a:solidFill>
                  <a:srgbClr val="4C32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257;p13">
            <a:extLst>
              <a:ext uri="{FF2B5EF4-FFF2-40B4-BE49-F238E27FC236}">
                <a16:creationId xmlns:a16="http://schemas.microsoft.com/office/drawing/2014/main" id="{824F9FD6-3E70-4642-A703-7D59C0007DF0}"/>
              </a:ext>
            </a:extLst>
          </p:cNvPr>
          <p:cNvSpPr txBox="1">
            <a:spLocks/>
          </p:cNvSpPr>
          <p:nvPr/>
        </p:nvSpPr>
        <p:spPr>
          <a:xfrm>
            <a:off x="7499928" y="6407294"/>
            <a:ext cx="2193636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/>
              <a:t>CSE 373 20 SP – CHUN &amp; CHAMPION</a:t>
            </a:r>
            <a:endParaRPr lang="fr-FR" sz="800" dirty="0"/>
          </a:p>
        </p:txBody>
      </p:sp>
      <p:sp>
        <p:nvSpPr>
          <p:cNvPr id="34" name="Google Shape;257;p13">
            <a:extLst>
              <a:ext uri="{FF2B5EF4-FFF2-40B4-BE49-F238E27FC236}">
                <a16:creationId xmlns:a16="http://schemas.microsoft.com/office/drawing/2014/main" id="{A3292C54-6C23-4168-97A3-9A0DDAC6A98E}"/>
              </a:ext>
            </a:extLst>
          </p:cNvPr>
          <p:cNvSpPr txBox="1">
            <a:spLocks/>
          </p:cNvSpPr>
          <p:nvPr/>
        </p:nvSpPr>
        <p:spPr>
          <a:xfrm>
            <a:off x="6881091" y="6150552"/>
            <a:ext cx="2812473" cy="21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9pPr>
          </a:lstStyle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fr-FR" sz="800" dirty="0"/>
              <a:t>Quelle: Data Structures and </a:t>
            </a:r>
            <a:r>
              <a:rPr lang="fr-FR" sz="800" dirty="0" err="1"/>
              <a:t>Algorithms</a:t>
            </a:r>
            <a:r>
              <a:rPr lang="fr-FR" sz="800" dirty="0"/>
              <a:t> (CSE 373), University of Washington, Spring 2022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2260CFE-E139-45C1-A92C-17B8F5C84E3E}"/>
              </a:ext>
            </a:extLst>
          </p:cNvPr>
          <p:cNvGrpSpPr>
            <a:grpSpLocks noChangeAspect="1"/>
          </p:cNvGrpSpPr>
          <p:nvPr/>
        </p:nvGrpSpPr>
        <p:grpSpPr>
          <a:xfrm>
            <a:off x="7426683" y="453359"/>
            <a:ext cx="4578455" cy="1579001"/>
            <a:chOff x="1206001" y="3141826"/>
            <a:chExt cx="4934703" cy="1701863"/>
          </a:xfrm>
        </p:grpSpPr>
        <p:sp>
          <p:nvSpPr>
            <p:cNvPr id="36" name="Google Shape;921;p27">
              <a:extLst>
                <a:ext uri="{FF2B5EF4-FFF2-40B4-BE49-F238E27FC236}">
                  <a16:creationId xmlns:a16="http://schemas.microsoft.com/office/drawing/2014/main" id="{91FDE9D0-1D09-45E3-927C-0BE69EC5823B}"/>
                </a:ext>
              </a:extLst>
            </p:cNvPr>
            <p:cNvSpPr/>
            <p:nvPr/>
          </p:nvSpPr>
          <p:spPr>
            <a:xfrm>
              <a:off x="1206001" y="3141826"/>
              <a:ext cx="4934204" cy="476250"/>
            </a:xfrm>
            <a:prstGeom prst="rect">
              <a:avLst/>
            </a:prstGeom>
            <a:solidFill>
              <a:srgbClr val="4C32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O-Notation</a:t>
              </a:r>
              <a:endParaRPr dirty="0"/>
            </a:p>
          </p:txBody>
        </p: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A7ED0E79-083D-43DE-BF6F-D2510335E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06500" y="3618076"/>
              <a:ext cx="4934204" cy="1225613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473FB23C-EE1B-490F-B7E1-8188A689BFA1}"/>
              </a:ext>
            </a:extLst>
          </p:cNvPr>
          <p:cNvGrpSpPr>
            <a:grpSpLocks noChangeAspect="1"/>
          </p:cNvGrpSpPr>
          <p:nvPr/>
        </p:nvGrpSpPr>
        <p:grpSpPr>
          <a:xfrm>
            <a:off x="7426683" y="2256772"/>
            <a:ext cx="4577992" cy="1567217"/>
            <a:chOff x="7056771" y="520700"/>
            <a:chExt cx="4934204" cy="1689162"/>
          </a:xfrm>
        </p:grpSpPr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DCB8ECC9-E778-453F-96C0-40163BFBB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104399" y="996950"/>
              <a:ext cx="4838949" cy="1212912"/>
            </a:xfrm>
            <a:prstGeom prst="rect">
              <a:avLst/>
            </a:prstGeom>
          </p:spPr>
        </p:pic>
        <p:sp>
          <p:nvSpPr>
            <p:cNvPr id="43" name="Google Shape;921;p27">
              <a:extLst>
                <a:ext uri="{FF2B5EF4-FFF2-40B4-BE49-F238E27FC236}">
                  <a16:creationId xmlns:a16="http://schemas.microsoft.com/office/drawing/2014/main" id="{6175ED36-3BA6-42D3-9AE7-600DB9E0CDE3}"/>
                </a:ext>
              </a:extLst>
            </p:cNvPr>
            <p:cNvSpPr/>
            <p:nvPr/>
          </p:nvSpPr>
          <p:spPr>
            <a:xfrm>
              <a:off x="7056771" y="520700"/>
              <a:ext cx="4934204" cy="476250"/>
            </a:xfrm>
            <a:prstGeom prst="rect">
              <a:avLst/>
            </a:prstGeom>
            <a:solidFill>
              <a:srgbClr val="4C328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l-GR" sz="2400" dirty="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Ω</a:t>
              </a:r>
              <a:r>
                <a:rPr lang="en-US" sz="2400" dirty="0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-Notation</a:t>
              </a:r>
              <a:endParaRPr dirty="0"/>
            </a:p>
          </p:txBody>
        </p:sp>
      </p:grpSp>
      <p:sp>
        <p:nvSpPr>
          <p:cNvPr id="46" name="Datumsplatzhalter 4">
            <a:extLst>
              <a:ext uri="{FF2B5EF4-FFF2-40B4-BE49-F238E27FC236}">
                <a16:creationId xmlns:a16="http://schemas.microsoft.com/office/drawing/2014/main" id="{EB57B1D5-B26A-4627-BFAA-7212FFF7DD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06500" y="6011863"/>
            <a:ext cx="1295400" cy="179387"/>
          </a:xfrm>
        </p:spPr>
        <p:txBody>
          <a:bodyPr/>
          <a:lstStyle/>
          <a:p>
            <a:fld id="{F2D06E3F-368B-43DC-96F3-4B8E65027050}" type="datetime1">
              <a:rPr lang="de-DE" smtClean="0"/>
              <a:pPr/>
              <a:t>30.01.2026</a:t>
            </a:fld>
            <a:endParaRPr lang="de-DE" dirty="0"/>
          </a:p>
        </p:txBody>
      </p:sp>
      <p:sp>
        <p:nvSpPr>
          <p:cNvPr id="47" name="Foliennummernplatzhalter 5">
            <a:extLst>
              <a:ext uri="{FF2B5EF4-FFF2-40B4-BE49-F238E27FC236}">
                <a16:creationId xmlns:a16="http://schemas.microsoft.com/office/drawing/2014/main" id="{E0ABE9D6-255B-4BBC-A0CA-A1EE7528F8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06500" y="6361113"/>
            <a:ext cx="1295400" cy="214312"/>
          </a:xfrm>
        </p:spPr>
        <p:txBody>
          <a:bodyPr/>
          <a:lstStyle/>
          <a:p>
            <a:r>
              <a:rPr lang="de-DE" dirty="0"/>
              <a:t>Seite </a:t>
            </a:r>
            <a:fld id="{43310F81-32EE-4F95-9E9C-0BDC6AD52EEC}" type="slidenum">
              <a:rPr lang="de-DE" smtClean="0"/>
              <a:pPr/>
              <a:t>4</a:t>
            </a:fld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asterfolien_16_9">
  <a:themeElements>
    <a:clrScheme name="TH Köln Spektrum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C00009"/>
      </a:accent1>
      <a:accent2>
        <a:srgbClr val="E24300"/>
      </a:accent2>
      <a:accent3>
        <a:srgbClr val="9D167A"/>
      </a:accent3>
      <a:accent4>
        <a:srgbClr val="00CC00"/>
      </a:accent4>
      <a:accent5>
        <a:srgbClr val="FFFF00"/>
      </a:accent5>
      <a:accent6>
        <a:srgbClr val="259EFF"/>
      </a:accent6>
      <a:hlink>
        <a:srgbClr val="005294"/>
      </a:hlink>
      <a:folHlink>
        <a:srgbClr val="6783B4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  <a:lnDef>
      <a:spPr>
        <a:ln w="12700">
          <a:solidFill>
            <a:schemeClr val="tx1"/>
          </a:solidFill>
          <a:tailEnd type="triangle" w="med" len="lg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k_ln_pptvorlage_16_9_Feb2016_V1.potx" id="{A576FD44-4E46-4723-9FCD-6DC9777E0436}" vid="{1A564047-D60B-4EFF-AAEA-89036AD4D3C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masterfolien_16_9</Template>
  <TotalTime>0</TotalTime>
  <Words>588</Words>
  <Application>Microsoft Office PowerPoint</Application>
  <PresentationFormat>Breitbild</PresentationFormat>
  <Paragraphs>135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6" baseType="lpstr">
      <vt:lpstr>Arial</vt:lpstr>
      <vt:lpstr>Arial </vt:lpstr>
      <vt:lpstr>Calibri</vt:lpstr>
      <vt:lpstr>Consolas</vt:lpstr>
      <vt:lpstr>Courier New</vt:lpstr>
      <vt:lpstr>Montserrat</vt:lpstr>
      <vt:lpstr>Quattrocento Sans</vt:lpstr>
      <vt:lpstr>Symbol</vt:lpstr>
      <vt:lpstr>Tahoma</vt:lpstr>
      <vt:lpstr>Twentieth Century</vt:lpstr>
      <vt:lpstr>Wingdings</vt:lpstr>
      <vt:lpstr>masterfolien_16_9</vt:lpstr>
      <vt:lpstr>Klassifikation der Wachstumsordnung</vt:lpstr>
      <vt:lpstr>Analyse von Algorithmen</vt:lpstr>
      <vt:lpstr>Code Modellierung  Beispiel 2</vt:lpstr>
      <vt:lpstr>O-, Ω- und Θ-Notation Übung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02_Algorithmik_AsymptotischeAnalyse</dc:title>
  <dc:creator>Daniel Gaida</dc:creator>
  <cp:lastModifiedBy>Ivan Kurilin (ikurilin)</cp:lastModifiedBy>
  <cp:revision>971</cp:revision>
  <cp:lastPrinted>2016-02-26T07:58:29Z</cp:lastPrinted>
  <dcterms:created xsi:type="dcterms:W3CDTF">2021-07-17T19:54:54Z</dcterms:created>
  <dcterms:modified xsi:type="dcterms:W3CDTF">2026-01-30T12:36:32Z</dcterms:modified>
</cp:coreProperties>
</file>