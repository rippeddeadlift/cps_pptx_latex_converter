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31" r:id="rId2"/>
    <p:sldId id="1037" r:id="rId3"/>
    <p:sldId id="278" r:id="rId4"/>
    <p:sldId id="279" r:id="rId5"/>
    <p:sldId id="280" r:id="rId6"/>
    <p:sldId id="283" r:id="rId7"/>
    <p:sldId id="257" r:id="rId8"/>
    <p:sldId id="1017" r:id="rId9"/>
  </p:sldIdLst>
  <p:sldSz cx="12192000" cy="6858000"/>
  <p:notesSz cx="6797675" cy="9928225"/>
  <p:defaultTextStyle>
    <a:defPPr>
      <a:defRPr lang="de-DE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Daniel Gaida" initials="DG" lastIdx="1" clrIdx="0"/>
  <p:cmAuthor id="1" name="Sonia Fereidooni" initials="" lastIdx="4" clrIdx="1"/>
  <p:cmAuthor id="2" name="Kasey Champion" initials="" lastIdx="2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121" autoAdjust="0"/>
  </p:normalViewPr>
  <p:slideViewPr>
    <p:cSldViewPr snapToGrid="0" snapToObjects="1">
      <p:cViewPr varScale="1">
        <p:scale>
          <a:sx n="70" d="100"/>
          <a:sy n="70" d="100"/>
        </p:scale>
        <p:origin x="1128" y="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536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28588"/>
            <a:ext cx="3398837" cy="652462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9219" name="Gruppierung 2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7" name="Rechteck 6"/>
            <p:cNvSpPr/>
            <p:nvPr userDrawn="1"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8" name="Rechteck 7"/>
            <p:cNvSpPr/>
            <p:nvPr userDrawn="1"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9" name="Rechteck 8"/>
            <p:cNvSpPr/>
            <p:nvPr userDrawn="1"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9220" name="Rectangle 4"/>
          <p:cNvSpPr>
            <a:spLocks noChangeArrowheads="1"/>
          </p:cNvSpPr>
          <p:nvPr/>
        </p:nvSpPr>
        <p:spPr bwMode="auto">
          <a:xfrm>
            <a:off x="4700588" y="388938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DEABD8D7-DB7D-4262-BD90-67B58EBF3A4F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9221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9096375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Rectangle 10"/>
          <p:cNvSpPr txBox="1">
            <a:spLocks noChangeArrowheads="1"/>
          </p:cNvSpPr>
          <p:nvPr/>
        </p:nvSpPr>
        <p:spPr bwMode="auto">
          <a:xfrm>
            <a:off x="4700588" y="139700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19.12.2025</a:t>
            </a:fld>
            <a:endParaRPr lang="de-DE" sz="900" dirty="0"/>
          </a:p>
        </p:txBody>
      </p:sp>
      <p:sp>
        <p:nvSpPr>
          <p:cNvPr id="14" name="Fußzeilenplatzhalter 3"/>
          <p:cNvSpPr txBox="1">
            <a:spLocks/>
          </p:cNvSpPr>
          <p:nvPr/>
        </p:nvSpPr>
        <p:spPr>
          <a:xfrm>
            <a:off x="1133475" y="9105900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97997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47663" y="744538"/>
            <a:ext cx="4978400" cy="2800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133475" y="3697288"/>
            <a:ext cx="5414963" cy="47847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50813"/>
            <a:ext cx="3398837" cy="482600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7173" name="Gruppierung 1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9" name="Rechteck 8"/>
            <p:cNvSpPr/>
            <p:nvPr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0" name="Rechteck 9"/>
            <p:cNvSpPr/>
            <p:nvPr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1" name="Rechteck 10"/>
            <p:cNvSpPr/>
            <p:nvPr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7174" name="Rectangle 4"/>
          <p:cNvSpPr>
            <a:spLocks noChangeArrowheads="1"/>
          </p:cNvSpPr>
          <p:nvPr/>
        </p:nvSpPr>
        <p:spPr bwMode="auto">
          <a:xfrm>
            <a:off x="4700588" y="411163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461BB4A2-88BF-4F1A-ADC3-F64B0D1FA15C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7175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8851900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Rectangle 10"/>
          <p:cNvSpPr txBox="1">
            <a:spLocks noChangeArrowheads="1"/>
          </p:cNvSpPr>
          <p:nvPr/>
        </p:nvSpPr>
        <p:spPr bwMode="auto">
          <a:xfrm>
            <a:off x="4700588" y="161925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19.12.2025</a:t>
            </a:fld>
            <a:endParaRPr lang="de-DE" sz="900" dirty="0"/>
          </a:p>
        </p:txBody>
      </p:sp>
      <p:sp>
        <p:nvSpPr>
          <p:cNvPr id="15" name="Fußzeilenplatzhalter 3"/>
          <p:cNvSpPr txBox="1">
            <a:spLocks/>
          </p:cNvSpPr>
          <p:nvPr/>
        </p:nvSpPr>
        <p:spPr>
          <a:xfrm>
            <a:off x="1133475" y="8861425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71812562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0216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118b4eb0048_0_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01950" y="220663"/>
            <a:ext cx="1054100" cy="5937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6" name="Google Shape;756;g118b4eb0048_0_551:notes"/>
          <p:cNvSpPr txBox="1">
            <a:spLocks noGrp="1"/>
          </p:cNvSpPr>
          <p:nvPr>
            <p:ph type="body" idx="1"/>
          </p:nvPr>
        </p:nvSpPr>
        <p:spPr>
          <a:xfrm>
            <a:off x="685800" y="848023"/>
            <a:ext cx="5486400" cy="6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7" name="Google Shape;757;g118b4eb0048_0_551:notes"/>
          <p:cNvSpPr txBox="1">
            <a:spLocks noGrp="1"/>
          </p:cNvSpPr>
          <p:nvPr>
            <p:ph type="sldNum" idx="12"/>
          </p:nvPr>
        </p:nvSpPr>
        <p:spPr>
          <a:xfrm>
            <a:off x="3884613" y="1673713"/>
            <a:ext cx="2971800" cy="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5" name="Google Shape;63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5" name="Google Shape;545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seite mit großem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433236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206500" y="4535620"/>
            <a:ext cx="10800000" cy="708217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5455920"/>
            <a:ext cx="10800000" cy="381020"/>
          </a:xfrm>
        </p:spPr>
        <p:txBody>
          <a:bodyPr/>
          <a:lstStyle>
            <a:lvl1pPr>
              <a:lnSpc>
                <a:spcPts val="2200"/>
              </a:lnSpc>
              <a:defRPr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048784-7281-4837-A1AE-FC4A34A747D6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8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BD9B6713-36FE-4B94-85D8-9FA2DCE30A8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4606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ts val="3000"/>
              </a:lnSpc>
              <a:defRPr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1204913" y="1548000"/>
            <a:ext cx="10799762" cy="4320000"/>
          </a:xfrm>
        </p:spPr>
        <p:txBody>
          <a:bodyPr/>
          <a:lstStyle>
            <a:lvl1pPr>
              <a:lnSpc>
                <a:spcPct val="112000"/>
              </a:lnSpc>
              <a:defRPr sz="1800">
                <a:latin typeface="Arial" pitchFamily="34" charset="0"/>
                <a:cs typeface="Arial" pitchFamily="34" charset="0"/>
              </a:defRPr>
            </a:lvl1pPr>
            <a:lvl2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2pPr>
            <a:lvl3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3pPr>
            <a:lvl4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4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021128-E3BC-4510-A597-24FCB75D3A75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43310F81-32EE-4F95-9E9C-0BDC6AD52EE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6447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/>
          <p:cNvSpPr>
            <a:spLocks noGrp="1"/>
          </p:cNvSpPr>
          <p:nvPr>
            <p:ph type="title"/>
          </p:nvPr>
        </p:nvSpPr>
        <p:spPr>
          <a:xfrm>
            <a:off x="1204675" y="3276600"/>
            <a:ext cx="10800000" cy="1356360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ts val="3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1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3067152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4772804"/>
            <a:ext cx="10800000" cy="1031596"/>
          </a:xfrm>
        </p:spPr>
        <p:txBody>
          <a:bodyPr/>
          <a:lstStyle>
            <a:lvl1pPr>
              <a:lnSpc>
                <a:spcPts val="2200"/>
              </a:lnSpc>
              <a:defRPr sz="1800"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4B419C-6100-4ECC-A14C-29389AFC3646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8D2255-8A42-41C6-B7FD-A8F81B1858E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5432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1520825"/>
            <a:ext cx="5220000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 sz="1800"/>
            </a:lvl1pPr>
            <a:lvl2pPr indent="-187200">
              <a:lnSpc>
                <a:spcPct val="112000"/>
              </a:lnSpc>
              <a:spcBef>
                <a:spcPts val="0"/>
              </a:spcBef>
              <a:defRPr sz="1800"/>
            </a:lvl2pPr>
            <a:lvl3pPr>
              <a:lnSpc>
                <a:spcPct val="112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816425" y="1520825"/>
            <a:ext cx="5188665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/>
            </a:lvl1pPr>
            <a:lvl2pPr indent="-187200">
              <a:lnSpc>
                <a:spcPct val="112000"/>
              </a:lnSpc>
              <a:spcBef>
                <a:spcPts val="0"/>
              </a:spcBef>
              <a:defRPr/>
            </a:lvl2pPr>
            <a:lvl3pPr>
              <a:lnSpc>
                <a:spcPct val="112000"/>
              </a:lnSpc>
              <a:spcBef>
                <a:spcPts val="0"/>
              </a:spcBef>
              <a:defRPr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D379B7-331E-424B-A45F-F03D5981C976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10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8EAC3D31-108A-4FE9-91B5-F944D4EE38A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465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Arial 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792149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+mj-lt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"/>
          </p:nvPr>
        </p:nvSpPr>
        <p:spPr>
          <a:xfrm>
            <a:off x="1208242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9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792149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0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5F7EFE-EEF9-40C5-9AEC-F07BD35586E4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2C0031C7-9188-4972-9DD4-DD3C320BBBD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243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19201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F603B7-878E-43D0-A9A1-FA3C2AF87C58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065F7AFB-E617-4306-8E77-B348F91DE56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4437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985212-05E7-49A7-ABD6-673A483CDAE3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3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6339FEA-45E0-4CEE-87DD-55B9FB706592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9977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556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rei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idx="1"/>
          </p:nvPr>
        </p:nvSpPr>
        <p:spPr>
          <a:xfrm>
            <a:off x="1206000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4" name="Bildplatzhalter 2"/>
          <p:cNvSpPr>
            <a:spLocks noGrp="1"/>
          </p:cNvSpPr>
          <p:nvPr>
            <p:ph type="pic" idx="14"/>
          </p:nvPr>
        </p:nvSpPr>
        <p:spPr>
          <a:xfrm>
            <a:off x="4893213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5" name="Textplatzhalter 2"/>
          <p:cNvSpPr>
            <a:spLocks noGrp="1"/>
          </p:cNvSpPr>
          <p:nvPr>
            <p:ph type="body" idx="15"/>
          </p:nvPr>
        </p:nvSpPr>
        <p:spPr>
          <a:xfrm>
            <a:off x="4893213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idx="16"/>
          </p:nvPr>
        </p:nvSpPr>
        <p:spPr>
          <a:xfrm>
            <a:off x="8556149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2"/>
          <p:cNvSpPr>
            <a:spLocks noGrp="1"/>
          </p:cNvSpPr>
          <p:nvPr>
            <p:ph type="body" idx="17"/>
          </p:nvPr>
        </p:nvSpPr>
        <p:spPr>
          <a:xfrm>
            <a:off x="8564241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20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D535EE-90AE-4348-98D3-AFE064A78180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DECBAF-54BF-43CB-A029-D1DF8A041DD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012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echs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2"/>
          <p:cNvSpPr>
            <a:spLocks noGrp="1"/>
          </p:cNvSpPr>
          <p:nvPr>
            <p:ph type="body" idx="27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1" name="Bildplatzhalter 2"/>
          <p:cNvSpPr>
            <a:spLocks noGrp="1"/>
          </p:cNvSpPr>
          <p:nvPr>
            <p:ph type="pic" idx="1"/>
          </p:nvPr>
        </p:nvSpPr>
        <p:spPr>
          <a:xfrm>
            <a:off x="1206000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Textplatzhalter 2"/>
          <p:cNvSpPr>
            <a:spLocks noGrp="1"/>
          </p:cNvSpPr>
          <p:nvPr>
            <p:ph type="body" idx="13"/>
          </p:nvPr>
        </p:nvSpPr>
        <p:spPr>
          <a:xfrm>
            <a:off x="1206000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idx="14"/>
          </p:nvPr>
        </p:nvSpPr>
        <p:spPr>
          <a:xfrm>
            <a:off x="4893213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Textplatzhalter 2"/>
          <p:cNvSpPr>
            <a:spLocks noGrp="1"/>
          </p:cNvSpPr>
          <p:nvPr>
            <p:ph type="body" idx="15"/>
          </p:nvPr>
        </p:nvSpPr>
        <p:spPr>
          <a:xfrm>
            <a:off x="4893213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idx="16"/>
          </p:nvPr>
        </p:nvSpPr>
        <p:spPr>
          <a:xfrm>
            <a:off x="8564241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Textplatzhalter 2"/>
          <p:cNvSpPr>
            <a:spLocks noGrp="1"/>
          </p:cNvSpPr>
          <p:nvPr>
            <p:ph type="body" idx="17"/>
          </p:nvPr>
        </p:nvSpPr>
        <p:spPr>
          <a:xfrm>
            <a:off x="8564241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7" name="Bildplatzhalter 2"/>
          <p:cNvSpPr>
            <a:spLocks noGrp="1"/>
          </p:cNvSpPr>
          <p:nvPr>
            <p:ph type="pic" idx="28"/>
          </p:nvPr>
        </p:nvSpPr>
        <p:spPr>
          <a:xfrm>
            <a:off x="1206000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29"/>
          </p:nvPr>
        </p:nvSpPr>
        <p:spPr>
          <a:xfrm>
            <a:off x="1206000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9" name="Bildplatzhalter 2"/>
          <p:cNvSpPr>
            <a:spLocks noGrp="1"/>
          </p:cNvSpPr>
          <p:nvPr>
            <p:ph type="pic" idx="30"/>
          </p:nvPr>
        </p:nvSpPr>
        <p:spPr>
          <a:xfrm>
            <a:off x="4890512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0" name="Textplatzhalter 2"/>
          <p:cNvSpPr>
            <a:spLocks noGrp="1"/>
          </p:cNvSpPr>
          <p:nvPr>
            <p:ph type="body" idx="31"/>
          </p:nvPr>
        </p:nvSpPr>
        <p:spPr>
          <a:xfrm>
            <a:off x="4890512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1" name="Bildplatzhalter 2"/>
          <p:cNvSpPr>
            <a:spLocks noGrp="1"/>
          </p:cNvSpPr>
          <p:nvPr>
            <p:ph type="pic" idx="32"/>
          </p:nvPr>
        </p:nvSpPr>
        <p:spPr>
          <a:xfrm>
            <a:off x="8558124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2" name="Textplatzhalter 2"/>
          <p:cNvSpPr>
            <a:spLocks noGrp="1"/>
          </p:cNvSpPr>
          <p:nvPr>
            <p:ph type="body" idx="33"/>
          </p:nvPr>
        </p:nvSpPr>
        <p:spPr>
          <a:xfrm>
            <a:off x="8558124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1D907-3A8C-4FA0-AF32-FB476100B44A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16" name="Foliennummernplatzhalter 4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68BD526D-A506-4272-90FB-C6A2218A9A7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53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19499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10867" y="1469681"/>
            <a:ext cx="11368460" cy="3854809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14223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2C26682-0C93-4009-904E-AED28518494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5138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AD1A458-D506-4560-914E-B5421E17A3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5930E3-AAC2-4ADF-925B-A037BED539BF}" type="datetime1">
              <a:rPr lang="de-DE" smtClean="0"/>
              <a:t>19.12.2025</a:t>
            </a:fld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9EFA00E-A96F-4147-9719-EA15ED786BD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>
              <a:defRPr/>
            </a:pPr>
            <a:fld id="{691FC8CA-7D7D-4BF5-97CE-E12CD0B5C87B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82580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0D2A5-F52F-4653-819F-1A37B28B85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fld id="{77078B80-CC76-49E8-922A-90B2CBA19035}" type="datetime1">
              <a:rPr lang="de-DE" smtClean="0"/>
              <a:t>19.12.2025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910964-A49D-4BBE-9507-6315150321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C8488-569A-444F-B796-697E2B83AA9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9885B7-B8B8-4BDF-9399-E15470497E67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76888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3312986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190625" y="2268141"/>
            <a:ext cx="9810750" cy="232171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33159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00201"/>
            <a:ext cx="10363200" cy="1470025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55975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0F1620-6991-468A-986C-DEA71AF2A6A8}" type="datetime1">
              <a:rPr lang="de-DE" smtClean="0"/>
              <a:t>19.12.2025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697EE5-9B1D-48EF-B619-A2DEE0A0DD92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729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Completely 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2397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w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/>
          <p:cNvSpPr>
            <a:spLocks noGrp="1"/>
          </p:cNvSpPr>
          <p:nvPr>
            <p:ph type="title"/>
          </p:nvPr>
        </p:nvSpPr>
        <p:spPr bwMode="auto">
          <a:xfrm>
            <a:off x="1204913" y="520700"/>
            <a:ext cx="10799762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Überschrift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1206500" y="1547813"/>
            <a:ext cx="10799763" cy="4319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</p:txBody>
      </p:sp>
      <p:pic>
        <p:nvPicPr>
          <p:cNvPr id="1028" name="Bild 7" descr="Logo_17pt.wmf"/>
          <p:cNvPicPr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620" y="6000750"/>
            <a:ext cx="1223467" cy="7114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Fußzeilenplatzhalter 3"/>
          <p:cNvSpPr txBox="1">
            <a:spLocks/>
          </p:cNvSpPr>
          <p:nvPr/>
        </p:nvSpPr>
        <p:spPr>
          <a:xfrm>
            <a:off x="2590800" y="6011863"/>
            <a:ext cx="5254625" cy="549275"/>
          </a:xfrm>
          <a:prstGeom prst="rect">
            <a:avLst/>
          </a:prstGeom>
        </p:spPr>
        <p:txBody>
          <a:bodyPr wrap="none"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/>
              <a:t>Prof. Dr. Daniel Gaida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Professor</a:t>
            </a:r>
            <a:r>
              <a:rPr lang="de-DE" sz="900" b="0" baseline="0" dirty="0">
                <a:solidFill>
                  <a:schemeClr val="tx1"/>
                </a:solidFill>
              </a:rPr>
              <a:t> für Cyber-Physische Systeme</a:t>
            </a:r>
            <a:endParaRPr lang="de-DE" sz="900" b="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Fakultät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 und Ingenieurwissenschaften - </a:t>
            </a:r>
            <a:r>
              <a:rPr lang="de-DE" sz="900" b="0" dirty="0">
                <a:solidFill>
                  <a:schemeClr val="tx1"/>
                </a:solidFill>
              </a:rPr>
              <a:t>Institut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</a:t>
            </a:r>
            <a:endParaRPr lang="de-DE" sz="900" dirty="0"/>
          </a:p>
        </p:txBody>
      </p:sp>
      <p:grpSp>
        <p:nvGrpSpPr>
          <p:cNvPr id="1030" name="Gruppierung 11"/>
          <p:cNvGrpSpPr>
            <a:grpSpLocks/>
          </p:cNvGrpSpPr>
          <p:nvPr/>
        </p:nvGrpSpPr>
        <p:grpSpPr bwMode="auto">
          <a:xfrm>
            <a:off x="1204913" y="0"/>
            <a:ext cx="10991850" cy="71438"/>
            <a:chOff x="903819" y="0"/>
            <a:chExt cx="8244000" cy="108000"/>
          </a:xfrm>
        </p:grpSpPr>
        <p:sp>
          <p:nvSpPr>
            <p:cNvPr id="13" name="Rechteck 12"/>
            <p:cNvSpPr/>
            <p:nvPr/>
          </p:nvSpPr>
          <p:spPr bwMode="auto">
            <a:xfrm>
              <a:off x="903819" y="0"/>
              <a:ext cx="2736094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4" name="Rechteck 13"/>
            <p:cNvSpPr/>
            <p:nvPr/>
          </p:nvSpPr>
          <p:spPr bwMode="auto">
            <a:xfrm>
              <a:off x="3639913" y="0"/>
              <a:ext cx="2736094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5" name="Rechteck 14"/>
            <p:cNvSpPr/>
            <p:nvPr/>
          </p:nvSpPr>
          <p:spPr bwMode="auto">
            <a:xfrm>
              <a:off x="6376006" y="0"/>
              <a:ext cx="2771813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cxnSp>
        <p:nvCxnSpPr>
          <p:cNvPr id="16" name="Gerade Verbindung 15"/>
          <p:cNvCxnSpPr/>
          <p:nvPr/>
        </p:nvCxnSpPr>
        <p:spPr>
          <a:xfrm>
            <a:off x="1206500" y="5951538"/>
            <a:ext cx="1098708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1206500" y="6011863"/>
            <a:ext cx="1295400" cy="179387"/>
          </a:xfrm>
          <a:prstGeom prst="rect">
            <a:avLst/>
          </a:prstGeom>
        </p:spPr>
        <p:txBody>
          <a:bodyPr vert="horz" wrap="none" lIns="0" tIns="0" rIns="0" bIns="0" rtlCol="0" anchor="t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9C590BB0-1566-4728-8689-C18D1116058A}" type="datetime1">
              <a:rPr lang="de-DE" smtClean="0"/>
              <a:t>19.12.2025</a:t>
            </a:fld>
            <a:endParaRPr lang="de-DE" dirty="0"/>
          </a:p>
        </p:txBody>
      </p:sp>
      <p:sp>
        <p:nvSpPr>
          <p:cNvPr id="1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1206500" y="6361113"/>
            <a:ext cx="1295400" cy="21431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de-DE"/>
              <a:t>Seite </a:t>
            </a:r>
            <a:fld id="{297CD77D-B4CD-4177-B2B6-FFDA7A317B1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25" r:id="rId8"/>
    <p:sldLayoutId id="2147483714" r:id="rId9"/>
    <p:sldLayoutId id="2147483715" r:id="rId10"/>
    <p:sldLayoutId id="2147483726" r:id="rId11"/>
    <p:sldLayoutId id="2147483727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6" r:id="rId19"/>
  </p:sldLayoutIdLst>
  <p:hf hdr="0" ftr="0"/>
  <p:txStyles>
    <p:titleStyle>
      <a:lvl1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2600" b="1" kern="1200">
          <a:solidFill>
            <a:schemeClr val="tx1"/>
          </a:solidFill>
          <a:latin typeface="Arial"/>
          <a:ea typeface="+mj-ea"/>
          <a:cs typeface="+mj-cs"/>
        </a:defRPr>
      </a:lvl1pPr>
      <a:lvl2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2pPr>
      <a:lvl3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3pPr>
      <a:lvl4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4pPr>
      <a:lvl5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5pPr>
      <a:lvl6pPr marL="4572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6pPr>
      <a:lvl7pPr marL="9144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7pPr>
      <a:lvl8pPr marL="13716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8pPr>
      <a:lvl9pPr marL="18288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9pPr>
    </p:titleStyle>
    <p:bodyStyle>
      <a:lvl1pPr algn="l" defTabSz="457200" rtl="0" eaLnBrk="1" fontAlgn="base" hangingPunct="1">
        <a:lnSpc>
          <a:spcPct val="112000"/>
        </a:lnSpc>
        <a:spcBef>
          <a:spcPct val="0"/>
        </a:spcBef>
        <a:spcAft>
          <a:spcPts val="600"/>
        </a:spcAft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357188" indent="-187200" algn="l" defTabSz="457200" rtl="0" eaLnBrk="1" fontAlgn="base" hangingPunct="1">
        <a:lnSpc>
          <a:spcPct val="112000"/>
        </a:lnSpc>
        <a:spcBef>
          <a:spcPts val="6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41338" indent="-185738" algn="l" defTabSz="457200" rtl="0" eaLnBrk="1" fontAlgn="base" hangingPunct="1">
        <a:lnSpc>
          <a:spcPct val="112000"/>
        </a:lnSpc>
        <a:spcBef>
          <a:spcPts val="4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714375" indent="-187200" algn="l" defTabSz="457200" rtl="0" eaLnBrk="1" fontAlgn="base" hangingPunct="1">
        <a:lnSpc>
          <a:spcPct val="112000"/>
        </a:lnSpc>
        <a:spcBef>
          <a:spcPts val="500"/>
        </a:spcBef>
        <a:spcAft>
          <a:spcPct val="0"/>
        </a:spcAft>
        <a:buClr>
          <a:srgbClr val="9D167A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074738" indent="-177800" algn="l" defTabSz="457200" rtl="0" eaLnBrk="1" fontAlgn="base" hangingPunct="1">
        <a:lnSpc>
          <a:spcPts val="1600"/>
        </a:lnSpc>
        <a:spcBef>
          <a:spcPts val="500"/>
        </a:spcBef>
        <a:spcAft>
          <a:spcPct val="0"/>
        </a:spcAft>
        <a:buFont typeface="Symbol" pitchFamily="18" charset="2"/>
        <a:buChar char="-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igocheatsheet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Lernraum I: Abstrakte Datentypen, Datenstrukturen und Asymptotische 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1"/>
            <a:r>
              <a:rPr lang="de-DE" noProof="0" dirty="0"/>
              <a:t>Abstrakte Datentypen</a:t>
            </a:r>
          </a:p>
          <a:p>
            <a:pPr lvl="2"/>
            <a:r>
              <a:rPr lang="de-DE" noProof="0" dirty="0"/>
              <a:t>Liste, Stapel, Warteschlange, Tabelle (Dictionary)</a:t>
            </a:r>
          </a:p>
          <a:p>
            <a:pPr lvl="1"/>
            <a:r>
              <a:rPr lang="de-DE" noProof="0" dirty="0"/>
              <a:t>Datenstrukturen</a:t>
            </a:r>
          </a:p>
          <a:p>
            <a:pPr lvl="2"/>
            <a:r>
              <a:rPr lang="de-DE" noProof="0" dirty="0"/>
              <a:t>Array, Verkettete Liste</a:t>
            </a:r>
          </a:p>
          <a:p>
            <a:pPr lvl="1"/>
            <a:r>
              <a:rPr lang="de-DE" noProof="0" dirty="0"/>
              <a:t>Implementierungen der Abstrakten Datentypen mit den Datenstrukturen …</a:t>
            </a:r>
          </a:p>
          <a:p>
            <a:pPr lvl="2"/>
            <a:r>
              <a:rPr lang="de-DE" noProof="0" dirty="0"/>
              <a:t>Array</a:t>
            </a:r>
          </a:p>
          <a:p>
            <a:pPr lvl="2"/>
            <a:r>
              <a:rPr lang="de-DE" noProof="0" dirty="0"/>
              <a:t>Verkettete Listen</a:t>
            </a:r>
          </a:p>
          <a:p>
            <a:pPr lvl="1"/>
            <a:r>
              <a:rPr lang="de-DE" noProof="0" dirty="0"/>
              <a:t>Analyse von Laufzeit und Speicherbedarf der Implementierungen</a:t>
            </a:r>
          </a:p>
          <a:p>
            <a:pPr lvl="2"/>
            <a:r>
              <a:rPr lang="de-DE" noProof="0" dirty="0"/>
              <a:t>O-Notation</a:t>
            </a:r>
          </a:p>
          <a:p>
            <a:pPr lvl="1"/>
            <a:r>
              <a:rPr lang="de-DE" noProof="0" dirty="0">
                <a:solidFill>
                  <a:srgbClr val="002060"/>
                </a:solidFill>
              </a:rPr>
              <a:t>Laufzeitanalyse von Algorithmen durch Asymptotische 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O-Notation, Ω-Notation, Θ-Notation</a:t>
            </a:r>
          </a:p>
          <a:p>
            <a:pPr lvl="2"/>
            <a:r>
              <a:rPr lang="de-DE" noProof="0" dirty="0">
                <a:solidFill>
                  <a:srgbClr val="002060"/>
                </a:solidFill>
              </a:rPr>
              <a:t>Fallanalyse: </a:t>
            </a:r>
            <a:r>
              <a:rPr lang="de-DE" noProof="0" dirty="0" err="1">
                <a:solidFill>
                  <a:srgbClr val="002060"/>
                </a:solidFill>
              </a:rPr>
              <a:t>Worst</a:t>
            </a:r>
            <a:r>
              <a:rPr lang="de-DE" noProof="0" dirty="0">
                <a:solidFill>
                  <a:srgbClr val="002060"/>
                </a:solidFill>
              </a:rPr>
              <a:t> Case, Best Case Analyse</a:t>
            </a:r>
          </a:p>
          <a:p>
            <a:pPr lvl="1"/>
            <a:r>
              <a:rPr lang="de-DE" noProof="0" dirty="0"/>
              <a:t>Laufzeitanalyse von Rekursiven Algorithmen durch Asymptotische Notation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19.12.2025</a:t>
            </a:fld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611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60009B3-4363-49E4-9E84-D17A2A067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Klassifikation der Wachstumsordnung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BF10E30-8BF6-4E47-9C16-971F642C6672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DE" b="1" noProof="0" dirty="0">
                <a:sym typeface="Quattrocento Sans"/>
              </a:rPr>
              <a:t>Wachstumsordnung</a:t>
            </a:r>
            <a:r>
              <a:rPr lang="de-DE" noProof="0" dirty="0">
                <a:sym typeface="Quattrocento Sans"/>
              </a:rPr>
              <a:t>: Eine Kategorie der </a:t>
            </a:r>
            <a:r>
              <a:rPr lang="de-DE" noProof="0" dirty="0" err="1">
                <a:sym typeface="Quattrocento Sans"/>
              </a:rPr>
              <a:t>Algorithmeneffizienz</a:t>
            </a:r>
            <a:r>
              <a:rPr lang="de-DE" noProof="0" dirty="0">
                <a:sym typeface="Quattrocento Sans"/>
              </a:rPr>
              <a:t>, die auf dem Verhältnis des Algorithmus zur Eingabegröße n basiert.</a:t>
            </a:r>
            <a:endParaRPr lang="de-DE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4269AE-763D-4E82-8E6D-5C41F31B4DF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Algorithmik – Laufzeitanalyse von Algorithmen durch Asymptotische Notation</a:t>
            </a:r>
          </a:p>
        </p:txBody>
      </p:sp>
      <p:sp>
        <p:nvSpPr>
          <p:cNvPr id="13" name="Datumsplatzhalter 4">
            <a:extLst>
              <a:ext uri="{FF2B5EF4-FFF2-40B4-BE49-F238E27FC236}">
                <a16:creationId xmlns:a16="http://schemas.microsoft.com/office/drawing/2014/main" id="{A10456D1-8DBA-4572-B154-048ED812169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2D06E3F-368B-43DC-96F3-4B8E65027050}" type="datetime1">
              <a:rPr lang="de-DE" smtClean="0"/>
              <a:pPr/>
              <a:t>19.12.2025</a:t>
            </a:fld>
            <a:endParaRPr lang="de-DE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0B566CFB-AD9D-4285-B0FA-4022FC1DBD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2</a:t>
            </a:fld>
            <a:endParaRPr lang="de-DE" dirty="0"/>
          </a:p>
        </p:txBody>
      </p:sp>
      <p:graphicFrame>
        <p:nvGraphicFramePr>
          <p:cNvPr id="762" name="Google Shape;762;g118b4eb0048_0_551"/>
          <p:cNvGraphicFramePr/>
          <p:nvPr/>
        </p:nvGraphicFramePr>
        <p:xfrm>
          <a:off x="323539" y="2398763"/>
          <a:ext cx="6305875" cy="351939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9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Description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O-Notation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Runtime if you double 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1" i="0" u="none" strike="noStrike" cap="none">
                          <a:solidFill>
                            <a:schemeClr val="lt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Example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constant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O(1)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unchanged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Accessing an index of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logarithmic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increases slightly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Binary search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doubles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Looping over an array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log-linear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 log</a:t>
                      </a:r>
                      <a:r>
                        <a:rPr lang="en-US" sz="1400" b="0" i="0" u="none" strike="noStrike" cap="none" baseline="-25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n)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slightly more than doubles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Merge sort algorithm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quadratic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O(n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quadruples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Nested loops!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...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exponential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O(2</a:t>
                      </a:r>
                      <a:r>
                        <a:rPr lang="en-US" sz="1400" b="0" i="0" u="none" strike="noStrike" cap="none" baseline="30000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n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)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multiplies drastically</a:t>
                      </a:r>
                      <a:endParaRPr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ahoma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Fibonacci with recursion</a:t>
                      </a:r>
                      <a:endParaRPr dirty="0"/>
                    </a:p>
                  </a:txBody>
                  <a:tcPr marL="91450" marR="91450" marT="39675" marB="39675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763" name="Google Shape;763;g118b4eb0048_0_551" descr="A screenshot of a cell phone &#10; &#10;Description automatically generated"/>
          <p:cNvPicPr preferRelativeResize="0"/>
          <p:nvPr/>
        </p:nvPicPr>
        <p:blipFill rotWithShape="1">
          <a:blip r:embed="rId3">
            <a:alphaModFix/>
          </a:blip>
          <a:srcRect l="2998" r="1216"/>
          <a:stretch/>
        </p:blipFill>
        <p:spPr>
          <a:xfrm>
            <a:off x="6757172" y="2490907"/>
            <a:ext cx="5257027" cy="339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57;p13">
            <a:extLst>
              <a:ext uri="{FF2B5EF4-FFF2-40B4-BE49-F238E27FC236}">
                <a16:creationId xmlns:a16="http://schemas.microsoft.com/office/drawing/2014/main" id="{CE1432C9-CB2C-40A1-8170-B8B800E599CD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>
                <a:hlinkClick r:id="rId4"/>
              </a:rPr>
              <a:t>https://www.bigocheatsheet.com/</a:t>
            </a:r>
            <a:endParaRPr lang="fr-FR" sz="800" dirty="0"/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23459359-D54E-428A-A915-A5906FE83C94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6CC7B3D-4080-4B83-AC42-CCFDD12CF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in O-Notation umwandeln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270EAB6-3E9B-4BB1-9A90-F6D344A3570F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r>
              <a:rPr lang="de-DE" noProof="0" dirty="0"/>
              <a:t>Bisher: “O(1) bedeutet keine Schleifen, O(n) ist eine Schleife, O(n</a:t>
            </a:r>
            <a:r>
              <a:rPr lang="de-DE" baseline="30000" noProof="0" dirty="0"/>
              <a:t>2</a:t>
            </a:r>
            <a:r>
              <a:rPr lang="de-DE" noProof="0" dirty="0"/>
              <a:t>) ist verschachtelte Schleife”</a:t>
            </a:r>
          </a:p>
          <a:p>
            <a:pPr lvl="1"/>
            <a:r>
              <a:rPr lang="de-DE" noProof="0" dirty="0"/>
              <a:t>Das ist weiterhin nützlich!</a:t>
            </a:r>
          </a:p>
          <a:p>
            <a:pPr lvl="1"/>
            <a:r>
              <a:rPr lang="de-DE" noProof="0" dirty="0"/>
              <a:t>In diesem Modul gehen wir mehr ins Detail: Damit wir auch komplizierteren Code in die O-Notation umwandeln können</a:t>
            </a:r>
          </a:p>
          <a:p>
            <a:endParaRPr lang="de-DE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8A238EC-29FE-40B3-A04F-8D8B9DF6AE6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16" name="Datumsplatzhalter 4">
            <a:extLst>
              <a:ext uri="{FF2B5EF4-FFF2-40B4-BE49-F238E27FC236}">
                <a16:creationId xmlns:a16="http://schemas.microsoft.com/office/drawing/2014/main" id="{1239DAA0-ADA5-486A-9B09-2647D7872B2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19.12.2025</a:t>
            </a:fld>
            <a:endParaRPr lang="de-DE" dirty="0"/>
          </a:p>
        </p:txBody>
      </p:sp>
      <p:sp>
        <p:nvSpPr>
          <p:cNvPr id="17" name="Foliennummernplatzhalter 5">
            <a:extLst>
              <a:ext uri="{FF2B5EF4-FFF2-40B4-BE49-F238E27FC236}">
                <a16:creationId xmlns:a16="http://schemas.microsoft.com/office/drawing/2014/main" id="{63C5F54C-8400-49FE-A6AE-03F11E0FEFC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40" name="Google Shape;640;p17"/>
          <p:cNvSpPr/>
          <p:nvPr/>
        </p:nvSpPr>
        <p:spPr>
          <a:xfrm>
            <a:off x="3961081" y="2300906"/>
            <a:ext cx="5474525" cy="52174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42" name="Google Shape;642;p17"/>
          <p:cNvSpPr/>
          <p:nvPr/>
        </p:nvSpPr>
        <p:spPr>
          <a:xfrm>
            <a:off x="1711196" y="1905819"/>
            <a:ext cx="1878856" cy="1105786"/>
          </a:xfrm>
          <a:prstGeom prst="rect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/>
          </a:p>
        </p:txBody>
      </p:sp>
      <p:sp>
        <p:nvSpPr>
          <p:cNvPr id="643" name="Google Shape;643;p17"/>
          <p:cNvSpPr/>
          <p:nvPr/>
        </p:nvSpPr>
        <p:spPr>
          <a:xfrm>
            <a:off x="9636422" y="1901156"/>
            <a:ext cx="1878856" cy="1105786"/>
          </a:xfrm>
          <a:prstGeom prst="rect">
            <a:avLst/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O-Notation</a:t>
            </a:r>
            <a:endParaRPr dirty="0"/>
          </a:p>
        </p:txBody>
      </p:sp>
      <p:sp>
        <p:nvSpPr>
          <p:cNvPr id="644" name="Google Shape;644;p17"/>
          <p:cNvSpPr/>
          <p:nvPr/>
        </p:nvSpPr>
        <p:spPr>
          <a:xfrm>
            <a:off x="4938446" y="1323171"/>
            <a:ext cx="3349582" cy="2431473"/>
          </a:xfrm>
          <a:prstGeom prst="cloud">
            <a:avLst/>
          </a:prstGeom>
          <a:solidFill>
            <a:srgbClr val="B6A4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645" name="Google Shape;645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85099" y="1887398"/>
            <a:ext cx="2376086" cy="1335360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17"/>
          <p:cNvSpPr txBox="1"/>
          <p:nvPr/>
        </p:nvSpPr>
        <p:spPr>
          <a:xfrm>
            <a:off x="1155663" y="3230585"/>
            <a:ext cx="340248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for (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0;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&lt; n; 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++) {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a[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1;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b[</a:t>
            </a:r>
            <a:r>
              <a:rPr lang="en-US" sz="160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 = 2;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47" name="Google Shape;647;p17"/>
          <p:cNvSpPr txBox="1"/>
          <p:nvPr/>
        </p:nvSpPr>
        <p:spPr>
          <a:xfrm>
            <a:off x="10252684" y="3124923"/>
            <a:ext cx="64633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O(n)</a:t>
            </a:r>
            <a:endParaRPr dirty="0"/>
          </a:p>
        </p:txBody>
      </p:sp>
      <p:sp>
        <p:nvSpPr>
          <p:cNvPr id="648" name="Google Shape;648;p17"/>
          <p:cNvSpPr txBox="1"/>
          <p:nvPr/>
        </p:nvSpPr>
        <p:spPr>
          <a:xfrm>
            <a:off x="6773681" y="2165262"/>
            <a:ext cx="1514347" cy="2646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600" b="1">
                <a:solidFill>
                  <a:srgbClr val="4C328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?</a:t>
            </a:r>
            <a:endParaRPr/>
          </a:p>
        </p:txBody>
      </p:sp>
      <p:sp>
        <p:nvSpPr>
          <p:cNvPr id="14" name="Google Shape;257;p13">
            <a:extLst>
              <a:ext uri="{FF2B5EF4-FFF2-40B4-BE49-F238E27FC236}">
                <a16:creationId xmlns:a16="http://schemas.microsoft.com/office/drawing/2014/main" id="{9A5AA8DF-7AFA-4BB7-84FB-2626353650C4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15" name="Google Shape;257;p13">
            <a:extLst>
              <a:ext uri="{FF2B5EF4-FFF2-40B4-BE49-F238E27FC236}">
                <a16:creationId xmlns:a16="http://schemas.microsoft.com/office/drawing/2014/main" id="{3F9CD9BC-3DE3-4ED5-909F-D074E6AB7946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B9F5315-1C24-41E1-AD7E-9A5700B83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Analyse von Algorithmen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B534FEF-1B69-439E-871C-2D7EB9AF846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sz="1200" noProof="0" dirty="0"/>
          </a:p>
          <a:p>
            <a:r>
              <a:rPr lang="de-DE" b="1" noProof="0" dirty="0">
                <a:solidFill>
                  <a:srgbClr val="7030A0"/>
                </a:solidFill>
              </a:rPr>
              <a:t>Analyse von Algorithmen</a:t>
            </a:r>
            <a:r>
              <a:rPr lang="de-DE" noProof="0" dirty="0"/>
              <a:t>: Der Gesamtprozess der Zuordnung von Code zu einer Wachstumsordnung, bestehend aus: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Code Modellierung</a:t>
            </a:r>
            <a:r>
              <a:rPr lang="de-DE" noProof="0" dirty="0"/>
              <a:t>: Code </a:t>
            </a:r>
            <a:r>
              <a:rPr lang="de-DE" noProof="0" dirty="0">
                <a:sym typeface="Wingdings" panose="05000000000000000000" pitchFamily="2" charset="2"/>
              </a:rPr>
              <a:t> Laufzeitf</a:t>
            </a:r>
            <a:r>
              <a:rPr lang="de-DE" noProof="0" dirty="0"/>
              <a:t>unktion, die die Laufzeit des Codes beschreibt</a:t>
            </a:r>
          </a:p>
          <a:p>
            <a:r>
              <a:rPr lang="de-DE" b="1" noProof="0" dirty="0">
                <a:solidFill>
                  <a:srgbClr val="7030A0"/>
                </a:solidFill>
              </a:rPr>
              <a:t>Asymptotische Notation</a:t>
            </a:r>
            <a:r>
              <a:rPr lang="de-DE" noProof="0" dirty="0"/>
              <a:t>: Funktion </a:t>
            </a:r>
            <a:r>
              <a:rPr lang="de-DE" noProof="0" dirty="0">
                <a:sym typeface="Wingdings" panose="05000000000000000000" pitchFamily="2" charset="2"/>
              </a:rPr>
              <a:t> </a:t>
            </a:r>
            <a:r>
              <a:rPr lang="de-DE" noProof="0" dirty="0"/>
              <a:t>Wachstumsordnung, die das asymptotische Verhalten beschreibt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D65A34C-DD32-4D95-A748-1CD19B19C21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43" name="Datumsplatzhalter 4">
            <a:extLst>
              <a:ext uri="{FF2B5EF4-FFF2-40B4-BE49-F238E27FC236}">
                <a16:creationId xmlns:a16="http://schemas.microsoft.com/office/drawing/2014/main" id="{C49CACB1-F42D-4796-864E-FD26686478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19.12.2025</a:t>
            </a:fld>
            <a:endParaRPr lang="de-DE" dirty="0"/>
          </a:p>
        </p:txBody>
      </p:sp>
      <p:sp>
        <p:nvSpPr>
          <p:cNvPr id="44" name="Foliennummernplatzhalter 5">
            <a:extLst>
              <a:ext uri="{FF2B5EF4-FFF2-40B4-BE49-F238E27FC236}">
                <a16:creationId xmlns:a16="http://schemas.microsoft.com/office/drawing/2014/main" id="{587A8A6C-1380-4BD3-AD0E-8ED916D23F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656" name="Google Shape;656;p18"/>
          <p:cNvSpPr/>
          <p:nvPr/>
        </p:nvSpPr>
        <p:spPr>
          <a:xfrm>
            <a:off x="9750282" y="1916034"/>
            <a:ext cx="1700153" cy="110578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Wachstums-ordnung</a:t>
            </a:r>
            <a:endParaRPr sz="24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9472751" y="2276767"/>
            <a:ext cx="532515" cy="385780"/>
          </a:xfrm>
          <a:prstGeom prst="flowChartCollat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8" name="Google Shape;658;p18"/>
          <p:cNvSpPr/>
          <p:nvPr/>
        </p:nvSpPr>
        <p:spPr>
          <a:xfrm rot="5400000">
            <a:off x="9415387" y="2327652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59" name="Google Shape;659;p18"/>
          <p:cNvSpPr/>
          <p:nvPr/>
        </p:nvSpPr>
        <p:spPr>
          <a:xfrm>
            <a:off x="1998245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1998245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2364005" y="1916034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2" name="Google Shape;662;p18"/>
          <p:cNvSpPr/>
          <p:nvPr/>
        </p:nvSpPr>
        <p:spPr>
          <a:xfrm>
            <a:off x="6438073" y="191603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6438073" y="265606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6803833" y="1916034"/>
            <a:ext cx="2668772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5" name="Google Shape;665;p18"/>
          <p:cNvSpPr/>
          <p:nvPr/>
        </p:nvSpPr>
        <p:spPr>
          <a:xfrm flipH="1">
            <a:off x="6090047" y="2287462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6" name="Google Shape;666;p18"/>
          <p:cNvSpPr/>
          <p:nvPr/>
        </p:nvSpPr>
        <p:spPr>
          <a:xfrm flipH="1">
            <a:off x="4163056" y="2281794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7" name="Google Shape;667;p18"/>
          <p:cNvSpPr/>
          <p:nvPr/>
        </p:nvSpPr>
        <p:spPr>
          <a:xfrm flipH="1">
            <a:off x="4944585" y="2279349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4814701" y="1914812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4814701" y="2656060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881145" y="1916034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 dirty="0"/>
          </a:p>
        </p:txBody>
      </p:sp>
      <p:sp>
        <p:nvSpPr>
          <p:cNvPr id="671" name="Google Shape;671;p18"/>
          <p:cNvSpPr/>
          <p:nvPr/>
        </p:nvSpPr>
        <p:spPr>
          <a:xfrm>
            <a:off x="1949073" y="2265740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9472605" y="1918294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9472605" y="2657112"/>
            <a:ext cx="365760" cy="3657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514885" y="1916034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514884" y="2656060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6" name="Google Shape;676;p18"/>
          <p:cNvSpPr/>
          <p:nvPr/>
        </p:nvSpPr>
        <p:spPr>
          <a:xfrm rot="5400000">
            <a:off x="11421174" y="2295002"/>
            <a:ext cx="424282" cy="365760"/>
          </a:xfrm>
          <a:prstGeom prst="triangle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7" name="Google Shape;677;p18"/>
          <p:cNvSpPr/>
          <p:nvPr/>
        </p:nvSpPr>
        <p:spPr>
          <a:xfrm>
            <a:off x="2587093" y="2058122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78" name="Google Shape;678;p18"/>
          <p:cNvSpPr txBox="1"/>
          <p:nvPr/>
        </p:nvSpPr>
        <p:spPr>
          <a:xfrm>
            <a:off x="2577030" y="2274744"/>
            <a:ext cx="199037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Modellierung</a:t>
            </a:r>
            <a:endParaRPr lang="de-DE" dirty="0"/>
          </a:p>
        </p:txBody>
      </p:sp>
      <p:sp>
        <p:nvSpPr>
          <p:cNvPr id="679" name="Google Shape;679;p18"/>
          <p:cNvSpPr/>
          <p:nvPr/>
        </p:nvSpPr>
        <p:spPr>
          <a:xfrm flipH="1">
            <a:off x="5677559" y="2276767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0" name="Google Shape;680;p18"/>
          <p:cNvSpPr/>
          <p:nvPr/>
        </p:nvSpPr>
        <p:spPr>
          <a:xfrm>
            <a:off x="5176839" y="1916034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b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FUNKTION</a:t>
            </a:r>
            <a:endParaRPr dirty="0"/>
          </a:p>
        </p:txBody>
      </p:sp>
      <p:sp>
        <p:nvSpPr>
          <p:cNvPr id="681" name="Google Shape;681;p18"/>
          <p:cNvSpPr/>
          <p:nvPr/>
        </p:nvSpPr>
        <p:spPr>
          <a:xfrm flipH="1">
            <a:off x="6961995" y="2282492"/>
            <a:ext cx="1119941" cy="376711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2" name="Google Shape;682;p18"/>
          <p:cNvSpPr/>
          <p:nvPr/>
        </p:nvSpPr>
        <p:spPr>
          <a:xfrm>
            <a:off x="7239672" y="2074362"/>
            <a:ext cx="2279208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83" name="Google Shape;683;p18"/>
          <p:cNvSpPr txBox="1"/>
          <p:nvPr/>
        </p:nvSpPr>
        <p:spPr>
          <a:xfrm>
            <a:off x="7138837" y="2279362"/>
            <a:ext cx="237371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Asymptotische</a:t>
            </a: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Analyse</a:t>
            </a:r>
            <a:endParaRPr dirty="0"/>
          </a:p>
        </p:txBody>
      </p:sp>
      <p:sp>
        <p:nvSpPr>
          <p:cNvPr id="685" name="Google Shape;685;p18"/>
          <p:cNvSpPr/>
          <p:nvPr/>
        </p:nvSpPr>
        <p:spPr>
          <a:xfrm>
            <a:off x="3041941" y="1349370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686" name="Google Shape;686;p18"/>
          <p:cNvSpPr/>
          <p:nvPr/>
        </p:nvSpPr>
        <p:spPr>
          <a:xfrm>
            <a:off x="7814190" y="1343402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/>
          </a:p>
        </p:txBody>
      </p:sp>
      <p:sp>
        <p:nvSpPr>
          <p:cNvPr id="687" name="Google Shape;687;p18"/>
          <p:cNvSpPr/>
          <p:nvPr/>
        </p:nvSpPr>
        <p:spPr>
          <a:xfrm rot="-5400000">
            <a:off x="5927058" y="-1061051"/>
            <a:ext cx="124201" cy="10435884"/>
          </a:xfrm>
          <a:prstGeom prst="leftBracket">
            <a:avLst>
              <a:gd name="adj" fmla="val 99903"/>
            </a:avLst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12700" dir="5400000" algn="ctr" rotWithShape="0">
              <a:srgbClr val="000000">
                <a:alpha val="4980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688" name="Google Shape;688;p18"/>
          <p:cNvCxnSpPr/>
          <p:nvPr/>
        </p:nvCxnSpPr>
        <p:spPr>
          <a:xfrm rot="10800000">
            <a:off x="2254577" y="4218992"/>
            <a:ext cx="0" cy="230272"/>
          </a:xfrm>
          <a:prstGeom prst="straightConnector1">
            <a:avLst/>
          </a:prstGeom>
          <a:noFill/>
          <a:ln w="57150" cap="flat" cmpd="sng">
            <a:solidFill>
              <a:srgbClr val="9B8AB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9" name="Google Shape;689;p18"/>
          <p:cNvSpPr txBox="1"/>
          <p:nvPr/>
        </p:nvSpPr>
        <p:spPr>
          <a:xfrm>
            <a:off x="473069" y="3099639"/>
            <a:ext cx="266932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(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0;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&lt; n; 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++) {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a[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1;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b[</a:t>
            </a:r>
            <a:r>
              <a:rPr lang="en-US" sz="14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2;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dirty="0"/>
          </a:p>
        </p:txBody>
      </p:sp>
      <p:sp>
        <p:nvSpPr>
          <p:cNvPr id="690" name="Google Shape;690;p18"/>
          <p:cNvSpPr txBox="1"/>
          <p:nvPr/>
        </p:nvSpPr>
        <p:spPr>
          <a:xfrm>
            <a:off x="10232308" y="3110906"/>
            <a:ext cx="7360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sz="1600" dirty="0"/>
          </a:p>
        </p:txBody>
      </p:sp>
      <p:sp>
        <p:nvSpPr>
          <p:cNvPr id="691" name="Google Shape;691;p18"/>
          <p:cNvSpPr txBox="1"/>
          <p:nvPr/>
        </p:nvSpPr>
        <p:spPr>
          <a:xfrm>
            <a:off x="5371040" y="3110906"/>
            <a:ext cx="126829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f(n) = 2n</a:t>
            </a:r>
            <a:endParaRPr sz="1600" dirty="0"/>
          </a:p>
        </p:txBody>
      </p:sp>
      <p:sp>
        <p:nvSpPr>
          <p:cNvPr id="41" name="Google Shape;257;p13">
            <a:extLst>
              <a:ext uri="{FF2B5EF4-FFF2-40B4-BE49-F238E27FC236}">
                <a16:creationId xmlns:a16="http://schemas.microsoft.com/office/drawing/2014/main" id="{94CBFC99-CF63-4F59-B335-72C9A98AF0B3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42" name="Google Shape;257;p13">
            <a:extLst>
              <a:ext uri="{FF2B5EF4-FFF2-40B4-BE49-F238E27FC236}">
                <a16:creationId xmlns:a16="http://schemas.microsoft.com/office/drawing/2014/main" id="{75F9AB88-4985-49E1-8165-03BA26AB7BF2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30BCCD3-DABA-4DC4-A9E5-9094D1BE0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Modellierung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62F0D7F-8D49-4349-8DF4-1229E57B9AA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endParaRPr lang="de-DE" noProof="0" dirty="0"/>
          </a:p>
          <a:p>
            <a:r>
              <a:rPr lang="de-DE" noProof="0" dirty="0"/>
              <a:t>Code Modellierung - der Prozess der mathematischen Darstellung, wie viele Operationen ein Stück Code im Verhältnis zur Eingabegröße </a:t>
            </a:r>
            <a:r>
              <a:rPr lang="de-DE" b="1" noProof="0" dirty="0"/>
              <a:t>n</a:t>
            </a:r>
            <a:r>
              <a:rPr lang="de-DE" noProof="0" dirty="0"/>
              <a:t> ausführt.</a:t>
            </a:r>
          </a:p>
          <a:p>
            <a:pPr lvl="1"/>
            <a:r>
              <a:rPr lang="de-DE" noProof="0" dirty="0"/>
              <a:t>Umwandlung von Code in eine Laufzeitfunktion, die seine Laufzeit darstellt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6A9218C-2217-4A42-95E0-72897F6C7DA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27" name="Datumsplatzhalter 4">
            <a:extLst>
              <a:ext uri="{FF2B5EF4-FFF2-40B4-BE49-F238E27FC236}">
                <a16:creationId xmlns:a16="http://schemas.microsoft.com/office/drawing/2014/main" id="{A1F25C3C-FE9F-4152-8782-7757E99D7A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7C55095-590B-4AAB-8606-0F86796D070A}" type="datetime1">
              <a:rPr lang="de-DE" smtClean="0"/>
              <a:pPr/>
              <a:t>19.12.2025</a:t>
            </a:fld>
            <a:endParaRPr lang="de-DE" dirty="0"/>
          </a:p>
        </p:txBody>
      </p:sp>
      <p:sp>
        <p:nvSpPr>
          <p:cNvPr id="28" name="Foliennummernplatzhalter 5">
            <a:extLst>
              <a:ext uri="{FF2B5EF4-FFF2-40B4-BE49-F238E27FC236}">
                <a16:creationId xmlns:a16="http://schemas.microsoft.com/office/drawing/2014/main" id="{0005C9F9-9BE4-492C-958A-5F4E6DC90EB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00" name="Google Shape;700;p19"/>
          <p:cNvSpPr/>
          <p:nvPr/>
        </p:nvSpPr>
        <p:spPr>
          <a:xfrm>
            <a:off x="4533753" y="2127604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1" name="Google Shape;701;p19"/>
          <p:cNvSpPr/>
          <p:nvPr/>
        </p:nvSpPr>
        <p:spPr>
          <a:xfrm>
            <a:off x="4533753" y="2867630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2" name="Google Shape;702;p19"/>
          <p:cNvSpPr/>
          <p:nvPr/>
        </p:nvSpPr>
        <p:spPr>
          <a:xfrm>
            <a:off x="4899513" y="2127604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3" name="Google Shape;703;p19"/>
          <p:cNvSpPr/>
          <p:nvPr/>
        </p:nvSpPr>
        <p:spPr>
          <a:xfrm>
            <a:off x="9670644" y="2144869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4" name="Google Shape;704;p19"/>
          <p:cNvSpPr/>
          <p:nvPr/>
        </p:nvSpPr>
        <p:spPr>
          <a:xfrm>
            <a:off x="9670644" y="2884895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5" name="Google Shape;705;p19"/>
          <p:cNvSpPr/>
          <p:nvPr/>
        </p:nvSpPr>
        <p:spPr>
          <a:xfrm flipH="1">
            <a:off x="9322618" y="2516297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6" name="Google Shape;706;p19"/>
          <p:cNvSpPr/>
          <p:nvPr/>
        </p:nvSpPr>
        <p:spPr>
          <a:xfrm flipH="1">
            <a:off x="6698564" y="2493364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7" name="Google Shape;707;p19"/>
          <p:cNvSpPr/>
          <p:nvPr/>
        </p:nvSpPr>
        <p:spPr>
          <a:xfrm flipH="1">
            <a:off x="8177156" y="2508184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8" name="Google Shape;708;p19"/>
          <p:cNvSpPr/>
          <p:nvPr/>
        </p:nvSpPr>
        <p:spPr>
          <a:xfrm>
            <a:off x="8047272" y="2143647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09" name="Google Shape;709;p19"/>
          <p:cNvSpPr/>
          <p:nvPr/>
        </p:nvSpPr>
        <p:spPr>
          <a:xfrm>
            <a:off x="8047272" y="2884895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0" name="Google Shape;710;p19"/>
          <p:cNvSpPr/>
          <p:nvPr/>
        </p:nvSpPr>
        <p:spPr>
          <a:xfrm>
            <a:off x="2734165" y="2144869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/>
          </a:p>
        </p:txBody>
      </p:sp>
      <p:sp>
        <p:nvSpPr>
          <p:cNvPr id="711" name="Google Shape;711;p19"/>
          <p:cNvSpPr/>
          <p:nvPr/>
        </p:nvSpPr>
        <p:spPr>
          <a:xfrm>
            <a:off x="3802093" y="2494575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2" name="Google Shape;712;p19"/>
          <p:cNvSpPr/>
          <p:nvPr/>
        </p:nvSpPr>
        <p:spPr>
          <a:xfrm>
            <a:off x="2367905" y="2144869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3" name="Google Shape;713;p19"/>
          <p:cNvSpPr/>
          <p:nvPr/>
        </p:nvSpPr>
        <p:spPr>
          <a:xfrm>
            <a:off x="2367904" y="2884895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4" name="Google Shape;714;p19"/>
          <p:cNvSpPr/>
          <p:nvPr/>
        </p:nvSpPr>
        <p:spPr>
          <a:xfrm>
            <a:off x="5122601" y="2269692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5" name="Google Shape;715;p19"/>
          <p:cNvSpPr txBox="1"/>
          <p:nvPr/>
        </p:nvSpPr>
        <p:spPr>
          <a:xfrm>
            <a:off x="5103093" y="2477078"/>
            <a:ext cx="202533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</a:t>
            </a:r>
            <a:r>
              <a:rPr lang="en-US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Modellierung</a:t>
            </a:r>
            <a:endParaRPr dirty="0"/>
          </a:p>
        </p:txBody>
      </p:sp>
      <p:sp>
        <p:nvSpPr>
          <p:cNvPr id="716" name="Google Shape;716;p19"/>
          <p:cNvSpPr/>
          <p:nvPr/>
        </p:nvSpPr>
        <p:spPr>
          <a:xfrm flipH="1">
            <a:off x="8910130" y="2505602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17" name="Google Shape;717;p19"/>
          <p:cNvSpPr/>
          <p:nvPr/>
        </p:nvSpPr>
        <p:spPr>
          <a:xfrm>
            <a:off x="8409410" y="2144869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400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endParaRPr lang="de-DE" b="1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>
                <a:solidFill>
                  <a:schemeClr val="lt1"/>
                </a:solidFill>
                <a:latin typeface="Twentieth Century"/>
                <a:sym typeface="Twentieth Century"/>
              </a:rPr>
              <a:t>FUNKTION</a:t>
            </a:r>
            <a:endParaRPr dirty="0"/>
          </a:p>
        </p:txBody>
      </p:sp>
      <p:sp>
        <p:nvSpPr>
          <p:cNvPr id="718" name="Google Shape;718;p19"/>
          <p:cNvSpPr/>
          <p:nvPr/>
        </p:nvSpPr>
        <p:spPr>
          <a:xfrm>
            <a:off x="5577449" y="1560940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25" name="Google Shape;257;p13">
            <a:extLst>
              <a:ext uri="{FF2B5EF4-FFF2-40B4-BE49-F238E27FC236}">
                <a16:creationId xmlns:a16="http://schemas.microsoft.com/office/drawing/2014/main" id="{11EA8824-AC42-4A57-85EE-9A4AAB7B65ED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26" name="Google Shape;257;p13">
            <a:extLst>
              <a:ext uri="{FF2B5EF4-FFF2-40B4-BE49-F238E27FC236}">
                <a16:creationId xmlns:a16="http://schemas.microsoft.com/office/drawing/2014/main" id="{BB036449-F13B-4324-B1CF-97D0C6A4FD84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E4E14EAE-F586-4704-B989-CB89828251C6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public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method2(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0;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i = 0;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while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(i &lt;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int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j = 0;    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while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(j &lt; n)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if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(j % 2 == 0) {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    // do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nothing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+ (i * 3) + j;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    j = j + 1;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    i = i + 1;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   }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return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lang="de-DE" noProof="0" dirty="0" err="1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sum</a:t>
            </a: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;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noProof="0" dirty="0">
                <a:solidFill>
                  <a:schemeClr val="dk1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endParaRPr lang="de-DE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B4C0F9B-36CF-439E-9A1D-0BBFBE886D37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758" name="Google Shape;758;p22"/>
          <p:cNvSpPr/>
          <p:nvPr/>
        </p:nvSpPr>
        <p:spPr>
          <a:xfrm>
            <a:off x="3764501" y="1852223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59" name="Google Shape;759;p22"/>
          <p:cNvSpPr/>
          <p:nvPr/>
        </p:nvSpPr>
        <p:spPr>
          <a:xfrm>
            <a:off x="3507612" y="2177350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/>
          </a:p>
        </p:txBody>
      </p:sp>
      <p:sp>
        <p:nvSpPr>
          <p:cNvPr id="760" name="Google Shape;760;p22"/>
          <p:cNvSpPr/>
          <p:nvPr/>
        </p:nvSpPr>
        <p:spPr>
          <a:xfrm>
            <a:off x="4278278" y="2475261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61" name="Google Shape;761;p22"/>
          <p:cNvSpPr/>
          <p:nvPr/>
        </p:nvSpPr>
        <p:spPr>
          <a:xfrm>
            <a:off x="5892432" y="3406728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 dirty="0"/>
          </a:p>
        </p:txBody>
      </p:sp>
      <p:sp>
        <p:nvSpPr>
          <p:cNvPr id="762" name="Google Shape;762;p22"/>
          <p:cNvSpPr/>
          <p:nvPr/>
        </p:nvSpPr>
        <p:spPr>
          <a:xfrm>
            <a:off x="3889192" y="5576698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/>
          </a:p>
        </p:txBody>
      </p:sp>
      <p:sp>
        <p:nvSpPr>
          <p:cNvPr id="763" name="Google Shape;763;p22"/>
          <p:cNvSpPr/>
          <p:nvPr/>
        </p:nvSpPr>
        <p:spPr>
          <a:xfrm>
            <a:off x="7241599" y="3105834"/>
            <a:ext cx="296533" cy="1992639"/>
          </a:xfrm>
          <a:prstGeom prst="rightBrace">
            <a:avLst>
              <a:gd name="adj1" fmla="val 56789"/>
              <a:gd name="adj2" fmla="val 50000"/>
            </a:avLst>
          </a:prstGeom>
          <a:noFill/>
          <a:ln w="38100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64" name="Google Shape;764;p22"/>
          <p:cNvSpPr/>
          <p:nvPr/>
        </p:nvSpPr>
        <p:spPr>
          <a:xfrm>
            <a:off x="7690095" y="3945937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+9</a:t>
            </a:r>
            <a:endParaRPr dirty="0"/>
          </a:p>
        </p:txBody>
      </p:sp>
      <p:grpSp>
        <p:nvGrpSpPr>
          <p:cNvPr id="765" name="Google Shape;765;p22"/>
          <p:cNvGrpSpPr/>
          <p:nvPr/>
        </p:nvGrpSpPr>
        <p:grpSpPr>
          <a:xfrm>
            <a:off x="8438680" y="3821525"/>
            <a:ext cx="552870" cy="552870"/>
            <a:chOff x="7574669" y="3536256"/>
            <a:chExt cx="552870" cy="552870"/>
          </a:xfrm>
        </p:grpSpPr>
        <p:sp>
          <p:nvSpPr>
            <p:cNvPr id="766" name="Google Shape;766;p22"/>
            <p:cNvSpPr/>
            <p:nvPr/>
          </p:nvSpPr>
          <p:spPr>
            <a:xfrm>
              <a:off x="7574669" y="3536256"/>
              <a:ext cx="552870" cy="55287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7" name="Google Shape;767;p22"/>
            <p:cNvSpPr txBox="1"/>
            <p:nvPr/>
          </p:nvSpPr>
          <p:spPr>
            <a:xfrm>
              <a:off x="7639474" y="3628025"/>
              <a:ext cx="423261" cy="369332"/>
            </a:xfrm>
            <a:prstGeom prst="rect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*n</a:t>
              </a:r>
              <a:endParaRPr dirty="0"/>
            </a:p>
          </p:txBody>
        </p:sp>
      </p:grpSp>
      <p:sp>
        <p:nvSpPr>
          <p:cNvPr id="768" name="Google Shape;768;p22"/>
          <p:cNvSpPr txBox="1"/>
          <p:nvPr/>
        </p:nvSpPr>
        <p:spPr>
          <a:xfrm>
            <a:off x="7602938" y="3129309"/>
            <a:ext cx="183200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Innere Schleife läuft n-mal</a:t>
            </a:r>
            <a:endParaRPr dirty="0"/>
          </a:p>
        </p:txBody>
      </p:sp>
      <p:sp>
        <p:nvSpPr>
          <p:cNvPr id="769" name="Google Shape;769;p22"/>
          <p:cNvSpPr/>
          <p:nvPr/>
        </p:nvSpPr>
        <p:spPr>
          <a:xfrm>
            <a:off x="8586634" y="971774"/>
            <a:ext cx="2898900" cy="1150800"/>
          </a:xfrm>
          <a:prstGeom prst="rect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f(n) = (9n+4)n + 3</a:t>
            </a:r>
            <a:endParaRPr/>
          </a:p>
        </p:txBody>
      </p:sp>
      <p:sp>
        <p:nvSpPr>
          <p:cNvPr id="770" name="Google Shape;770;p22"/>
          <p:cNvSpPr/>
          <p:nvPr/>
        </p:nvSpPr>
        <p:spPr>
          <a:xfrm>
            <a:off x="4137357" y="2803857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71" name="Google Shape;771;p22"/>
          <p:cNvSpPr/>
          <p:nvPr/>
        </p:nvSpPr>
        <p:spPr>
          <a:xfrm>
            <a:off x="4940327" y="3092516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+1</a:t>
            </a:r>
            <a:endParaRPr dirty="0"/>
          </a:p>
        </p:txBody>
      </p:sp>
      <p:sp>
        <p:nvSpPr>
          <p:cNvPr id="772" name="Google Shape;772;p22"/>
          <p:cNvSpPr/>
          <p:nvPr/>
        </p:nvSpPr>
        <p:spPr>
          <a:xfrm>
            <a:off x="4788532" y="4641895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/>
          </a:p>
        </p:txBody>
      </p:sp>
      <p:sp>
        <p:nvSpPr>
          <p:cNvPr id="773" name="Google Shape;773;p22"/>
          <p:cNvSpPr/>
          <p:nvPr/>
        </p:nvSpPr>
        <p:spPr>
          <a:xfrm>
            <a:off x="4040904" y="5249482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+2</a:t>
            </a:r>
            <a:endParaRPr dirty="0"/>
          </a:p>
        </p:txBody>
      </p:sp>
      <p:sp>
        <p:nvSpPr>
          <p:cNvPr id="774" name="Google Shape;774;p22"/>
          <p:cNvSpPr/>
          <p:nvPr/>
        </p:nvSpPr>
        <p:spPr>
          <a:xfrm>
            <a:off x="6575859" y="4328129"/>
            <a:ext cx="51377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+4</a:t>
            </a:r>
            <a:endParaRPr/>
          </a:p>
        </p:txBody>
      </p:sp>
      <p:sp>
        <p:nvSpPr>
          <p:cNvPr id="775" name="Google Shape;775;p22"/>
          <p:cNvSpPr/>
          <p:nvPr/>
        </p:nvSpPr>
        <p:spPr>
          <a:xfrm>
            <a:off x="9544475" y="2481396"/>
            <a:ext cx="296533" cy="3072132"/>
          </a:xfrm>
          <a:prstGeom prst="rightBrace">
            <a:avLst>
              <a:gd name="adj1" fmla="val 56789"/>
              <a:gd name="adj2" fmla="val 50000"/>
            </a:avLst>
          </a:prstGeom>
          <a:noFill/>
          <a:ln w="38100" cap="flat" cmpd="sng">
            <a:solidFill>
              <a:srgbClr val="B6A4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76" name="Google Shape;776;p22"/>
          <p:cNvSpPr/>
          <p:nvPr/>
        </p:nvSpPr>
        <p:spPr>
          <a:xfrm>
            <a:off x="9986157" y="3857166"/>
            <a:ext cx="1005867" cy="304046"/>
          </a:xfrm>
          <a:prstGeom prst="roundRect">
            <a:avLst>
              <a:gd name="adj" fmla="val 16667"/>
            </a:avLst>
          </a:prstGeom>
          <a:solidFill>
            <a:srgbClr val="9B8AB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9n + 4</a:t>
            </a:r>
            <a:endParaRPr dirty="0"/>
          </a:p>
        </p:txBody>
      </p:sp>
      <p:grpSp>
        <p:nvGrpSpPr>
          <p:cNvPr id="777" name="Google Shape;777;p22"/>
          <p:cNvGrpSpPr/>
          <p:nvPr/>
        </p:nvGrpSpPr>
        <p:grpSpPr>
          <a:xfrm>
            <a:off x="11219403" y="3736518"/>
            <a:ext cx="552870" cy="552870"/>
            <a:chOff x="7574669" y="3536256"/>
            <a:chExt cx="552870" cy="552870"/>
          </a:xfrm>
        </p:grpSpPr>
        <p:sp>
          <p:nvSpPr>
            <p:cNvPr id="778" name="Google Shape;778;p22"/>
            <p:cNvSpPr/>
            <p:nvPr/>
          </p:nvSpPr>
          <p:spPr>
            <a:xfrm>
              <a:off x="7574669" y="3536256"/>
              <a:ext cx="552870" cy="55287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" name="Google Shape;779;p22"/>
            <p:cNvSpPr txBox="1"/>
            <p:nvPr/>
          </p:nvSpPr>
          <p:spPr>
            <a:xfrm>
              <a:off x="7639474" y="3628025"/>
              <a:ext cx="423261" cy="369332"/>
            </a:xfrm>
            <a:prstGeom prst="rect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*n</a:t>
              </a:r>
              <a:endParaRPr/>
            </a:p>
          </p:txBody>
        </p:sp>
      </p:grpSp>
      <p:sp>
        <p:nvSpPr>
          <p:cNvPr id="780" name="Google Shape;780;p22"/>
          <p:cNvSpPr txBox="1"/>
          <p:nvPr/>
        </p:nvSpPr>
        <p:spPr>
          <a:xfrm>
            <a:off x="10275455" y="3059653"/>
            <a:ext cx="174355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de-D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Äußere Schleife läuft n-mal</a:t>
            </a:r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6A02B41-9DB1-4C6D-AAD3-ECD4AEA2E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Code Modellierung </a:t>
            </a:r>
            <a:br>
              <a:rPr lang="de-DE" noProof="0" dirty="0"/>
            </a:br>
            <a:r>
              <a:rPr lang="de-DE" sz="2000" noProof="0" dirty="0"/>
              <a:t>Beispiel 2</a:t>
            </a:r>
            <a:endParaRPr lang="de-DE" noProof="0" dirty="0"/>
          </a:p>
        </p:txBody>
      </p:sp>
      <p:sp>
        <p:nvSpPr>
          <p:cNvPr id="32" name="Google Shape;257;p13">
            <a:extLst>
              <a:ext uri="{FF2B5EF4-FFF2-40B4-BE49-F238E27FC236}">
                <a16:creationId xmlns:a16="http://schemas.microsoft.com/office/drawing/2014/main" id="{0A68E42F-6C45-447E-9231-FB8F810495F8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CSE 373 20 AU – SCHAFER</a:t>
            </a:r>
          </a:p>
        </p:txBody>
      </p:sp>
      <p:sp>
        <p:nvSpPr>
          <p:cNvPr id="33" name="Google Shape;257;p13">
            <a:extLst>
              <a:ext uri="{FF2B5EF4-FFF2-40B4-BE49-F238E27FC236}">
                <a16:creationId xmlns:a16="http://schemas.microsoft.com/office/drawing/2014/main" id="{9C3AAB72-B8FE-4AF4-8E54-FB17F40605FF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sp>
        <p:nvSpPr>
          <p:cNvPr id="31" name="Datumsplatzhalter 4">
            <a:extLst>
              <a:ext uri="{FF2B5EF4-FFF2-40B4-BE49-F238E27FC236}">
                <a16:creationId xmlns:a16="http://schemas.microsoft.com/office/drawing/2014/main" id="{1D3BAF9C-2C3C-4DE9-95B8-EF12E0F9544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97C55095-590B-4AAB-8606-0F86796D070A}" type="datetime1">
              <a:rPr lang="de-DE" smtClean="0"/>
              <a:pPr/>
              <a:t>19.12.2025</a:t>
            </a:fld>
            <a:endParaRPr lang="de-DE" dirty="0"/>
          </a:p>
        </p:txBody>
      </p:sp>
      <p:sp>
        <p:nvSpPr>
          <p:cNvPr id="34" name="Foliennummernplatzhalter 5">
            <a:extLst>
              <a:ext uri="{FF2B5EF4-FFF2-40B4-BE49-F238E27FC236}">
                <a16:creationId xmlns:a16="http://schemas.microsoft.com/office/drawing/2014/main" id="{1C577E6E-BCBF-4C5E-800A-8C6E8A3293E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/>
              <a:t>Seite </a:t>
            </a:r>
            <a:fld id="{43310F81-32EE-4F95-9E9C-0BDC6AD52EEC}" type="slidenum">
              <a:rPr lang="de-DE" smtClean="0"/>
              <a:pPr/>
              <a:t>6</a:t>
            </a:fld>
            <a:endParaRPr lang="de-DE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3E20075B-7A52-4F26-A090-9C63D480AAF3}"/>
              </a:ext>
            </a:extLst>
          </p:cNvPr>
          <p:cNvGrpSpPr>
            <a:grpSpLocks noChangeAspect="1"/>
          </p:cNvGrpSpPr>
          <p:nvPr/>
        </p:nvGrpSpPr>
        <p:grpSpPr>
          <a:xfrm>
            <a:off x="5766996" y="4028691"/>
            <a:ext cx="6238094" cy="1872049"/>
            <a:chOff x="5281611" y="520700"/>
            <a:chExt cx="6723479" cy="2017713"/>
          </a:xfrm>
        </p:grpSpPr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E9773847-59E5-4A70-94A9-D503A9497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289" r="768" b="4434"/>
            <a:stretch/>
          </p:blipFill>
          <p:spPr>
            <a:xfrm>
              <a:off x="5281613" y="996950"/>
              <a:ext cx="6723477" cy="1541463"/>
            </a:xfrm>
            <a:prstGeom prst="rect">
              <a:avLst/>
            </a:prstGeom>
          </p:spPr>
        </p:pic>
        <p:sp>
          <p:nvSpPr>
            <p:cNvPr id="40" name="Google Shape;921;p27">
              <a:extLst>
                <a:ext uri="{FF2B5EF4-FFF2-40B4-BE49-F238E27FC236}">
                  <a16:creationId xmlns:a16="http://schemas.microsoft.com/office/drawing/2014/main" id="{3CE34F02-980A-4D8E-8EB6-8116A1140FFC}"/>
                </a:ext>
              </a:extLst>
            </p:cNvPr>
            <p:cNvSpPr/>
            <p:nvPr/>
          </p:nvSpPr>
          <p:spPr>
            <a:xfrm>
              <a:off x="5281611" y="520700"/>
              <a:ext cx="6723479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ea typeface="Quattrocento Sans"/>
                  <a:sym typeface="Quattrocento Sans"/>
                </a:rPr>
                <a:t>Θ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5" name="Titel 4">
            <a:extLst>
              <a:ext uri="{FF2B5EF4-FFF2-40B4-BE49-F238E27FC236}">
                <a16:creationId xmlns:a16="http://schemas.microsoft.com/office/drawing/2014/main" id="{0AE2A5EC-AC29-4A07-9950-EBAC20C86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O-, Ω- und Θ-Notation</a:t>
            </a:r>
            <a:br>
              <a:rPr lang="de-DE" noProof="0" dirty="0"/>
            </a:br>
            <a:r>
              <a:rPr lang="de-DE" sz="2000" noProof="0" dirty="0"/>
              <a:t>Übung</a:t>
            </a:r>
            <a:endParaRPr lang="de-DE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2C97A1-C851-43B0-90E0-3AEC3614CFF8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0"/>
            <a:r>
              <a:rPr lang="de-DE" noProof="0" dirty="0"/>
              <a:t>Welche der folgenden Funktionen ist in O(n²)? Ω(n²)? Θ(n²)?</a:t>
            </a:r>
          </a:p>
          <a:p>
            <a:pPr lvl="0"/>
            <a:endParaRPr lang="de-DE" noProof="0" dirty="0"/>
          </a:p>
          <a:p>
            <a:endParaRPr lang="de-DE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8C42085-85F1-46F0-8237-E085BA79C6A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/>
              <a:t>Algorithmik – Laufzeitanalyse von Algorithmen durch Asymptotische Notation</a:t>
            </a:r>
            <a:endParaRPr lang="de-DE" noProof="0" dirty="0"/>
          </a:p>
        </p:txBody>
      </p:sp>
      <p:sp>
        <p:nvSpPr>
          <p:cNvPr id="154" name="Google Shape;154;p2"/>
          <p:cNvSpPr txBox="1"/>
          <p:nvPr/>
        </p:nvSpPr>
        <p:spPr>
          <a:xfrm>
            <a:off x="1578039" y="1987652"/>
            <a:ext cx="1083951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6974" r="-3484" b="-363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"/>
          <p:cNvSpPr txBox="1"/>
          <p:nvPr/>
        </p:nvSpPr>
        <p:spPr>
          <a:xfrm>
            <a:off x="1578039" y="2775637"/>
            <a:ext cx="1753172" cy="276999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3595" t="-4542" r="-1437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"/>
          <p:cNvSpPr txBox="1"/>
          <p:nvPr/>
        </p:nvSpPr>
        <p:spPr>
          <a:xfrm>
            <a:off x="1578039" y="4273227"/>
            <a:ext cx="2273251" cy="276999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2775" t="-4542" r="-1108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"/>
          <p:cNvSpPr txBox="1"/>
          <p:nvPr/>
        </p:nvSpPr>
        <p:spPr>
          <a:xfrm>
            <a:off x="1578039" y="5048147"/>
            <a:ext cx="1077153" cy="276999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7057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"/>
          <p:cNvSpPr txBox="1"/>
          <p:nvPr/>
        </p:nvSpPr>
        <p:spPr>
          <a:xfrm>
            <a:off x="1578039" y="3472181"/>
            <a:ext cx="1884618" cy="276999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2682" r="-2010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"/>
          <p:cNvSpPr txBox="1"/>
          <p:nvPr/>
        </p:nvSpPr>
        <p:spPr>
          <a:xfrm>
            <a:off x="1213698" y="1964040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"/>
          <p:cNvSpPr txBox="1"/>
          <p:nvPr/>
        </p:nvSpPr>
        <p:spPr>
          <a:xfrm>
            <a:off x="1213698" y="273422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"/>
          <p:cNvSpPr txBox="1"/>
          <p:nvPr/>
        </p:nvSpPr>
        <p:spPr>
          <a:xfrm>
            <a:off x="1213698" y="3412960"/>
            <a:ext cx="3417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"/>
          <p:cNvSpPr txBox="1"/>
          <p:nvPr/>
        </p:nvSpPr>
        <p:spPr>
          <a:xfrm>
            <a:off x="1213698" y="419620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"/>
          <p:cNvSpPr txBox="1"/>
          <p:nvPr/>
        </p:nvSpPr>
        <p:spPr>
          <a:xfrm>
            <a:off x="1213698" y="4953318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 txBox="1"/>
          <p:nvPr/>
        </p:nvSpPr>
        <p:spPr>
          <a:xfrm>
            <a:off x="1466141" y="2344616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"/>
          <p:cNvSpPr txBox="1"/>
          <p:nvPr/>
        </p:nvSpPr>
        <p:spPr>
          <a:xfrm>
            <a:off x="1466141" y="3083525"/>
            <a:ext cx="15680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 txBox="1"/>
          <p:nvPr/>
        </p:nvSpPr>
        <p:spPr>
          <a:xfrm>
            <a:off x="1466141" y="3790540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"/>
          <p:cNvSpPr txBox="1"/>
          <p:nvPr/>
        </p:nvSpPr>
        <p:spPr>
          <a:xfrm>
            <a:off x="1466140" y="4631690"/>
            <a:ext cx="15071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"/>
          <p:cNvSpPr txBox="1"/>
          <p:nvPr/>
        </p:nvSpPr>
        <p:spPr>
          <a:xfrm>
            <a:off x="2867710" y="4643570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1488910" y="5393395"/>
            <a:ext cx="148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"/>
          <p:cNvSpPr txBox="1"/>
          <p:nvPr/>
        </p:nvSpPr>
        <p:spPr>
          <a:xfrm>
            <a:off x="4300154" y="4639617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Θ(n</a:t>
            </a:r>
            <a:r>
              <a:rPr lang="en-US" sz="1800" b="1" i="0" u="none" strike="noStrike" cap="none" baseline="3000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257;p13">
            <a:extLst>
              <a:ext uri="{FF2B5EF4-FFF2-40B4-BE49-F238E27FC236}">
                <a16:creationId xmlns:a16="http://schemas.microsoft.com/office/drawing/2014/main" id="{824F9FD6-3E70-4642-A703-7D59C0007DF0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/>
              <a:t>CSE 373 20 SP – CHUN &amp; CHAMPION</a:t>
            </a:r>
            <a:endParaRPr lang="fr-FR" sz="800" dirty="0"/>
          </a:p>
        </p:txBody>
      </p:sp>
      <p:sp>
        <p:nvSpPr>
          <p:cNvPr id="34" name="Google Shape;257;p13">
            <a:extLst>
              <a:ext uri="{FF2B5EF4-FFF2-40B4-BE49-F238E27FC236}">
                <a16:creationId xmlns:a16="http://schemas.microsoft.com/office/drawing/2014/main" id="{A3292C54-6C23-4168-97A3-9A0DDAC6A98E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2260CFE-E139-45C1-A92C-17B8F5C84E3E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453359"/>
            <a:ext cx="4578455" cy="1579001"/>
            <a:chOff x="1206001" y="3141826"/>
            <a:chExt cx="4934703" cy="1701863"/>
          </a:xfrm>
        </p:grpSpPr>
        <p:sp>
          <p:nvSpPr>
            <p:cNvPr id="36" name="Google Shape;921;p27">
              <a:extLst>
                <a:ext uri="{FF2B5EF4-FFF2-40B4-BE49-F238E27FC236}">
                  <a16:creationId xmlns:a16="http://schemas.microsoft.com/office/drawing/2014/main" id="{91FDE9D0-1D09-45E3-927C-0BE69EC5823B}"/>
                </a:ext>
              </a:extLst>
            </p:cNvPr>
            <p:cNvSpPr/>
            <p:nvPr/>
          </p:nvSpPr>
          <p:spPr>
            <a:xfrm>
              <a:off x="1206001" y="3141826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O-Notation</a:t>
              </a:r>
              <a:endParaRPr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A7ED0E79-083D-43DE-BF6F-D2510335E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06500" y="3618076"/>
              <a:ext cx="4934204" cy="1225613"/>
            </a:xfrm>
            <a:prstGeom prst="rect">
              <a:avLst/>
            </a:prstGeom>
          </p:spPr>
        </p:pic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473FB23C-EE1B-490F-B7E1-8188A689BFA1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2256772"/>
            <a:ext cx="4577992" cy="1567217"/>
            <a:chOff x="7056771" y="520700"/>
            <a:chExt cx="4934204" cy="1689162"/>
          </a:xfrm>
        </p:grpSpPr>
        <p:pic>
          <p:nvPicPr>
            <p:cNvPr id="42" name="Grafik 41">
              <a:extLst>
                <a:ext uri="{FF2B5EF4-FFF2-40B4-BE49-F238E27FC236}">
                  <a16:creationId xmlns:a16="http://schemas.microsoft.com/office/drawing/2014/main" id="{DCB8ECC9-E778-453F-96C0-40163BFBB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104399" y="996950"/>
              <a:ext cx="4838949" cy="1212912"/>
            </a:xfrm>
            <a:prstGeom prst="rect">
              <a:avLst/>
            </a:prstGeom>
          </p:spPr>
        </p:pic>
        <p:sp>
          <p:nvSpPr>
            <p:cNvPr id="43" name="Google Shape;921;p27">
              <a:extLst>
                <a:ext uri="{FF2B5EF4-FFF2-40B4-BE49-F238E27FC236}">
                  <a16:creationId xmlns:a16="http://schemas.microsoft.com/office/drawing/2014/main" id="{6175ED36-3BA6-42D3-9AE7-600DB9E0CDE3}"/>
                </a:ext>
              </a:extLst>
            </p:cNvPr>
            <p:cNvSpPr/>
            <p:nvPr/>
          </p:nvSpPr>
          <p:spPr>
            <a:xfrm>
              <a:off x="7056771" y="520700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Ω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46" name="Datumsplatzhalter 4">
            <a:extLst>
              <a:ext uri="{FF2B5EF4-FFF2-40B4-BE49-F238E27FC236}">
                <a16:creationId xmlns:a16="http://schemas.microsoft.com/office/drawing/2014/main" id="{EB57B1D5-B26A-4627-BFAA-7212FFF7DDD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F2D06E3F-368B-43DC-96F3-4B8E65027050}" type="datetime1">
              <a:rPr lang="de-DE" smtClean="0"/>
              <a:pPr/>
              <a:t>19.12.2025</a:t>
            </a:fld>
            <a:endParaRPr lang="de-DE" dirty="0"/>
          </a:p>
        </p:txBody>
      </p:sp>
      <p:sp>
        <p:nvSpPr>
          <p:cNvPr id="47" name="Foliennummernplatzhalter 5">
            <a:extLst>
              <a:ext uri="{FF2B5EF4-FFF2-40B4-BE49-F238E27FC236}">
                <a16:creationId xmlns:a16="http://schemas.microsoft.com/office/drawing/2014/main" id="{E0ABE9D6-255B-4BBC-A0CA-A1EE7528F86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 dirty="0"/>
              <a:t>Seite </a:t>
            </a:r>
            <a:fld id="{43310F81-32EE-4F95-9E9C-0BDC6AD52EEC}" type="slidenum">
              <a:rPr lang="de-DE" smtClean="0"/>
              <a:pPr/>
              <a:t>7</a:t>
            </a:fld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01CDBB-62BB-4D4A-9EFC-1664E20EBDE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DA8BDD-77A6-4BCD-A68E-EF3DD5D26B1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 dirty="0"/>
              <a:t>Algorithmik – Laufzeitanalyse von Algorithmen durch Asymptotische Notation</a:t>
            </a:r>
          </a:p>
        </p:txBody>
      </p:sp>
      <p:sp>
        <p:nvSpPr>
          <p:cNvPr id="548" name="Google Shape;548;p26"/>
          <p:cNvSpPr/>
          <p:nvPr/>
        </p:nvSpPr>
        <p:spPr>
          <a:xfrm>
            <a:off x="1706108" y="2294546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49" name="Google Shape;549;p26"/>
          <p:cNvSpPr/>
          <p:nvPr/>
        </p:nvSpPr>
        <p:spPr>
          <a:xfrm>
            <a:off x="1706108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0" name="Google Shape;550;p26"/>
          <p:cNvSpPr/>
          <p:nvPr/>
        </p:nvSpPr>
        <p:spPr>
          <a:xfrm>
            <a:off x="2071868" y="2294546"/>
            <a:ext cx="245566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1" name="Google Shape;551;p26"/>
          <p:cNvSpPr/>
          <p:nvPr/>
        </p:nvSpPr>
        <p:spPr>
          <a:xfrm>
            <a:off x="6145936" y="2294546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2" name="Google Shape;552;p26"/>
          <p:cNvSpPr/>
          <p:nvPr/>
        </p:nvSpPr>
        <p:spPr>
          <a:xfrm>
            <a:off x="6145936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3" name="Google Shape;553;p26"/>
          <p:cNvSpPr/>
          <p:nvPr/>
        </p:nvSpPr>
        <p:spPr>
          <a:xfrm flipH="1">
            <a:off x="5797910" y="2665974"/>
            <a:ext cx="1061359" cy="357006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4" name="Google Shape;554;p26"/>
          <p:cNvSpPr/>
          <p:nvPr/>
        </p:nvSpPr>
        <p:spPr>
          <a:xfrm flipH="1">
            <a:off x="3870919" y="2660306"/>
            <a:ext cx="965902" cy="381164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5" name="Google Shape;555;p26"/>
          <p:cNvSpPr/>
          <p:nvPr/>
        </p:nvSpPr>
        <p:spPr>
          <a:xfrm flipH="1">
            <a:off x="4652448" y="2657861"/>
            <a:ext cx="1119941" cy="376711"/>
          </a:xfrm>
          <a:prstGeom prst="flowChartOnlineStorag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6" name="Google Shape;556;p26"/>
          <p:cNvSpPr/>
          <p:nvPr/>
        </p:nvSpPr>
        <p:spPr>
          <a:xfrm>
            <a:off x="4522564" y="2293324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7" name="Google Shape;557;p26"/>
          <p:cNvSpPr/>
          <p:nvPr/>
        </p:nvSpPr>
        <p:spPr>
          <a:xfrm>
            <a:off x="4522564" y="3034572"/>
            <a:ext cx="365760" cy="36576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58" name="Google Shape;558;p26"/>
          <p:cNvSpPr/>
          <p:nvPr/>
        </p:nvSpPr>
        <p:spPr>
          <a:xfrm>
            <a:off x="589008" y="2294546"/>
            <a:ext cx="1121652" cy="11057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6"/>
          <p:cNvSpPr/>
          <p:nvPr/>
        </p:nvSpPr>
        <p:spPr>
          <a:xfrm>
            <a:off x="1656936" y="2644252"/>
            <a:ext cx="418989" cy="3968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0" name="Google Shape;560;p26"/>
          <p:cNvSpPr/>
          <p:nvPr/>
        </p:nvSpPr>
        <p:spPr>
          <a:xfrm>
            <a:off x="222748" y="2294546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1" name="Google Shape;561;p26"/>
          <p:cNvSpPr/>
          <p:nvPr/>
        </p:nvSpPr>
        <p:spPr>
          <a:xfrm>
            <a:off x="222747" y="3034572"/>
            <a:ext cx="365760" cy="365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2" name="Google Shape;562;p26"/>
          <p:cNvSpPr/>
          <p:nvPr/>
        </p:nvSpPr>
        <p:spPr>
          <a:xfrm>
            <a:off x="2294956" y="2436634"/>
            <a:ext cx="2044962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3" name="Google Shape;563;p26"/>
          <p:cNvSpPr txBox="1"/>
          <p:nvPr/>
        </p:nvSpPr>
        <p:spPr>
          <a:xfrm>
            <a:off x="2253974" y="2671728"/>
            <a:ext cx="212010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-DE" sz="18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Code Modellierung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26"/>
          <p:cNvSpPr/>
          <p:nvPr/>
        </p:nvSpPr>
        <p:spPr>
          <a:xfrm flipH="1">
            <a:off x="5385422" y="2655279"/>
            <a:ext cx="1119941" cy="376711"/>
          </a:xfrm>
          <a:prstGeom prst="flowChartOnlineStorag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65" name="Google Shape;565;p26"/>
          <p:cNvSpPr/>
          <p:nvPr/>
        </p:nvSpPr>
        <p:spPr>
          <a:xfrm>
            <a:off x="4884702" y="2294546"/>
            <a:ext cx="1662037" cy="1105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LAUFZEIT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FUNKTION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26"/>
          <p:cNvSpPr/>
          <p:nvPr/>
        </p:nvSpPr>
        <p:spPr>
          <a:xfrm>
            <a:off x="2749804" y="1727882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26"/>
          <p:cNvSpPr txBox="1"/>
          <p:nvPr/>
        </p:nvSpPr>
        <p:spPr>
          <a:xfrm>
            <a:off x="180932" y="3478151"/>
            <a:ext cx="266932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(i = 0; i &lt; n; i++) {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a[i] = 1;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b[i] = 2;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26"/>
          <p:cNvSpPr txBox="1"/>
          <p:nvPr/>
        </p:nvSpPr>
        <p:spPr>
          <a:xfrm>
            <a:off x="5078903" y="3450674"/>
            <a:ext cx="123623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f(n) = 2n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6"/>
          <p:cNvSpPr/>
          <p:nvPr/>
        </p:nvSpPr>
        <p:spPr>
          <a:xfrm rot="-5400000">
            <a:off x="6102916" y="1750563"/>
            <a:ext cx="3800753" cy="2201056"/>
          </a:xfrm>
          <a:prstGeom prst="trapezoid">
            <a:avLst>
              <a:gd name="adj" fmla="val 61673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0" name="Google Shape;570;p26"/>
          <p:cNvSpPr/>
          <p:nvPr/>
        </p:nvSpPr>
        <p:spPr>
          <a:xfrm rot="5400000">
            <a:off x="9795548" y="1388427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1" name="Google Shape;571;p26"/>
          <p:cNvSpPr/>
          <p:nvPr/>
        </p:nvSpPr>
        <p:spPr>
          <a:xfrm>
            <a:off x="6541810" y="2306148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2" name="Google Shape;572;p26"/>
          <p:cNvSpPr/>
          <p:nvPr/>
        </p:nvSpPr>
        <p:spPr>
          <a:xfrm>
            <a:off x="6541486" y="3034572"/>
            <a:ext cx="365760" cy="365760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73" name="Google Shape;573;p26"/>
          <p:cNvSpPr/>
          <p:nvPr/>
        </p:nvSpPr>
        <p:spPr>
          <a:xfrm>
            <a:off x="9087938" y="959933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574" name="Google Shape;574;p26"/>
          <p:cNvGrpSpPr/>
          <p:nvPr/>
        </p:nvGrpSpPr>
        <p:grpSpPr>
          <a:xfrm>
            <a:off x="9836698" y="959407"/>
            <a:ext cx="2343590" cy="1106838"/>
            <a:chOff x="7012434" y="3614205"/>
            <a:chExt cx="2343590" cy="1106838"/>
          </a:xfrm>
        </p:grpSpPr>
        <p:sp>
          <p:nvSpPr>
            <p:cNvPr id="575" name="Google Shape;575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de-DE" b="1" i="0" u="none" strike="noStrike" cap="none" dirty="0">
                  <a:solidFill>
                    <a:schemeClr val="lt1"/>
                  </a:solidFill>
                  <a:latin typeface="+mj-lt"/>
                  <a:ea typeface="Twentieth Century"/>
                  <a:cs typeface="Twentieth Century"/>
                  <a:sym typeface="Twentieth Century"/>
                </a:rPr>
                <a:t>O-Notation</a:t>
              </a:r>
              <a:endParaRPr sz="2400" b="0" i="0" u="none" strike="noStrike" cap="none" dirty="0">
                <a:solidFill>
                  <a:schemeClr val="lt1"/>
                </a:solidFill>
                <a:latin typeface="+mj-lt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6" name="Google Shape;576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8" name="Google Shape;578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79" name="Google Shape;579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rgbClr val="8BD6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580" name="Google Shape;580;p26"/>
          <p:cNvSpPr/>
          <p:nvPr/>
        </p:nvSpPr>
        <p:spPr>
          <a:xfrm flipH="1">
            <a:off x="6648574" y="2657796"/>
            <a:ext cx="1119941" cy="376711"/>
          </a:xfrm>
          <a:prstGeom prst="flowChartOnlineStorage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1" name="Google Shape;581;p26"/>
          <p:cNvSpPr/>
          <p:nvPr/>
        </p:nvSpPr>
        <p:spPr>
          <a:xfrm>
            <a:off x="7395369" y="2456012"/>
            <a:ext cx="1573414" cy="79296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C7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2" name="Google Shape;582;p26"/>
          <p:cNvSpPr txBox="1"/>
          <p:nvPr/>
        </p:nvSpPr>
        <p:spPr>
          <a:xfrm>
            <a:off x="7384459" y="2488858"/>
            <a:ext cx="1818422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de-DE" sz="20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Asymptotische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de-DE" sz="2000" b="1" i="0" u="none" strike="noStrike" cap="none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Analyse</a:t>
            </a: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26"/>
          <p:cNvSpPr/>
          <p:nvPr/>
        </p:nvSpPr>
        <p:spPr>
          <a:xfrm>
            <a:off x="7555278" y="1315044"/>
            <a:ext cx="762636" cy="762636"/>
          </a:xfrm>
          <a:prstGeom prst="ellipse">
            <a:avLst/>
          </a:prstGeom>
          <a:solidFill>
            <a:srgbClr val="4C328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6"/>
          <p:cNvSpPr/>
          <p:nvPr/>
        </p:nvSpPr>
        <p:spPr>
          <a:xfrm rot="5400000">
            <a:off x="9785813" y="2735694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5" name="Google Shape;585;p26"/>
          <p:cNvSpPr/>
          <p:nvPr/>
        </p:nvSpPr>
        <p:spPr>
          <a:xfrm>
            <a:off x="9078203" y="2307200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6" name="Google Shape;586;p26"/>
          <p:cNvSpPr/>
          <p:nvPr/>
        </p:nvSpPr>
        <p:spPr>
          <a:xfrm rot="5400000">
            <a:off x="9795548" y="4083394"/>
            <a:ext cx="385780" cy="284010"/>
          </a:xfrm>
          <a:prstGeom prst="triangle">
            <a:avLst>
              <a:gd name="adj" fmla="val 50000"/>
            </a:avLst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87" name="Google Shape;587;p26"/>
          <p:cNvSpPr/>
          <p:nvPr/>
        </p:nvSpPr>
        <p:spPr>
          <a:xfrm>
            <a:off x="9087938" y="3654900"/>
            <a:ext cx="758495" cy="1105786"/>
          </a:xfrm>
          <a:prstGeom prst="rect">
            <a:avLst/>
          </a:prstGeom>
          <a:solidFill>
            <a:srgbClr val="9EC0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pSp>
        <p:nvGrpSpPr>
          <p:cNvPr id="588" name="Google Shape;588;p26"/>
          <p:cNvGrpSpPr/>
          <p:nvPr/>
        </p:nvGrpSpPr>
        <p:grpSpPr>
          <a:xfrm>
            <a:off x="9846433" y="3669616"/>
            <a:ext cx="2343590" cy="1106838"/>
            <a:chOff x="7012434" y="3614205"/>
            <a:chExt cx="2343590" cy="1106838"/>
          </a:xfrm>
        </p:grpSpPr>
        <p:sp>
          <p:nvSpPr>
            <p:cNvPr id="589" name="Google Shape;589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 algn="ct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</a:pPr>
              <a:r>
                <a:rPr lang="el-GR" b="1" dirty="0"/>
                <a:t>Ω-</a:t>
              </a:r>
              <a:r>
                <a:rPr lang="de-DE" b="1" dirty="0"/>
                <a:t>Notation</a:t>
              </a:r>
              <a:endPara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0" name="Google Shape;590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1" name="Google Shape;591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2" name="Google Shape;592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3" name="Google Shape;593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rgbClr val="E6AC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grpSp>
        <p:nvGrpSpPr>
          <p:cNvPr id="594" name="Google Shape;594;p26"/>
          <p:cNvGrpSpPr/>
          <p:nvPr/>
        </p:nvGrpSpPr>
        <p:grpSpPr>
          <a:xfrm>
            <a:off x="9802391" y="2306148"/>
            <a:ext cx="2343590" cy="1106838"/>
            <a:chOff x="7012434" y="3614205"/>
            <a:chExt cx="2343590" cy="1106838"/>
          </a:xfrm>
        </p:grpSpPr>
        <p:sp>
          <p:nvSpPr>
            <p:cNvPr id="595" name="Google Shape;595;p26"/>
            <p:cNvSpPr/>
            <p:nvPr/>
          </p:nvSpPr>
          <p:spPr>
            <a:xfrm>
              <a:off x="7290111" y="3614205"/>
              <a:ext cx="1700153" cy="110578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 algn="ctr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</a:pPr>
              <a:r>
                <a:rPr lang="el-GR" b="1" dirty="0"/>
                <a:t>Θ-</a:t>
              </a:r>
              <a:r>
                <a:rPr lang="de-DE" b="1" dirty="0"/>
                <a:t>Notation</a:t>
              </a:r>
              <a:endParaRPr lang="de-DE" b="1" dirty="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6" name="Google Shape;596;p26"/>
            <p:cNvSpPr/>
            <p:nvPr/>
          </p:nvSpPr>
          <p:spPr>
            <a:xfrm>
              <a:off x="7012580" y="3974938"/>
              <a:ext cx="532515" cy="385780"/>
            </a:xfrm>
            <a:prstGeom prst="flowChartCollat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7" name="Google Shape;597;p26"/>
            <p:cNvSpPr/>
            <p:nvPr/>
          </p:nvSpPr>
          <p:spPr>
            <a:xfrm>
              <a:off x="7012434" y="3616465"/>
              <a:ext cx="365760" cy="3657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8" name="Google Shape;598;p26"/>
            <p:cNvSpPr/>
            <p:nvPr/>
          </p:nvSpPr>
          <p:spPr>
            <a:xfrm>
              <a:off x="7012434" y="4355283"/>
              <a:ext cx="365760" cy="3657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sp>
          <p:nvSpPr>
            <p:cNvPr id="599" name="Google Shape;599;p26"/>
            <p:cNvSpPr/>
            <p:nvPr/>
          </p:nvSpPr>
          <p:spPr>
            <a:xfrm rot="5400000">
              <a:off x="8961003" y="3993173"/>
              <a:ext cx="424282" cy="36576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600" name="Google Shape;600;p26"/>
          <p:cNvSpPr txBox="1"/>
          <p:nvPr/>
        </p:nvSpPr>
        <p:spPr>
          <a:xfrm>
            <a:off x="11349728" y="1700485"/>
            <a:ext cx="84029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26"/>
          <p:cNvSpPr txBox="1"/>
          <p:nvPr/>
        </p:nvSpPr>
        <p:spPr>
          <a:xfrm>
            <a:off x="11377186" y="4375642"/>
            <a:ext cx="845103" cy="461665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469" t="-7892" b="-263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26"/>
          <p:cNvSpPr txBox="1"/>
          <p:nvPr/>
        </p:nvSpPr>
        <p:spPr>
          <a:xfrm>
            <a:off x="11349728" y="3063078"/>
            <a:ext cx="862653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Θ(n)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26"/>
          <p:cNvSpPr txBox="1"/>
          <p:nvPr/>
        </p:nvSpPr>
        <p:spPr>
          <a:xfrm>
            <a:off x="5715720" y="4886865"/>
            <a:ext cx="5477055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</a:pPr>
            <a:r>
              <a:rPr lang="de-DE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Wir haben gerade dieses Werkzeug fertiggestellt, um eine Funktion anhand einiger nützlicher Schranken zu charakterisieren!</a:t>
            </a:r>
            <a:endParaRPr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6"/>
          <p:cNvSpPr txBox="1"/>
          <p:nvPr/>
        </p:nvSpPr>
        <p:spPr>
          <a:xfrm>
            <a:off x="661599" y="4886865"/>
            <a:ext cx="4550819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</a:pPr>
            <a:r>
              <a:rPr lang="de-DE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Schauen wir uns dieses Werkzeug nun genauer an. Wie genau kommen wir zu dieser Funktion?</a:t>
            </a:r>
            <a:endParaRPr b="0" i="0" u="none" strike="noStrike" cap="none" dirty="0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605" name="Google Shape;605;p26"/>
          <p:cNvCxnSpPr>
            <a:cxnSpLocks/>
          </p:cNvCxnSpPr>
          <p:nvPr/>
        </p:nvCxnSpPr>
        <p:spPr>
          <a:xfrm flipH="1">
            <a:off x="7900090" y="4285728"/>
            <a:ext cx="698" cy="551579"/>
          </a:xfrm>
          <a:prstGeom prst="straightConnector1">
            <a:avLst/>
          </a:prstGeom>
          <a:noFill/>
          <a:ln w="571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06" name="Google Shape;606;p26"/>
          <p:cNvCxnSpPr>
            <a:cxnSpLocks/>
          </p:cNvCxnSpPr>
          <p:nvPr/>
        </p:nvCxnSpPr>
        <p:spPr>
          <a:xfrm>
            <a:off x="3125875" y="3605978"/>
            <a:ext cx="0" cy="1231329"/>
          </a:xfrm>
          <a:prstGeom prst="straightConnector1">
            <a:avLst/>
          </a:prstGeom>
          <a:noFill/>
          <a:ln w="571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642F3E5-05DE-44F9-869F-E8B203411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Analyse von Algorithmen</a:t>
            </a:r>
          </a:p>
        </p:txBody>
      </p:sp>
      <p:sp>
        <p:nvSpPr>
          <p:cNvPr id="65" name="Google Shape;257;p13">
            <a:extLst>
              <a:ext uri="{FF2B5EF4-FFF2-40B4-BE49-F238E27FC236}">
                <a16:creationId xmlns:a16="http://schemas.microsoft.com/office/drawing/2014/main" id="{5B2E0C48-0BFC-43A7-B0EE-62CDC60B704D}"/>
              </a:ext>
            </a:extLst>
          </p:cNvPr>
          <p:cNvSpPr txBox="1">
            <a:spLocks/>
          </p:cNvSpPr>
          <p:nvPr/>
        </p:nvSpPr>
        <p:spPr>
          <a:xfrm>
            <a:off x="6881091" y="6349134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sp>
        <p:nvSpPr>
          <p:cNvPr id="68" name="Datumsplatzhalter 4">
            <a:extLst>
              <a:ext uri="{FF2B5EF4-FFF2-40B4-BE49-F238E27FC236}">
                <a16:creationId xmlns:a16="http://schemas.microsoft.com/office/drawing/2014/main" id="{64EDBB06-6632-4697-912B-2FABD050E4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F2D06E3F-368B-43DC-96F3-4B8E65027050}" type="datetime1">
              <a:rPr lang="de-DE" smtClean="0"/>
              <a:pPr/>
              <a:t>19.12.2025</a:t>
            </a:fld>
            <a:endParaRPr lang="de-DE" dirty="0"/>
          </a:p>
        </p:txBody>
      </p:sp>
      <p:sp>
        <p:nvSpPr>
          <p:cNvPr id="69" name="Foliennummernplatzhalter 5">
            <a:extLst>
              <a:ext uri="{FF2B5EF4-FFF2-40B4-BE49-F238E27FC236}">
                <a16:creationId xmlns:a16="http://schemas.microsoft.com/office/drawing/2014/main" id="{7CAE0784-6486-4B55-8D34-1DBF713012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 dirty="0"/>
              <a:t>Seite </a:t>
            </a:r>
            <a:fld id="{43310F81-32EE-4F95-9E9C-0BDC6AD52EEC}" type="slidenum">
              <a:rPr lang="de-DE" smtClean="0"/>
              <a:pPr/>
              <a:t>8</a:t>
            </a:fld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asterfolien_16_9">
  <a:themeElements>
    <a:clrScheme name="TH Köln Spektrum">
      <a:dk1>
        <a:srgbClr val="000000"/>
      </a:dk1>
      <a:lt1>
        <a:srgbClr val="FFFFFF"/>
      </a:lt1>
      <a:dk2>
        <a:srgbClr val="808080"/>
      </a:dk2>
      <a:lt2>
        <a:srgbClr val="BFBFBF"/>
      </a:lt2>
      <a:accent1>
        <a:srgbClr val="C00009"/>
      </a:accent1>
      <a:accent2>
        <a:srgbClr val="E24300"/>
      </a:accent2>
      <a:accent3>
        <a:srgbClr val="9D167A"/>
      </a:accent3>
      <a:accent4>
        <a:srgbClr val="00CC00"/>
      </a:accent4>
      <a:accent5>
        <a:srgbClr val="FFFF00"/>
      </a:accent5>
      <a:accent6>
        <a:srgbClr val="259EFF"/>
      </a:accent6>
      <a:hlink>
        <a:srgbClr val="005294"/>
      </a:hlink>
      <a:folHlink>
        <a:srgbClr val="6783B4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635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 w="12700">
          <a:solidFill>
            <a:schemeClr val="tx1"/>
          </a:solidFill>
          <a:tailEnd type="triangle" w="med" len="lg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00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k_ln_pptvorlage_16_9_Feb2016_V1.potx" id="{A576FD44-4E46-4723-9FCD-6DC9777E0436}" vid="{1A564047-D60B-4EFF-AAEA-89036AD4D3C0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masterfolien_16_9</Template>
  <TotalTime>0</TotalTime>
  <Words>994</Words>
  <Application>Microsoft Office PowerPoint</Application>
  <PresentationFormat>Breitbild</PresentationFormat>
  <Paragraphs>224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21" baseType="lpstr">
      <vt:lpstr>Arial</vt:lpstr>
      <vt:lpstr>Arial </vt:lpstr>
      <vt:lpstr>Calibri</vt:lpstr>
      <vt:lpstr>Consolas</vt:lpstr>
      <vt:lpstr>Courier New</vt:lpstr>
      <vt:lpstr>Helvetica Neue</vt:lpstr>
      <vt:lpstr>Montserrat</vt:lpstr>
      <vt:lpstr>Quattrocento Sans</vt:lpstr>
      <vt:lpstr>Symbol</vt:lpstr>
      <vt:lpstr>Tahoma</vt:lpstr>
      <vt:lpstr>Twentieth Century</vt:lpstr>
      <vt:lpstr>Wingdings</vt:lpstr>
      <vt:lpstr>masterfolien_16_9</vt:lpstr>
      <vt:lpstr>Lernraum I: Abstrakte Datentypen, Datenstrukturen und Asymptotische Notation</vt:lpstr>
      <vt:lpstr>Klassifikation der Wachstumsordnung</vt:lpstr>
      <vt:lpstr>Code in O-Notation umwandeln</vt:lpstr>
      <vt:lpstr>Analyse von Algorithmen</vt:lpstr>
      <vt:lpstr>Code Modellierung</vt:lpstr>
      <vt:lpstr>Code Modellierung  Beispiel 2</vt:lpstr>
      <vt:lpstr>O-, Ω- und Θ-Notation Übung</vt:lpstr>
      <vt:lpstr>Analyse von Algorithmen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02_Algorithmik_AsymptotischeAnalyse</dc:title>
  <dc:creator>Daniel Gaida</dc:creator>
  <cp:lastModifiedBy>Ivan Kurilin (ikurilin)</cp:lastModifiedBy>
  <cp:revision>970</cp:revision>
  <cp:lastPrinted>2016-02-26T07:58:29Z</cp:lastPrinted>
  <dcterms:created xsi:type="dcterms:W3CDTF">2021-07-17T19:54:54Z</dcterms:created>
  <dcterms:modified xsi:type="dcterms:W3CDTF">2025-12-19T10:42:09Z</dcterms:modified>
</cp:coreProperties>
</file>