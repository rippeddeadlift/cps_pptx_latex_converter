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031" r:id="rId2"/>
    <p:sldId id="1037" r:id="rId3"/>
    <p:sldId id="283" r:id="rId4"/>
    <p:sldId id="257" r:id="rId5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niel Gaida" initials="DG" lastIdx="1" clrIdx="0"/>
  <p:cmAuthor id="1" name="Sonia Fereidooni" initials="" lastIdx="4" clrIdx="1"/>
  <p:cmAuthor id="2" name="Kasey Champion" initials="" lastIdx="2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21" autoAdjust="0"/>
  </p:normalViewPr>
  <p:slideViewPr>
    <p:cSldViewPr snapToGrid="0" snapToObjects="1">
      <p:cViewPr varScale="1">
        <p:scale>
          <a:sx n="79" d="100"/>
          <a:sy n="79" d="100"/>
        </p:scale>
        <p:origin x="80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3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06.03.2026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06.03.2026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021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8b4eb0048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1950" y="220663"/>
            <a:ext cx="1054100" cy="593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g118b4eb0048_0_551:notes"/>
          <p:cNvSpPr txBox="1">
            <a:spLocks noGrp="1"/>
          </p:cNvSpPr>
          <p:nvPr>
            <p:ph type="body" idx="1"/>
          </p:nvPr>
        </p:nvSpPr>
        <p:spPr>
          <a:xfrm>
            <a:off x="685800" y="848023"/>
            <a:ext cx="54864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7" name="Google Shape;757;g118b4eb0048_0_551:notes"/>
          <p:cNvSpPr txBox="1">
            <a:spLocks noGrp="1"/>
          </p:cNvSpPr>
          <p:nvPr>
            <p:ph type="sldNum" idx="12"/>
          </p:nvPr>
        </p:nvSpPr>
        <p:spPr>
          <a:xfrm>
            <a:off x="3884613" y="1673713"/>
            <a:ext cx="2971800" cy="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48784-7281-4837-A1AE-FC4A34A747D6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21128-E3BC-4510-A597-24FCB75D3A75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B419C-6100-4ECC-A14C-29389AFC3646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 indent="-187200"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 indent="-187200"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379B7-331E-424B-A45F-F03D5981C976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F7EFE-EEF9-40C5-9AEC-F07BD35586E4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603B7-878E-43D0-A9A1-FA3C2AF87C58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85212-05E7-49A7-ABD6-673A483CDAE3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535EE-90AE-4348-98D3-AFE064A78180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1D907-3A8C-4FA0-AF32-FB476100B44A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865" y="228779"/>
            <a:ext cx="11368459" cy="914641"/>
          </a:xfrm>
        </p:spPr>
        <p:txBody>
          <a:bodyPr lIns="0" tIns="0" rIns="0" bIns="0"/>
          <a:lstStyle>
            <a:lvl1pPr>
              <a:defRPr sz="290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9499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10867" y="1469681"/>
            <a:ext cx="11368460" cy="3854809"/>
          </a:xfrm>
        </p:spPr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Holder 2"/>
          <p:cNvSpPr>
            <a:spLocks noGrp="1"/>
          </p:cNvSpPr>
          <p:nvPr>
            <p:ph type="title"/>
          </p:nvPr>
        </p:nvSpPr>
        <p:spPr>
          <a:xfrm>
            <a:off x="410865" y="228779"/>
            <a:ext cx="11368459" cy="914641"/>
          </a:xfrm>
        </p:spPr>
        <p:txBody>
          <a:bodyPr lIns="0" tIns="0" rIns="0" bIns="0"/>
          <a:lstStyle>
            <a:lvl1pPr>
              <a:defRPr sz="290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1422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C26682-0C93-4009-904E-AED2851849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138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D1A458-D506-4560-914E-B5421E17A3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930E3-AAC2-4ADF-925B-A037BED539BF}" type="datetime1">
              <a:rPr lang="de-DE" smtClean="0"/>
              <a:t>06.03.2026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EFA00E-A96F-4147-9719-EA15ED786B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1FC8CA-7D7D-4BF5-97CE-E12CD0B5C87B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580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0D2A5-F52F-4653-819F-1A37B28B85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7078B80-CC76-49E8-922A-90B2CBA19035}" type="datetime1">
              <a:rPr lang="de-DE" smtClean="0"/>
              <a:t>06.03.2026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10964-A49D-4BBE-9507-6315150321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C8488-569A-444F-B796-697E2B83A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885B7-B8B8-4BDF-9399-E15470497E67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688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31298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190625" y="2268141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3159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0F1620-6991-468A-986C-DEA71AF2A6A8}" type="datetime1">
              <a:rPr lang="de-DE" smtClean="0"/>
              <a:t>06.03.2026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97EE5-9B1D-48EF-B619-A2DEE0A0DD9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29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9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ußzeilenplatzhalter 3"/>
          <p:cNvSpPr txBox="1">
            <a:spLocks/>
          </p:cNvSpPr>
          <p:nvPr/>
        </p:nvSpPr>
        <p:spPr>
          <a:xfrm>
            <a:off x="2590800" y="6011863"/>
            <a:ext cx="5254625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/>
              <a:t>Prof. Dr. Daniel Gaida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>
                <a:solidFill>
                  <a:schemeClr val="tx1"/>
                </a:solidFill>
              </a:rPr>
              <a:t>Professor</a:t>
            </a:r>
            <a:r>
              <a:rPr lang="de-DE" sz="900" b="0" baseline="0" dirty="0">
                <a:solidFill>
                  <a:schemeClr val="tx1"/>
                </a:solidFill>
              </a:rPr>
              <a:t> für Cyber-Physische Systeme</a:t>
            </a:r>
            <a:endParaRPr lang="de-DE" sz="9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>
                <a:solidFill>
                  <a:schemeClr val="tx1"/>
                </a:solidFill>
              </a:rPr>
              <a:t>Fakultät</a:t>
            </a:r>
            <a:r>
              <a:rPr lang="de-DE" sz="900" b="0" baseline="0" dirty="0">
                <a:solidFill>
                  <a:schemeClr val="tx1"/>
                </a:solidFill>
              </a:rPr>
              <a:t> für Informatik und Ingenieurwissenschaften - </a:t>
            </a:r>
            <a:r>
              <a:rPr lang="de-DE" sz="900" b="0" dirty="0">
                <a:solidFill>
                  <a:schemeClr val="tx1"/>
                </a:solidFill>
              </a:rPr>
              <a:t>Institut</a:t>
            </a:r>
            <a:r>
              <a:rPr lang="de-DE" sz="900" b="0" baseline="0" dirty="0">
                <a:solidFill>
                  <a:schemeClr val="tx1"/>
                </a:solidFill>
              </a:rPr>
              <a:t> für Informatik</a:t>
            </a:r>
            <a:endParaRPr lang="de-DE" sz="900" dirty="0"/>
          </a:p>
        </p:txBody>
      </p:sp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C590BB0-1566-4728-8689-C18D1116058A}" type="datetime1">
              <a:rPr lang="de-DE" smtClean="0"/>
              <a:t>06.03.2026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  <p:sldLayoutId id="2147483726" r:id="rId11"/>
    <p:sldLayoutId id="2147483727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6" r:id="rId19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8720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8720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gocheatsheet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Lernraum I: Abstrakte Datentypen, Datenstrukturen und Asymptotische Notation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1"/>
            <a:r>
              <a:rPr lang="de-DE" noProof="0" dirty="0"/>
              <a:t>Abstrakte Datentypen</a:t>
            </a:r>
          </a:p>
          <a:p>
            <a:pPr lvl="2"/>
            <a:r>
              <a:rPr lang="de-DE" noProof="0" dirty="0"/>
              <a:t>Liste, Stapel, Warteschlange, Tabelle (Dictionary)</a:t>
            </a:r>
          </a:p>
          <a:p>
            <a:pPr lvl="1"/>
            <a:r>
              <a:rPr lang="de-DE" noProof="0" dirty="0"/>
              <a:t>Datenstrukturen</a:t>
            </a:r>
          </a:p>
          <a:p>
            <a:pPr lvl="2"/>
            <a:r>
              <a:rPr lang="de-DE" noProof="0" dirty="0"/>
              <a:t>Array, Verkettete Liste</a:t>
            </a:r>
          </a:p>
          <a:p>
            <a:pPr lvl="1"/>
            <a:r>
              <a:rPr lang="de-DE" noProof="0" dirty="0"/>
              <a:t>Implementierungen der Abstrakten Datentypen mit den Datenstrukturen …</a:t>
            </a:r>
          </a:p>
          <a:p>
            <a:pPr lvl="2"/>
            <a:r>
              <a:rPr lang="de-DE" noProof="0" dirty="0"/>
              <a:t>Array</a:t>
            </a:r>
          </a:p>
          <a:p>
            <a:pPr lvl="2"/>
            <a:r>
              <a:rPr lang="de-DE" noProof="0" dirty="0"/>
              <a:t>Verkettete Listen</a:t>
            </a:r>
          </a:p>
          <a:p>
            <a:pPr lvl="1"/>
            <a:r>
              <a:rPr lang="de-DE" noProof="0" dirty="0"/>
              <a:t>Analyse von Laufzeit und Speicherbedarf der Implementierungen</a:t>
            </a:r>
          </a:p>
          <a:p>
            <a:pPr lvl="2"/>
            <a:r>
              <a:rPr lang="de-DE" noProof="0" dirty="0"/>
              <a:t>O-Notation</a:t>
            </a:r>
          </a:p>
          <a:p>
            <a:pPr lvl="1"/>
            <a:r>
              <a:rPr lang="de-DE" noProof="0" dirty="0">
                <a:solidFill>
                  <a:srgbClr val="002060"/>
                </a:solidFill>
              </a:rPr>
              <a:t>Laufzeitanalyse von Algorithmen durch Asymptotische Notation</a:t>
            </a:r>
          </a:p>
          <a:p>
            <a:pPr lvl="2"/>
            <a:r>
              <a:rPr lang="de-DE" noProof="0" dirty="0">
                <a:solidFill>
                  <a:srgbClr val="002060"/>
                </a:solidFill>
              </a:rPr>
              <a:t>O-Notation, Ω-Notation, Θ-Notation</a:t>
            </a:r>
          </a:p>
          <a:p>
            <a:pPr lvl="2"/>
            <a:r>
              <a:rPr lang="de-DE" noProof="0" dirty="0">
                <a:solidFill>
                  <a:srgbClr val="002060"/>
                </a:solidFill>
              </a:rPr>
              <a:t>Fallanalyse: </a:t>
            </a:r>
            <a:r>
              <a:rPr lang="de-DE" noProof="0" dirty="0" err="1">
                <a:solidFill>
                  <a:srgbClr val="002060"/>
                </a:solidFill>
              </a:rPr>
              <a:t>Worst</a:t>
            </a:r>
            <a:r>
              <a:rPr lang="de-DE" noProof="0" dirty="0">
                <a:solidFill>
                  <a:srgbClr val="002060"/>
                </a:solidFill>
              </a:rPr>
              <a:t> Case, Best Case Analyse</a:t>
            </a:r>
          </a:p>
          <a:p>
            <a:pPr lvl="1"/>
            <a:r>
              <a:rPr lang="de-DE" noProof="0" dirty="0"/>
              <a:t>Laufzeitanalyse von Rekursiven Algorithmen durch Asymptotische Notation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 dirty="0"/>
              <a:t>Algorithmik – Laufzeitanalyse von Algorithmen durch Asymptotische Notation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C55095-590B-4AAB-8606-0F86796D070A}" type="datetime1">
              <a:rPr lang="de-DE" smtClean="0"/>
              <a:pPr/>
              <a:t>06.03.2026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11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60009B3-4363-49E4-9E84-D17A2A06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Klassifikation der Wachstumsordnung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BF10E30-8BF6-4E47-9C16-971F642C667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b="1" noProof="0" dirty="0">
                <a:sym typeface="Quattrocento Sans"/>
              </a:rPr>
              <a:t>Wachstumsordnung</a:t>
            </a:r>
            <a:r>
              <a:rPr lang="de-DE" noProof="0" dirty="0">
                <a:sym typeface="Quattrocento Sans"/>
              </a:rPr>
              <a:t>: Eine Kategorie der </a:t>
            </a:r>
            <a:r>
              <a:rPr lang="de-DE" noProof="0" dirty="0" err="1">
                <a:sym typeface="Quattrocento Sans"/>
              </a:rPr>
              <a:t>Algorithmeneffizienz</a:t>
            </a:r>
            <a:r>
              <a:rPr lang="de-DE" noProof="0" dirty="0">
                <a:sym typeface="Quattrocento Sans"/>
              </a:rPr>
              <a:t>, die auf dem Verhältnis des Algorithmus zur Eingabegröße n basiert.</a:t>
            </a:r>
            <a:endParaRPr lang="de-DE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D4269AE-763D-4E82-8E6D-5C41F31B4DF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Algorithmik – Laufzeitanalyse von Algorithmen durch Asymptotische Notation</a:t>
            </a:r>
          </a:p>
        </p:txBody>
      </p:sp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A10456D1-8DBA-4572-B154-048ED81216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D06E3F-368B-43DC-96F3-4B8E65027050}" type="datetime1">
              <a:rPr lang="de-DE" smtClean="0"/>
              <a:pPr/>
              <a:t>06.03.2026</a:t>
            </a:fld>
            <a:endParaRPr lang="de-DE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0B566CFB-AD9D-4285-B0FA-4022FC1DBD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2</a:t>
            </a:fld>
            <a:endParaRPr lang="de-DE" dirty="0"/>
          </a:p>
        </p:txBody>
      </p:sp>
      <p:graphicFrame>
        <p:nvGraphicFramePr>
          <p:cNvPr id="762" name="Google Shape;762;g118b4eb0048_0_551"/>
          <p:cNvGraphicFramePr/>
          <p:nvPr/>
        </p:nvGraphicFramePr>
        <p:xfrm>
          <a:off x="323539" y="2398763"/>
          <a:ext cx="6305875" cy="35193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Description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O-Notation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Runtime if you double 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Example Algorithm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constant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unchanged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Accessing an index of an array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logarithmic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O(log</a:t>
                      </a:r>
                      <a:r>
                        <a:rPr lang="en-US" sz="1400" b="0" i="0" u="none" strike="noStrike" cap="none" baseline="-25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n)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increases slightly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Binary search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linear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doubles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Looping over an array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log-linear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 log</a:t>
                      </a:r>
                      <a:r>
                        <a:rPr lang="en-US" sz="1400" b="0" i="0" u="none" strike="noStrike" cap="none" baseline="-25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n)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slightly more than doubles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Merge sort algorithm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quadratic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</a:t>
                      </a:r>
                      <a:r>
                        <a:rPr lang="en-US" sz="1400" b="0" i="0" u="none" strike="noStrike" cap="none" baseline="30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quadruples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Nested loops!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exponential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O(2</a:t>
                      </a:r>
                      <a:r>
                        <a:rPr lang="en-US" sz="1400" b="0" i="0" u="none" strike="noStrike" cap="none" baseline="30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multiplies drastically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Fibonacci with recursion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63" name="Google Shape;763;g118b4eb0048_0_551" descr="A screenshot of a cell phone &#10; &#10;Description automatically generated"/>
          <p:cNvPicPr preferRelativeResize="0"/>
          <p:nvPr/>
        </p:nvPicPr>
        <p:blipFill rotWithShape="1">
          <a:blip r:embed="rId3">
            <a:alphaModFix/>
          </a:blip>
          <a:srcRect l="2998" r="1216"/>
          <a:stretch/>
        </p:blipFill>
        <p:spPr>
          <a:xfrm>
            <a:off x="6757172" y="2490907"/>
            <a:ext cx="5257027" cy="33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57;p13">
            <a:extLst>
              <a:ext uri="{FF2B5EF4-FFF2-40B4-BE49-F238E27FC236}">
                <a16:creationId xmlns:a16="http://schemas.microsoft.com/office/drawing/2014/main" id="{CE1432C9-CB2C-40A1-8170-B8B800E599CD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>
                <a:hlinkClick r:id="rId4"/>
              </a:rPr>
              <a:t>https://www.bigocheatsheet.com/</a:t>
            </a:r>
            <a:endParaRPr lang="fr-FR" sz="800" dirty="0"/>
          </a:p>
        </p:txBody>
      </p:sp>
      <p:sp>
        <p:nvSpPr>
          <p:cNvPr id="15" name="Google Shape;257;p13">
            <a:extLst>
              <a:ext uri="{FF2B5EF4-FFF2-40B4-BE49-F238E27FC236}">
                <a16:creationId xmlns:a16="http://schemas.microsoft.com/office/drawing/2014/main" id="{23459359-D54E-428A-A915-A5906FE83C94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4E14EAE-F586-4704-B989-CB89828251C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public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method2(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0;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i = 0;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while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(i &lt;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j = 0;    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while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(j &lt;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if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(j % 2 == 0)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    // do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nothing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+ (i * 3) + j;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j = j + 1;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i = i + 1;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}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return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C0F9B-36CF-439E-9A1D-0BBFBE886D3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 dirty="0"/>
              <a:t>Algorithmik – Laufzeitanalyse von Algorithmen durch Asymptotische Notation</a:t>
            </a:r>
          </a:p>
        </p:txBody>
      </p:sp>
      <p:sp>
        <p:nvSpPr>
          <p:cNvPr id="758" name="Google Shape;758;p22"/>
          <p:cNvSpPr/>
          <p:nvPr/>
        </p:nvSpPr>
        <p:spPr>
          <a:xfrm>
            <a:off x="3764501" y="1852223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59" name="Google Shape;759;p22"/>
          <p:cNvSpPr/>
          <p:nvPr/>
        </p:nvSpPr>
        <p:spPr>
          <a:xfrm>
            <a:off x="3507612" y="2177350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/>
          </a:p>
        </p:txBody>
      </p:sp>
      <p:sp>
        <p:nvSpPr>
          <p:cNvPr id="760" name="Google Shape;760;p22"/>
          <p:cNvSpPr/>
          <p:nvPr/>
        </p:nvSpPr>
        <p:spPr>
          <a:xfrm>
            <a:off x="4278278" y="2475261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61" name="Google Shape;761;p22"/>
          <p:cNvSpPr/>
          <p:nvPr/>
        </p:nvSpPr>
        <p:spPr>
          <a:xfrm>
            <a:off x="5892432" y="3406728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dirty="0"/>
          </a:p>
        </p:txBody>
      </p:sp>
      <p:sp>
        <p:nvSpPr>
          <p:cNvPr id="762" name="Google Shape;762;p22"/>
          <p:cNvSpPr/>
          <p:nvPr/>
        </p:nvSpPr>
        <p:spPr>
          <a:xfrm>
            <a:off x="3889192" y="5576698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/>
          </a:p>
        </p:txBody>
      </p:sp>
      <p:sp>
        <p:nvSpPr>
          <p:cNvPr id="763" name="Google Shape;763;p22"/>
          <p:cNvSpPr/>
          <p:nvPr/>
        </p:nvSpPr>
        <p:spPr>
          <a:xfrm>
            <a:off x="7241599" y="3105834"/>
            <a:ext cx="296533" cy="1992639"/>
          </a:xfrm>
          <a:prstGeom prst="rightBrace">
            <a:avLst>
              <a:gd name="adj1" fmla="val 56789"/>
              <a:gd name="adj2" fmla="val 50000"/>
            </a:avLst>
          </a:prstGeom>
          <a:noFill/>
          <a:ln w="38100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64" name="Google Shape;764;p22"/>
          <p:cNvSpPr/>
          <p:nvPr/>
        </p:nvSpPr>
        <p:spPr>
          <a:xfrm>
            <a:off x="7690095" y="3945937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+9</a:t>
            </a:r>
            <a:endParaRPr dirty="0"/>
          </a:p>
        </p:txBody>
      </p:sp>
      <p:grpSp>
        <p:nvGrpSpPr>
          <p:cNvPr id="765" name="Google Shape;765;p22"/>
          <p:cNvGrpSpPr/>
          <p:nvPr/>
        </p:nvGrpSpPr>
        <p:grpSpPr>
          <a:xfrm>
            <a:off x="8438680" y="3821525"/>
            <a:ext cx="552870" cy="552870"/>
            <a:chOff x="7574669" y="3536256"/>
            <a:chExt cx="552870" cy="552870"/>
          </a:xfrm>
        </p:grpSpPr>
        <p:sp>
          <p:nvSpPr>
            <p:cNvPr id="766" name="Google Shape;766;p22"/>
            <p:cNvSpPr/>
            <p:nvPr/>
          </p:nvSpPr>
          <p:spPr>
            <a:xfrm>
              <a:off x="7574669" y="3536256"/>
              <a:ext cx="552870" cy="55287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22"/>
            <p:cNvSpPr txBox="1"/>
            <p:nvPr/>
          </p:nvSpPr>
          <p:spPr>
            <a:xfrm>
              <a:off x="7639474" y="3628025"/>
              <a:ext cx="423261" cy="369332"/>
            </a:xfrm>
            <a:prstGeom prst="rect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*n</a:t>
              </a:r>
              <a:endParaRPr dirty="0"/>
            </a:p>
          </p:txBody>
        </p:sp>
      </p:grpSp>
      <p:sp>
        <p:nvSpPr>
          <p:cNvPr id="768" name="Google Shape;768;p22"/>
          <p:cNvSpPr txBox="1"/>
          <p:nvPr/>
        </p:nvSpPr>
        <p:spPr>
          <a:xfrm>
            <a:off x="7602938" y="3129309"/>
            <a:ext cx="18320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Innere Schleife läuft n-mal</a:t>
            </a:r>
            <a:endParaRPr dirty="0"/>
          </a:p>
        </p:txBody>
      </p:sp>
      <p:sp>
        <p:nvSpPr>
          <p:cNvPr id="769" name="Google Shape;769;p22"/>
          <p:cNvSpPr/>
          <p:nvPr/>
        </p:nvSpPr>
        <p:spPr>
          <a:xfrm>
            <a:off x="8586634" y="971774"/>
            <a:ext cx="2898900" cy="1150800"/>
          </a:xfrm>
          <a:prstGeom prst="rect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f(n) = (9n+4)n + 3</a:t>
            </a:r>
            <a:endParaRPr/>
          </a:p>
        </p:txBody>
      </p:sp>
      <p:sp>
        <p:nvSpPr>
          <p:cNvPr id="770" name="Google Shape;770;p22"/>
          <p:cNvSpPr/>
          <p:nvPr/>
        </p:nvSpPr>
        <p:spPr>
          <a:xfrm>
            <a:off x="4137357" y="2803857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71" name="Google Shape;771;p22"/>
          <p:cNvSpPr/>
          <p:nvPr/>
        </p:nvSpPr>
        <p:spPr>
          <a:xfrm>
            <a:off x="4940327" y="3092516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72" name="Google Shape;772;p22"/>
          <p:cNvSpPr/>
          <p:nvPr/>
        </p:nvSpPr>
        <p:spPr>
          <a:xfrm>
            <a:off x="4788532" y="4641895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/>
          </a:p>
        </p:txBody>
      </p:sp>
      <p:sp>
        <p:nvSpPr>
          <p:cNvPr id="773" name="Google Shape;773;p22"/>
          <p:cNvSpPr/>
          <p:nvPr/>
        </p:nvSpPr>
        <p:spPr>
          <a:xfrm>
            <a:off x="4040904" y="5249482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dirty="0"/>
          </a:p>
        </p:txBody>
      </p:sp>
      <p:sp>
        <p:nvSpPr>
          <p:cNvPr id="774" name="Google Shape;774;p22"/>
          <p:cNvSpPr/>
          <p:nvPr/>
        </p:nvSpPr>
        <p:spPr>
          <a:xfrm>
            <a:off x="6575859" y="4328129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+4</a:t>
            </a:r>
            <a:endParaRPr/>
          </a:p>
        </p:txBody>
      </p:sp>
      <p:sp>
        <p:nvSpPr>
          <p:cNvPr id="775" name="Google Shape;775;p22"/>
          <p:cNvSpPr/>
          <p:nvPr/>
        </p:nvSpPr>
        <p:spPr>
          <a:xfrm>
            <a:off x="9544475" y="2481396"/>
            <a:ext cx="296533" cy="3072132"/>
          </a:xfrm>
          <a:prstGeom prst="rightBrace">
            <a:avLst>
              <a:gd name="adj1" fmla="val 56789"/>
              <a:gd name="adj2" fmla="val 50000"/>
            </a:avLst>
          </a:prstGeom>
          <a:noFill/>
          <a:ln w="38100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6" name="Google Shape;776;p22"/>
          <p:cNvSpPr/>
          <p:nvPr/>
        </p:nvSpPr>
        <p:spPr>
          <a:xfrm>
            <a:off x="9986157" y="3857166"/>
            <a:ext cx="100586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9n + 4</a:t>
            </a:r>
            <a:endParaRPr dirty="0"/>
          </a:p>
        </p:txBody>
      </p:sp>
      <p:grpSp>
        <p:nvGrpSpPr>
          <p:cNvPr id="777" name="Google Shape;777;p22"/>
          <p:cNvGrpSpPr/>
          <p:nvPr/>
        </p:nvGrpSpPr>
        <p:grpSpPr>
          <a:xfrm>
            <a:off x="11219403" y="3736518"/>
            <a:ext cx="552870" cy="552870"/>
            <a:chOff x="7574669" y="3536256"/>
            <a:chExt cx="552870" cy="552870"/>
          </a:xfrm>
        </p:grpSpPr>
        <p:sp>
          <p:nvSpPr>
            <p:cNvPr id="778" name="Google Shape;778;p22"/>
            <p:cNvSpPr/>
            <p:nvPr/>
          </p:nvSpPr>
          <p:spPr>
            <a:xfrm>
              <a:off x="7574669" y="3536256"/>
              <a:ext cx="552870" cy="55287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2"/>
            <p:cNvSpPr txBox="1"/>
            <p:nvPr/>
          </p:nvSpPr>
          <p:spPr>
            <a:xfrm>
              <a:off x="7639474" y="3628025"/>
              <a:ext cx="423261" cy="369332"/>
            </a:xfrm>
            <a:prstGeom prst="rect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*n</a:t>
              </a:r>
              <a:endParaRPr/>
            </a:p>
          </p:txBody>
        </p:sp>
      </p:grpSp>
      <p:sp>
        <p:nvSpPr>
          <p:cNvPr id="780" name="Google Shape;780;p22"/>
          <p:cNvSpPr txBox="1"/>
          <p:nvPr/>
        </p:nvSpPr>
        <p:spPr>
          <a:xfrm>
            <a:off x="10275455" y="3059653"/>
            <a:ext cx="17435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Äußere Schleife läuft n-mal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6A02B41-9DB1-4C6D-AAD3-ECD4AEA2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Code Modellierung </a:t>
            </a:r>
            <a:br>
              <a:rPr lang="de-DE" noProof="0" dirty="0"/>
            </a:br>
            <a:r>
              <a:rPr lang="de-DE" sz="2000" noProof="0" dirty="0"/>
              <a:t>Beispiel 2</a:t>
            </a:r>
            <a:endParaRPr lang="de-DE" noProof="0" dirty="0"/>
          </a:p>
        </p:txBody>
      </p:sp>
      <p:sp>
        <p:nvSpPr>
          <p:cNvPr id="32" name="Google Shape;257;p13">
            <a:extLst>
              <a:ext uri="{FF2B5EF4-FFF2-40B4-BE49-F238E27FC236}">
                <a16:creationId xmlns:a16="http://schemas.microsoft.com/office/drawing/2014/main" id="{0A68E42F-6C45-447E-9231-FB8F810495F8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CSE 373 20 AU – SCHAFER</a:t>
            </a:r>
          </a:p>
        </p:txBody>
      </p:sp>
      <p:sp>
        <p:nvSpPr>
          <p:cNvPr id="33" name="Google Shape;257;p13">
            <a:extLst>
              <a:ext uri="{FF2B5EF4-FFF2-40B4-BE49-F238E27FC236}">
                <a16:creationId xmlns:a16="http://schemas.microsoft.com/office/drawing/2014/main" id="{9C3AAB72-B8FE-4AF4-8E54-FB17F40605FF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  <p:sp>
        <p:nvSpPr>
          <p:cNvPr id="31" name="Datumsplatzhalter 4">
            <a:extLst>
              <a:ext uri="{FF2B5EF4-FFF2-40B4-BE49-F238E27FC236}">
                <a16:creationId xmlns:a16="http://schemas.microsoft.com/office/drawing/2014/main" id="{1D3BAF9C-2C3C-4DE9-95B8-EF12E0F9544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06500" y="6011863"/>
            <a:ext cx="1295400" cy="179387"/>
          </a:xfrm>
        </p:spPr>
        <p:txBody>
          <a:bodyPr/>
          <a:lstStyle/>
          <a:p>
            <a:fld id="{97C55095-590B-4AAB-8606-0F86796D070A}" type="datetime1">
              <a:rPr lang="de-DE" smtClean="0"/>
              <a:pPr/>
              <a:t>06.03.2026</a:t>
            </a:fld>
            <a:endParaRPr lang="de-DE" dirty="0"/>
          </a:p>
        </p:txBody>
      </p:sp>
      <p:sp>
        <p:nvSpPr>
          <p:cNvPr id="34" name="Foliennummernplatzhalter 5">
            <a:extLst>
              <a:ext uri="{FF2B5EF4-FFF2-40B4-BE49-F238E27FC236}">
                <a16:creationId xmlns:a16="http://schemas.microsoft.com/office/drawing/2014/main" id="{1C577E6E-BCBF-4C5E-800A-8C6E8A3293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06500" y="6361113"/>
            <a:ext cx="1295400" cy="214312"/>
          </a:xfrm>
        </p:spPr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921;p27">
            <a:extLst>
              <a:ext uri="{FF2B5EF4-FFF2-40B4-BE49-F238E27FC236}">
                <a16:creationId xmlns:a16="http://schemas.microsoft.com/office/drawing/2014/main" id="{3CE34F02-980A-4D8E-8EB6-8116A1140FFC}"/>
              </a:ext>
            </a:extLst>
          </p:cNvPr>
          <p:cNvSpPr/>
          <p:nvPr/>
        </p:nvSpPr>
        <p:spPr>
          <a:xfrm>
            <a:off x="5766996" y="4028691"/>
            <a:ext cx="6238094" cy="441868"/>
          </a:xfrm>
          <a:prstGeom prst="rect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400" dirty="0">
                <a:solidFill>
                  <a:schemeClr val="lt1"/>
                </a:solidFill>
                <a:ea typeface="Quattrocento Sans"/>
                <a:sym typeface="Quattrocento Sans"/>
              </a:rPr>
              <a:t>Θ</a:t>
            </a:r>
            <a:r>
              <a:rPr lang="en-US" sz="2400" dirty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-Notation</a:t>
            </a:r>
            <a:endParaRPr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AE2A5EC-AC29-4A07-9950-EBAC20C86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O-, Ω- und Θ-Notation</a:t>
            </a:r>
            <a:br>
              <a:rPr lang="de-DE" noProof="0" dirty="0"/>
            </a:br>
            <a:r>
              <a:rPr lang="de-DE" sz="2000" noProof="0" dirty="0"/>
              <a:t>Übung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2C97A1-C851-43B0-90E0-3AEC3614CFF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de-DE" noProof="0" dirty="0"/>
              <a:t>Welche der folgenden Funktionen ist in O(n²)? Ω(n²)? Θ(n²)?</a:t>
            </a:r>
          </a:p>
          <a:p>
            <a:pPr lvl="0"/>
            <a:endParaRPr lang="de-DE" noProof="0" dirty="0"/>
          </a:p>
          <a:p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8C42085-85F1-46F0-8237-E085BA79C6A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/>
              <a:t>Algorithmik – Laufzeitanalyse von Algorithmen durch Asymptotische Notation</a:t>
            </a:r>
            <a:endParaRPr lang="de-DE" noProof="0" dirty="0"/>
          </a:p>
        </p:txBody>
      </p:sp>
      <p:sp>
        <p:nvSpPr>
          <p:cNvPr id="154" name="Google Shape;154;p2"/>
          <p:cNvSpPr txBox="1"/>
          <p:nvPr/>
        </p:nvSpPr>
        <p:spPr>
          <a:xfrm>
            <a:off x="1578039" y="1987652"/>
            <a:ext cx="1083951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974" r="-3484" b="-363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578039" y="2775637"/>
            <a:ext cx="1753172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3595" t="-4542" r="-1437" b="-36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578039" y="4273227"/>
            <a:ext cx="2273251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775" t="-4542" r="-1108" b="-36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578039" y="5048147"/>
            <a:ext cx="1077153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7057" b="-347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1578039" y="3472181"/>
            <a:ext cx="1884618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682" r="-2010" b="-347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1213698" y="1964040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213698" y="2734221"/>
            <a:ext cx="3706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213698" y="3412960"/>
            <a:ext cx="3417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1213698" y="4196201"/>
            <a:ext cx="3706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1213698" y="4953318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1466141" y="2344616"/>
            <a:ext cx="16095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1466141" y="3083525"/>
            <a:ext cx="15680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466141" y="3790540"/>
            <a:ext cx="16095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466140" y="4631690"/>
            <a:ext cx="15071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2867710" y="4643570"/>
            <a:ext cx="14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Ω(n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1488910" y="5393395"/>
            <a:ext cx="148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Ω(n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4300154" y="4639617"/>
            <a:ext cx="14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Θ(n</a:t>
            </a:r>
            <a:r>
              <a:rPr lang="en-US" sz="1800" b="1" i="0" u="none" strike="noStrike" cap="none" baseline="3000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257;p13">
            <a:extLst>
              <a:ext uri="{FF2B5EF4-FFF2-40B4-BE49-F238E27FC236}">
                <a16:creationId xmlns:a16="http://schemas.microsoft.com/office/drawing/2014/main" id="{824F9FD6-3E70-4642-A703-7D59C0007DF0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/>
              <a:t>CSE 373 20 SP – CHUN &amp; CHAMPION</a:t>
            </a:r>
            <a:endParaRPr lang="fr-FR" sz="800" dirty="0"/>
          </a:p>
        </p:txBody>
      </p:sp>
      <p:sp>
        <p:nvSpPr>
          <p:cNvPr id="34" name="Google Shape;257;p13">
            <a:extLst>
              <a:ext uri="{FF2B5EF4-FFF2-40B4-BE49-F238E27FC236}">
                <a16:creationId xmlns:a16="http://schemas.microsoft.com/office/drawing/2014/main" id="{A3292C54-6C23-4168-97A3-9A0DDAC6A98E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  <p:sp>
        <p:nvSpPr>
          <p:cNvPr id="36" name="Google Shape;921;p27">
            <a:extLst>
              <a:ext uri="{FF2B5EF4-FFF2-40B4-BE49-F238E27FC236}">
                <a16:creationId xmlns:a16="http://schemas.microsoft.com/office/drawing/2014/main" id="{91FDE9D0-1D09-45E3-927C-0BE69EC5823B}"/>
              </a:ext>
            </a:extLst>
          </p:cNvPr>
          <p:cNvSpPr/>
          <p:nvPr/>
        </p:nvSpPr>
        <p:spPr>
          <a:xfrm>
            <a:off x="7426683" y="453359"/>
            <a:ext cx="4577992" cy="441868"/>
          </a:xfrm>
          <a:prstGeom prst="rect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O-Notation</a:t>
            </a:r>
            <a:endParaRPr dirty="0"/>
          </a:p>
        </p:txBody>
      </p:sp>
      <p:sp>
        <p:nvSpPr>
          <p:cNvPr id="43" name="Google Shape;921;p27">
            <a:extLst>
              <a:ext uri="{FF2B5EF4-FFF2-40B4-BE49-F238E27FC236}">
                <a16:creationId xmlns:a16="http://schemas.microsoft.com/office/drawing/2014/main" id="{6175ED36-3BA6-42D3-9AE7-600DB9E0CDE3}"/>
              </a:ext>
            </a:extLst>
          </p:cNvPr>
          <p:cNvSpPr/>
          <p:nvPr/>
        </p:nvSpPr>
        <p:spPr>
          <a:xfrm>
            <a:off x="7426683" y="2256772"/>
            <a:ext cx="4577992" cy="441868"/>
          </a:xfrm>
          <a:prstGeom prst="rect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400" dirty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Ω</a:t>
            </a:r>
            <a:r>
              <a:rPr lang="en-US" sz="2400" dirty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-Notation</a:t>
            </a:r>
            <a:endParaRPr dirty="0"/>
          </a:p>
        </p:txBody>
      </p:sp>
      <p:sp>
        <p:nvSpPr>
          <p:cNvPr id="46" name="Datumsplatzhalter 4">
            <a:extLst>
              <a:ext uri="{FF2B5EF4-FFF2-40B4-BE49-F238E27FC236}">
                <a16:creationId xmlns:a16="http://schemas.microsoft.com/office/drawing/2014/main" id="{EB57B1D5-B26A-4627-BFAA-7212FFF7DD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06500" y="6011863"/>
            <a:ext cx="1295400" cy="179387"/>
          </a:xfrm>
        </p:spPr>
        <p:txBody>
          <a:bodyPr/>
          <a:lstStyle/>
          <a:p>
            <a:fld id="{F2D06E3F-368B-43DC-96F3-4B8E65027050}" type="datetime1">
              <a:rPr lang="de-DE" smtClean="0"/>
              <a:pPr/>
              <a:t>06.03.2026</a:t>
            </a:fld>
            <a:endParaRPr lang="de-DE" dirty="0"/>
          </a:p>
        </p:txBody>
      </p:sp>
      <p:sp>
        <p:nvSpPr>
          <p:cNvPr id="47" name="Foliennummernplatzhalter 5">
            <a:extLst>
              <a:ext uri="{FF2B5EF4-FFF2-40B4-BE49-F238E27FC236}">
                <a16:creationId xmlns:a16="http://schemas.microsoft.com/office/drawing/2014/main" id="{E0ABE9D6-255B-4BBC-A0CA-A1EE7528F8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06500" y="6361113"/>
            <a:ext cx="1295400" cy="214312"/>
          </a:xfrm>
        </p:spPr>
        <p:txBody>
          <a:bodyPr/>
          <a:lstStyle/>
          <a:p>
            <a:r>
              <a:rPr lang="de-DE" dirty="0"/>
              <a:t>Seite </a:t>
            </a:r>
            <a:fld id="{43310F81-32EE-4F95-9E9C-0BDC6AD52EEC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CB8ECC9-E778-453F-96C0-40163BFBBE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873" y="2698640"/>
            <a:ext cx="4489614" cy="112534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7ED0E79-083D-43DE-BF6F-D2510335E9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7146" y="895227"/>
            <a:ext cx="4577992" cy="113713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9773847-59E5-4A70-94A9-D503A9497FE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289" r="768" b="4434"/>
          <a:stretch/>
        </p:blipFill>
        <p:spPr>
          <a:xfrm>
            <a:off x="5766998" y="4470559"/>
            <a:ext cx="6238092" cy="1430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sterfolien_16_9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</Template>
  <TotalTime>0</TotalTime>
  <Words>542</Words>
  <Application>Microsoft Office PowerPoint</Application>
  <PresentationFormat>Breitbild</PresentationFormat>
  <Paragraphs>122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4" baseType="lpstr">
      <vt:lpstr>Arial</vt:lpstr>
      <vt:lpstr>Arial </vt:lpstr>
      <vt:lpstr>Calibri</vt:lpstr>
      <vt:lpstr>Courier New</vt:lpstr>
      <vt:lpstr>Quattrocento Sans</vt:lpstr>
      <vt:lpstr>Symbol</vt:lpstr>
      <vt:lpstr>Tahoma</vt:lpstr>
      <vt:lpstr>Twentieth Century</vt:lpstr>
      <vt:lpstr>Wingdings</vt:lpstr>
      <vt:lpstr>masterfolien_16_9</vt:lpstr>
      <vt:lpstr>Lernraum I: Abstrakte Datentypen, Datenstrukturen und Asymptotische Notation</vt:lpstr>
      <vt:lpstr>Klassifikation der Wachstumsordnung</vt:lpstr>
      <vt:lpstr>Code Modellierung  Beispiel 2</vt:lpstr>
      <vt:lpstr>O-, Ω- und Θ-Notation Übung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02_Algorithmik_AsymptotischeAnalyse</dc:title>
  <dc:creator>Daniel Gaida</dc:creator>
  <cp:lastModifiedBy>Ivan Kurilin (ikurilin)</cp:lastModifiedBy>
  <cp:revision>976</cp:revision>
  <cp:lastPrinted>2016-02-26T07:58:29Z</cp:lastPrinted>
  <dcterms:created xsi:type="dcterms:W3CDTF">2021-07-17T19:54:54Z</dcterms:created>
  <dcterms:modified xsi:type="dcterms:W3CDTF">2026-03-06T11:45:51Z</dcterms:modified>
</cp:coreProperties>
</file>